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pertura" id="{0d30a42b-b47a-5c34-36e6-2138cd1bff80}">
          <p14:sldIdLst>
            <p14:sldId id="256"/>
          </p14:sldIdLst>
        </p14:section>
        <p14:section name="El problema" id="{1430d0bc-94b4-6979-0751-8704f78f452b}">
          <p14:sldIdLst>
            <p14:sldId id="257"/>
            <p14:sldId id="258"/>
          </p14:sldIdLst>
        </p14:section>
        <p14:section name="La propuesta" id="{a2bd88c0-4a69-9983-6c9d-a5e849f8d320}">
          <p14:sldIdLst>
            <p14:sldId id="259"/>
            <p14:sldId id="260"/>
            <p14:sldId id="261"/>
            <p14:sldId id="262"/>
            <p14:sldId id="263"/>
            <p14:sldId id="264"/>
          </p14:sldIdLst>
        </p14:section>
        <p14:section name="Validación" id="{53806922-f707-9eed-d431-3adca770a3a5}">
          <p14:sldIdLst>
            <p14:sldId id="265"/>
            <p14:sldId id="266"/>
            <p14:sldId id="267"/>
          </p14:sldIdLst>
        </p14:section>
        <p14:section name="Anexo" id="{5fb56aa8-dbe8-7f7d-6ce6-f1b2162f2864}">
          <p14:sldIdLst>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Presentación (30 s). Gracias por recibirnos. Somos ScoutUp, un proyecto que nace en Cataluña. Hoy no venimos a vender un producto terminado: venimos a enseñaros lo que estamos construyendo para los clubes y, sobre todo, a escuchar cómo trabajáis. Serán unos 10 minutos de presentación y el resto, conversación. Las pantallas que veréis son de una demo real, pero todos los datos (clubes, jugadores, estadísticas) son ficticios.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hablar de ScoutUp, queremos contrastar cómo creemos que funciona hoy la búsqueda de un jugador. Surge una necesidad (por ejemplo, el Cadete A se queda sin lateral derecho), se tira de contactos y recomendaciones, llegan vídeos e información por canales distintos, alguien va a verlo, se hace seguimiento y al final se decide. PREGUNTA: ¿Se parece a cómo lo hacéis? ¿Qué paso falta o sobra? Dejar que corrijan el esquema: es la información más valiosa de la visita.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 dramatizar: no decimos que se trabaje mal, decimos que hay mucha información y mucho trabajo manual. Cuatro hipótesis: (1) información dispersa en vídeos, WhatsApp, contactos y documentos; (2) cuesta descubrir jugadores fuera del círculo habitual; (3) es difícil comparar candidatos con los mismos criterios; (4) cuando cambia el responsable o acaba la temporada se pierde el historial. Otras hipótesis para la conversación: tiempo invertido en localizar perfiles que encajen; seguimiento desordenado de jugadores contactados u observados; falta de una visión centralizada de las necesidades de cada equipo; dificultad para conectar las necesidades del club con jugadores que buscan oportunidad. PREGUNTA: ¿Cuáles de estas os pasan de verdad? ¿Cuál es la más importante?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ScoutUp tiene dos partes. La protagonista para vosotros es ScoutUp Club: un espacio para organizar la captación y conectar necesidades deportivas con perfiles de jugadores. Siete capacidades: buscar, filtrar, ver perfiles compatibles con una necesidad, comparar, guardar y seguir en un pipeline, evaluaciones y contactos, y publicar oportunidades. La otra parte es ScoutUp Player, la app del jugador, que es lo que permite que los clubes encuentren jugadores y reciban candidaturas. Transparencia: en la demo el lado del jugador solo se usa para simular sus respuestas. Con menores, cualquier contacto requiere la autorización del tutor.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ejemplo hipotético, con datos ficticios. El club define la necesidad: categoría, edad, nivel, zona y características. ScoutUp convierte esa necesidad en una oportunidad y propone los perfiles que encajan: aquí, 18 jugadores compatibles. El primero, Hugo, encaja al 87 %. Clave: a la derecha se ve POR QUÉ encaja, factor por factor (posición, nivel, edad, ubicación, disponibilidad, características y experiencia). No es una caja negra. El porcentaje es compatibilidad con la necesidad, nunca probabilidad de fichaje. La decisión es del director deportivo; ScoutUp ayuda a descubrir candidatos y a decidir con más información. Si hay tiempo, enseñarlo en vivo: /demo → «Recorrido estrella».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 primer contacto a la decisión hay muchos pasos y mucha gente implicada. El pipeline muestra en qué punto está cada jugador: nuevo, revisar, interesante, contactado, en conversación, prueba, en espera, descartado o incorporado. Cada jugador lleva asociadas sus evaluaciones, contactos y actividad, así que la información no se pierde si cambia el responsable. No prometemos automatizaciones: los cambios de etapa y los contactos los hace siempre una persona. PREGUNTA: ¿Cómo hacéis hoy este seguimiento? ¿Excel, notas, memoria?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perfil estructurado: trayectoria por equipos y temporadas, posiciones, características, estadísticas disponibles, vídeos y su encaje con vuestra oportunidad. Muy importante: no todos los datos tienen el mismo valor. Distinguimos lo verificado (confirmado por el club de origen; en la demo es una marca simulada), lo que declara el jugador y las evaluaciones privadas de vuestro staff. No presentamos los datos como oficiales. Los resultados y clasificaciones oficiales son de la FCF: nuestra idea es enlazar a sus recursos, no replicarlos, y está pendiente de validar con la federación. PREGUNTA: ¿Qué información necesitáis para decidir si un jugador encaja? ¿Qué echáis en falta hoy?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club se organiza a su manera. En la demo hay tres roles: dirección deportiva (visión global, usuarios y permisos), coordinación (todos los equipos y oportunidades, sin administrar el club) y entrenador (centrado en su equipo). Los permisos se comprueban en el servidor, no solo en la pantalla, y cada club solo ve sus datos internos. Equipos, categorías y temporadas se organizan dentro del club, para que el historial no se pierda entre temporadas o cuando cambia el responsable. Es una propuesta, no queremos imponer una estructura compleja. PREGUNTA: ¿Quién participa en la captación en vuestro club? ¿Quién debería ver qué?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IA la planteamos como copiloto, no como sustituto del criterio deportivo. Lo que hay hoy en la demo: escribir la necesidad en lenguaje natural y obtener criterios y una lista ordenada y explicada; un resumen del perfil; una lectura rápida al comparar; y convertir una búsqueda en una oportunidad. Transparencia: en la demo es un motor determinista local, sin servicios externos; no inventa datos. Los informes de apoyo a la decisión son una idea que queremos validar con vosotros. Mensaje: la IA puede ayudar a ordenar información y detectar coincidencias; la decisión deportiva sigue siendo del club. PREGUNTA: ¿Os daría confianza? ¿Para qué la usaríais?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Estos son los beneficios que creemos que ScoutUp puede aportar, pero son hipótesis: queremos comprobarlos con vosotros. Menos tiempo buscando y organizando; más visibilidad de jugadores que podrían encajar; seguimiento más ordenado; mejor contexto para comparar; continuidad de la información entre equipos, temporadas y responsables; y una conexión más directa entre necesidades y jugadores disponibles. No damos cifras de ahorro: no tenemos datos reales y no queremos inventarlos. PREGUNTA: ¿Cuál de estos os importa más? ¿Hay alguno que no os aporte nada?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diapositiva más importante. Estamos visitando 10 clubes para conocer cómo trabajan, identificar los problemas prioritarios y contrastar si esto les sería útil. Queremos saber qué hacéis hoy, qué os cuesta más, qué herramientas usáis, qué funcionalidades os aportarían más, qué os impediría usar algo así (precio, tiempo, confianza en los datos, protección de menores…) y qué necesitaríais ver para probarlo en vuestro día a día. No buscamos validación fácil: queremos saber qué deberíamos cambiar, eliminar o priorizar. Si hay encaje, nos gustaría invitaros a las siguientes fases de prueba o desarrollo conjunto.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Cerramos invitando a conversar. Tres preguntas para arrancar (no hace falta seguirlas en orden): 1) ¿Cómo encontráis actualmente jugadores cuando surge una necesidad? 2) ¿Qué parte del proceso os consume más tiempo? 3) Si pudierais mejorar una sola parte, ¿cuál sería? Preguntas de reserva: ¿Cómo guardáis y hacéis seguimiento de los jugadores que observáis? ¿Qué información necesitáis para decidir si un jugador encaja? ¿Qué herramientas usáis hoy (Excel, WhatsApp, otras plataformas)? ¿Qué os impediría usar algo así? ¿Qué necesitaríais ver para probarlo? ¿Quién decidiría en el club? Al terminar: anotar los 3 problemas principales, las herramientas actuales y si quieren participar en una prueba. Agradecer el tiempo.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de apoyo, no hace falta proyectarla: sirve para responder con honestidad si preguntan qué está hecho. Todos los datos de la demo son ficticios y no hay conexión con la FCF ni con fuentes externas. No tenemos clientes ni resultados que enseñar todavía: estamos en fase de validación.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2240280"/>
            <a:ext cx="5669280" cy="1051560"/>
          </a:xfrm>
          <a:prstGeom prst="rect">
            <a:avLst/>
          </a:prstGeom>
          <a:noFill/>
          <a:ln/>
        </p:spPr>
        <p:txBody>
          <a:bodyPr wrap="square" rtlCol="0"/>
          <a:lstStyle>
            <a:lvl1pPr algn="l" indent="0" marL="0">
              <a:buNone/>
              <a:defRPr lang="en-US" sz="6000" b="1" dirty="0">
                <a:solidFill>
                  <a:schemeClr val="bg1"/>
                </a:solidFill>
              </a:defRPr>
            </a:lvl1pPr>
          </a:lstStyle>
          <a:p>
            <a:pPr algn="l" indent="0" marL="0">
              <a:buNone/>
            </a:pPr>
            <a:endParaRPr lang="en-US" sz="6000" dirty="0"/>
          </a:p>
        </p:txBody>
      </p:sp>
      <p:sp>
        <p:nvSpPr>
          <p:cNvPr id="3" name="Text 0"/>
          <p:cNvSpPr/>
          <p:nvPr>
            <p:ph idx="101" type="body" hasCustomPrompt="1"/>
          </p:nvPr>
        </p:nvSpPr>
        <p:spPr>
          <a:xfrm>
            <a:off x="640080" y="3383280"/>
            <a:ext cx="5120640" cy="1005840"/>
          </a:xfrm>
          <a:prstGeom prst="rect">
            <a:avLst/>
          </a:prstGeom>
          <a:noFill/>
          <a:ln/>
        </p:spPr>
        <p:txBody>
          <a:bodyPr wrap="square" rtlCol="0"/>
          <a:lstStyle>
            <a:lvl1pPr indent="0" marL="0">
              <a:buNone/>
              <a:defRPr lang="en-US" sz="2100" dirty="0">
                <a:solidFill>
                  <a:srgbClr val="C9CDD8"/>
                </a:solidFill>
              </a:defRPr>
            </a:lvl1pPr>
          </a:lstStyle>
          <a:p>
            <a:pPr indent="0" marL="0">
              <a:buNone/>
            </a:pPr>
            <a:endParaRPr lang="en-US" sz="21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IDO">
    <p:bg>
      <p:bgPr>
        <a:solidFill>
          <a:schemeClr val="bg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686800" cy="274320"/>
          </a:xfrm>
          <a:prstGeom prst="rect">
            <a:avLst/>
          </a:prstGeom>
          <a:noFill/>
          <a:ln/>
        </p:spPr>
        <p:txBody>
          <a:bodyPr wrap="square" rtlCol="0"/>
          <a:lstStyle>
            <a:lvl1pPr indent="0" marL="0">
              <a:buNone/>
              <a:defRPr lang="en-US" sz="1200" b="1" spc="150" kern="0" dirty="0">
                <a:solidFill>
                  <a:schemeClr val="accent2"/>
                </a:solidFill>
              </a:defRPr>
            </a:lvl1pPr>
          </a:lstStyle>
          <a:p>
            <a:pPr indent="0" marL="0">
              <a:buNone/>
            </a:pPr>
            <a:endParaRPr lang="en-US" sz="1200" dirty="0"/>
          </a:p>
        </p:txBody>
      </p:sp>
      <p:sp>
        <p:nvSpPr>
          <p:cNvPr id="3" name="Text 0"/>
          <p:cNvSpPr/>
          <p:nvPr>
            <p:ph idx="101" type="title" hasCustomPrompt="1"/>
          </p:nvPr>
        </p:nvSpPr>
        <p:spPr>
          <a:xfrm>
            <a:off x="548640" y="640080"/>
            <a:ext cx="11094415" cy="68580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pic>
        <p:nvPicPr>
          <p:cNvPr id="4" name="Image 0" descr="/tmp/claude-0/-home-user-Scoutup/a47adca6-2afe-5531-9b19-f69196bacfbf/scratchpad/deck/img/logo.png">    </p:cNvPr>
          <p:cNvPicPr>
            <a:picLocks noChangeAspect="1"/>
          </p:cNvPicPr>
          <p:nvPr/>
        </p:nvPicPr>
        <p:blipFill>
          <a:blip r:embed="rId1"/>
          <a:stretch>
            <a:fillRect/>
          </a:stretch>
        </p:blipFill>
        <p:spPr>
          <a:xfrm>
            <a:off x="548640" y="6400800"/>
            <a:ext cx="201168" cy="201168"/>
          </a:xfrm>
          <a:prstGeom prst="rect">
            <a:avLst/>
          </a:prstGeom>
        </p:spPr>
      </p:pic>
      <p:sp>
        <p:nvSpPr>
          <p:cNvPr id="5" name="Text 0"/>
          <p:cNvSpPr/>
          <p:nvPr/>
        </p:nvSpPr>
        <p:spPr>
          <a:xfrm>
            <a:off x="822960" y="6382512"/>
            <a:ext cx="7315200" cy="237744"/>
          </a:xfrm>
          <a:prstGeom prst="rect">
            <a:avLst/>
          </a:prstGeom>
          <a:noFill/>
          <a:ln/>
        </p:spPr>
        <p:txBody>
          <a:bodyPr wrap="square" lIns="0" tIns="0" rIns="0" bIns="0" rtlCol="0" anchor="ctr"/>
          <a:lstStyle/>
          <a:p>
            <a:pPr indent="0" marL="0">
              <a:buNone/>
            </a:pPr>
            <a:r>
              <a:rPr lang="en-US" sz="1000" dirty="0">
                <a:solidFill>
                  <a:schemeClr val="accent6"/>
                </a:solidFill>
              </a:rPr>
              <a:t>ScoutUp Club · Proyecto en desarrollo · Datos de la demo ficticios</a:t>
            </a:r>
            <a:endParaRPr lang="en-US" sz="1000" dirty="0"/>
          </a:p>
        </p:txBody>
      </p:sp>
      <p:sp>
        <p:nvSpPr>
          <p:cNvPr id="25" name="Slide Number Placeholder 0"/>
          <p:cNvSpPr>
            <a:spLocks noGrp="1"/>
          </p:cNvSpPr>
          <p:nvPr>
            <p:ph type="sldNum" sz="quarter" idx="4294967295"/>
          </p:nvPr>
        </p:nvSpPr>
        <p:spPr>
          <a:xfrm>
            <a:off x="11185855" y="6382512"/>
            <a:ext cx="457200" cy="237744"/>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IERRE">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640080"/>
            <a:ext cx="8229600" cy="274320"/>
          </a:xfrm>
          <a:prstGeom prst="rect">
            <a:avLst/>
          </a:prstGeom>
          <a:noFill/>
          <a:ln/>
        </p:spPr>
        <p:txBody>
          <a:bodyPr wrap="square" rtlCol="0"/>
          <a:lstStyle>
            <a:lvl1pPr indent="0" marL="0">
              <a:buNone/>
              <a:defRPr lang="en-US" sz="1200" b="1" spc="15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960120"/>
            <a:ext cx="11094415" cy="86868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25" name="Slide Number Placeholder 0"/>
          <p:cNvSpPr>
            <a:spLocks noGrp="1"/>
          </p:cNvSpPr>
          <p:nvPr>
            <p:ph type="sldNum" sz="quarter" idx="4294967295"/>
          </p:nvPr>
        </p:nvSpPr>
        <p:spPr>
          <a:xfrm>
            <a:off x="11185855" y="6382512"/>
            <a:ext cx="45720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C9CDD8"/>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382512"/>
            <a:ext cx="457200" cy="237744"/>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3.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3.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slideLayout" Target="../slideLayouts/slideLayout3.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3.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3.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logo" descr="Logotipo de ScoutUp">    </p:cNvPr>
          <p:cNvPicPr>
            <a:picLocks noChangeAspect="1"/>
          </p:cNvPicPr>
          <p:nvPr/>
        </p:nvPicPr>
        <p:blipFill>
          <a:blip r:embed="rId1"/>
          <a:stretch>
            <a:fillRect/>
          </a:stretch>
        </p:blipFill>
        <p:spPr>
          <a:xfrm>
            <a:off x="640080" y="594360"/>
            <a:ext cx="502920" cy="502920"/>
          </a:xfrm>
          <a:prstGeom prst="rect">
            <a:avLst/>
          </a:prstGeom>
        </p:spPr>
      </p:pic>
      <p:sp>
        <p:nvSpPr>
          <p:cNvPr id="3" name="texto-1"/>
          <p:cNvSpPr txBox="1"/>
          <p:nvPr/>
        </p:nvSpPr>
        <p:spPr>
          <a:xfrm>
            <a:off x="1280160" y="640080"/>
            <a:ext cx="2743200" cy="411480"/>
          </a:xfrm>
          <a:prstGeom prst="rect">
            <a:avLst/>
          </a:prstGeom>
          <a:noFill/>
          <a:ln/>
        </p:spPr>
        <p:txBody>
          <a:bodyPr wrap="square" lIns="0" tIns="0" rIns="0" bIns="0" rtlCol="0" anchor="ctr"/>
          <a:lstStyle/>
          <a:p>
            <a:pPr indent="0" marL="0">
              <a:buNone/>
            </a:pPr>
            <a:r>
              <a:rPr lang="en-US" sz="2400" b="1" dirty="0">
                <a:solidFill>
                  <a:schemeClr val="bg1"/>
                </a:solidFill>
                <a:latin typeface="Arial" pitchFamily="34" charset="0"/>
                <a:ea typeface="Arial" pitchFamily="34" charset="-122"/>
                <a:cs typeface="Arial" pitchFamily="34" charset="-120"/>
              </a:rPr>
              <a:t>Scout</a:t>
            </a:r>
            <a:pPr indent="0" marL="0">
              <a:buNone/>
            </a:pPr>
            <a:r>
              <a:rPr lang="en-US" sz="2400" b="1" dirty="0">
                <a:solidFill>
                  <a:schemeClr val="accent1"/>
                </a:solidFill>
                <a:latin typeface="Arial" pitchFamily="34" charset="0"/>
                <a:ea typeface="Arial" pitchFamily="34" charset="-122"/>
                <a:cs typeface="Arial" pitchFamily="34" charset="-120"/>
              </a:rPr>
              <a:t>Up</a:t>
            </a:r>
            <a:endParaRPr lang="en-US" sz="2400" dirty="0"/>
          </a:p>
        </p:txBody>
      </p:sp>
      <p:sp>
        <p:nvSpPr>
          <p:cNvPr id="4" name="texto-2"/>
          <p:cNvSpPr txBox="1"/>
          <p:nvPr/>
        </p:nvSpPr>
        <p:spPr>
          <a:xfrm>
            <a:off x="640080" y="1828800"/>
            <a:ext cx="5486400" cy="274320"/>
          </a:xfrm>
          <a:prstGeom prst="rect">
            <a:avLst/>
          </a:prstGeom>
          <a:noFill/>
          <a:ln/>
        </p:spPr>
        <p:txBody>
          <a:bodyPr wrap="square" lIns="0" tIns="0" rIns="0" bIns="0" rtlCol="0" anchor="t"/>
          <a:lstStyle/>
          <a:p>
            <a:pPr indent="0" marL="0">
              <a:buNone/>
            </a:pPr>
            <a:r>
              <a:rPr lang="en-US" sz="1300" b="1" spc="150" kern="0" dirty="0">
                <a:solidFill>
                  <a:schemeClr val="accent1"/>
                </a:solidFill>
              </a:rPr>
              <a:t>CONVERSACIÓN CON CLUBES · CATALUÑA</a:t>
            </a:r>
            <a:endParaRPr lang="en-US" sz="1300" dirty="0"/>
          </a:p>
        </p:txBody>
      </p:sp>
      <p:sp>
        <p:nvSpPr>
          <p:cNvPr id="5" name="Text 0"/>
          <p:cNvSpPr/>
          <p:nvPr>
            <p:ph idx="100" type="title" hasCustomPrompt="1"/>
          </p:nvPr>
        </p:nvSpPr>
        <p:spPr>
          <a:xfrm>
            <a:off x="640080" y="2240280"/>
            <a:ext cx="5669280" cy="1051560"/>
          </a:xfrm>
          <a:prstGeom prst="rect">
            <a:avLst/>
          </a:prstGeom>
          <a:noFill/>
          <a:ln/>
        </p:spPr>
        <p:txBody>
          <a:bodyPr wrap="square" lIns="0" tIns="0" rIns="0" bIns="0" rtlCol="0" anchor="t"/>
          <a:lstStyle/>
          <a:p>
            <a:pPr algn="l" indent="0" marL="0">
              <a:buNone/>
            </a:pPr>
            <a:r>
              <a:rPr lang="en-US" sz="6000" b="1" dirty="0">
                <a:solidFill>
                  <a:schemeClr val="bg1"/>
                </a:solidFill>
              </a:rPr>
              <a:t>ScoutUp Club</a:t>
            </a:r>
            <a:endParaRPr lang="en-US" sz="6000" dirty="0"/>
          </a:p>
        </p:txBody>
      </p:sp>
      <p:sp>
        <p:nvSpPr>
          <p:cNvPr id="6" name="Text 0"/>
          <p:cNvSpPr/>
          <p:nvPr>
            <p:ph idx="101" type="body" hasCustomPrompt="1"/>
          </p:nvPr>
        </p:nvSpPr>
        <p:spPr>
          <a:xfrm>
            <a:off x="640080" y="3383280"/>
            <a:ext cx="5120640" cy="1005840"/>
          </a:xfrm>
          <a:prstGeom prst="rect">
            <a:avLst/>
          </a:prstGeom>
          <a:noFill/>
          <a:ln/>
        </p:spPr>
        <p:txBody>
          <a:bodyPr wrap="square" lIns="0" tIns="0" rIns="0" bIns="0" rtlCol="0" anchor="t"/>
          <a:lstStyle/>
          <a:p>
            <a:pPr indent="0" marL="0">
              <a:buNone/>
            </a:pPr>
            <a:r>
              <a:rPr lang="en-US" sz="2100" dirty="0">
                <a:solidFill>
                  <a:srgbClr val="C9CDD8"/>
                </a:solidFill>
              </a:rPr>
              <a:t>Una herramienta para ayudar a los clubes a descubrir y gestionar talento futbolístico.</a:t>
            </a:r>
            <a:endParaRPr lang="en-US" sz="2100" dirty="0"/>
          </a:p>
        </p:txBody>
      </p:sp>
      <p:sp>
        <p:nvSpPr>
          <p:cNvPr id="7" name="texto-3"/>
          <p:cNvSpPr txBox="1"/>
          <p:nvPr/>
        </p:nvSpPr>
        <p:spPr>
          <a:xfrm>
            <a:off x="640080" y="6172200"/>
            <a:ext cx="6400800" cy="274320"/>
          </a:xfrm>
          <a:prstGeom prst="rect">
            <a:avLst/>
          </a:prstGeom>
          <a:noFill/>
          <a:ln/>
        </p:spPr>
        <p:txBody>
          <a:bodyPr wrap="square" lIns="0" tIns="0" rIns="0" bIns="0" rtlCol="0" anchor="t"/>
          <a:lstStyle/>
          <a:p>
            <a:pPr indent="0" marL="0">
              <a:buNone/>
            </a:pPr>
            <a:r>
              <a:rPr lang="en-US" sz="1200" dirty="0">
                <a:solidFill>
                  <a:srgbClr val="C9CDD8"/>
                </a:solidFill>
              </a:rPr>
              <a:t>Proyecto en desarrollo · Las pantallas son de la demo, con datos ficticios</a:t>
            </a:r>
            <a:endParaRPr lang="en-US" sz="1200" dirty="0"/>
          </a:p>
        </p:txBody>
      </p:sp>
      <p:sp>
        <p:nvSpPr>
          <p:cNvPr id="8" name="marco-portada"/>
          <p:cNvSpPr/>
          <p:nvPr/>
        </p:nvSpPr>
        <p:spPr>
          <a:xfrm>
            <a:off x="6400800" y="1737360"/>
            <a:ext cx="6583680" cy="2633472"/>
          </a:xfrm>
          <a:prstGeom prst="roundRect">
            <a:avLst>
              <a:gd name="adj" fmla="val 3472"/>
            </a:avLst>
          </a:prstGeom>
          <a:solidFill>
            <a:schemeClr val="bg2"/>
          </a:solidFill>
          <a:ln/>
          <a:effectLst>
            <a:outerShdw sx="100000" sy="100000" kx="0" ky="0" algn="bl" rotWithShape="0" blurRad="381000" dist="101600" dir="5400000">
              <a:srgbClr val="000000">
                <a:alpha val="50000"/>
              </a:srgbClr>
            </a:outerShdw>
          </a:effectLst>
        </p:spPr>
      </p:sp>
      <p:pic>
        <p:nvPicPr>
          <p:cNvPr id="9" name="captura-panel" descr="Panel del club en la demo: «El Cadete A necesita un lateral derecho», 18 jugadores compatibles">    </p:cNvPr>
          <p:cNvPicPr>
            <a:picLocks noChangeAspect="1"/>
          </p:cNvPicPr>
          <p:nvPr/>
        </p:nvPicPr>
        <p:blipFill>
          <a:blip r:embed="rId2"/>
          <a:stretch>
            <a:fillRect/>
          </a:stretch>
        </p:blipFill>
        <p:spPr>
          <a:xfrm>
            <a:off x="6400800" y="1737360"/>
            <a:ext cx="6583680" cy="263347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686800" cy="274320"/>
          </a:xfrm>
          <a:prstGeom prst="rect">
            <a:avLst/>
          </a:prstGeom>
          <a:noFill/>
          <a:ln/>
        </p:spPr>
        <p:txBody>
          <a:bodyPr wrap="square" lIns="0" tIns="0" rIns="0" bIns="0" rtlCol="0" anchor="ctr"/>
          <a:lstStyle/>
          <a:p>
            <a:pPr indent="0" marL="0">
              <a:buNone/>
            </a:pPr>
            <a:r>
              <a:rPr lang="en-US" sz="1200" b="1" spc="150" kern="0" dirty="0">
                <a:solidFill>
                  <a:schemeClr val="accent2"/>
                </a:solidFill>
              </a:rPr>
              <a:t>CÓMO SE TRABAJA HOY · LO QUE QUEREMOS CONTRASTAR</a:t>
            </a:r>
            <a:endParaRPr lang="en-US" sz="1200" dirty="0"/>
          </a:p>
        </p:txBody>
      </p:sp>
      <p:sp>
        <p:nvSpPr>
          <p:cNvPr id="3" name="Text 0"/>
          <p:cNvSpPr/>
          <p:nvPr>
            <p:ph idx="101" type="title" hasCustomPrompt="1"/>
          </p:nvPr>
        </p:nvSpPr>
        <p:spPr>
          <a:xfrm>
            <a:off x="548640" y="640080"/>
            <a:ext cx="11094415" cy="685800"/>
          </a:xfrm>
          <a:prstGeom prst="rect">
            <a:avLst/>
          </a:prstGeom>
          <a:noFill/>
          <a:ln/>
        </p:spPr>
        <p:txBody>
          <a:bodyPr wrap="square" lIns="0" tIns="0" rIns="0" bIns="0" rtlCol="0" anchor="t"/>
          <a:lstStyle/>
          <a:p>
            <a:pPr algn="l" indent="0" marL="0">
              <a:buNone/>
            </a:pPr>
            <a:r>
              <a:rPr lang="en-US" sz="3200" b="1" dirty="0">
                <a:solidFill>
                  <a:schemeClr val="tx1"/>
                </a:solidFill>
              </a:rPr>
              <a:t>Así imaginamos hoy la búsqueda de un jugador</a:t>
            </a:r>
            <a:endParaRPr lang="en-US" sz="3200" dirty="0"/>
          </a:p>
        </p:txBody>
      </p:sp>
      <p:sp>
        <p:nvSpPr>
          <p:cNvPr id="4" name="linea-proceso"/>
          <p:cNvSpPr/>
          <p:nvPr/>
        </p:nvSpPr>
        <p:spPr>
          <a:xfrm>
            <a:off x="1394460" y="2240280"/>
            <a:ext cx="9402775" cy="0"/>
          </a:xfrm>
          <a:prstGeom prst="line">
            <a:avLst/>
          </a:prstGeom>
          <a:noFill/>
          <a:ln w="25400">
            <a:solidFill>
              <a:schemeClr val="accent1"/>
            </a:solidFill>
            <a:prstDash val="dash"/>
          </a:ln>
        </p:spPr>
      </p:sp>
      <p:sp>
        <p:nvSpPr>
          <p:cNvPr id="5" name="hueco-4"/>
          <p:cNvSpPr/>
          <p:nvPr/>
        </p:nvSpPr>
        <p:spPr>
          <a:xfrm>
            <a:off x="937260" y="1783080"/>
            <a:ext cx="914400" cy="914400"/>
          </a:xfrm>
          <a:prstGeom prst="ellipse">
            <a:avLst/>
          </a:prstGeom>
          <a:solidFill>
            <a:schemeClr val="bg2"/>
          </a:solidFill>
          <a:ln/>
        </p:spPr>
      </p:sp>
      <p:sp>
        <p:nvSpPr>
          <p:cNvPr id="6" name="icono-fondo-5"/>
          <p:cNvSpPr/>
          <p:nvPr/>
        </p:nvSpPr>
        <p:spPr>
          <a:xfrm>
            <a:off x="982980" y="1828800"/>
            <a:ext cx="822960" cy="822960"/>
          </a:xfrm>
          <a:prstGeom prst="ellipse">
            <a:avLst/>
          </a:prstGeom>
          <a:solidFill>
            <a:schemeClr val="bg1"/>
          </a:solidFill>
          <a:ln/>
        </p:spPr>
      </p:sp>
      <p:pic>
        <p:nvPicPr>
          <p:cNvPr id="7" name="icono-need-6" descr="/tmp/claude-0/-home-user-Scoutup/a47adca6-2afe-5531-9b19-f69196bacfbf/scratchpad/deck/img/i_need.png">    </p:cNvPr>
          <p:cNvPicPr>
            <a:picLocks noChangeAspect="1"/>
          </p:cNvPicPr>
          <p:nvPr/>
        </p:nvPicPr>
        <p:blipFill>
          <a:blip r:embed="rId1"/>
          <a:stretch>
            <a:fillRect/>
          </a:stretch>
        </p:blipFill>
        <p:spPr>
          <a:xfrm>
            <a:off x="1188720" y="2034540"/>
            <a:ext cx="411480" cy="411480"/>
          </a:xfrm>
          <a:prstGeom prst="rect">
            <a:avLst/>
          </a:prstGeom>
        </p:spPr>
      </p:pic>
      <p:sp>
        <p:nvSpPr>
          <p:cNvPr id="8" name="aro-7"/>
          <p:cNvSpPr/>
          <p:nvPr/>
        </p:nvSpPr>
        <p:spPr>
          <a:xfrm>
            <a:off x="982980" y="1828800"/>
            <a:ext cx="822960" cy="822960"/>
          </a:xfrm>
          <a:prstGeom prst="ellipse">
            <a:avLst/>
          </a:prstGeom>
          <a:ln w="19050">
            <a:solidFill>
              <a:schemeClr val="accent1"/>
            </a:solidFill>
            <a:prstDash val="solid"/>
          </a:ln>
        </p:spPr>
      </p:sp>
      <p:sp>
        <p:nvSpPr>
          <p:cNvPr id="9" name="texto-8"/>
          <p:cNvSpPr txBox="1"/>
          <p:nvPr/>
        </p:nvSpPr>
        <p:spPr>
          <a:xfrm>
            <a:off x="548640" y="2788920"/>
            <a:ext cx="1691640" cy="274320"/>
          </a:xfrm>
          <a:prstGeom prst="rect">
            <a:avLst/>
          </a:prstGeom>
          <a:noFill/>
          <a:ln/>
        </p:spPr>
        <p:txBody>
          <a:bodyPr wrap="square" lIns="0" tIns="0" rIns="0" bIns="0" rtlCol="0" anchor="t"/>
          <a:lstStyle/>
          <a:p>
            <a:pPr algn="ctr" indent="0" marL="0">
              <a:buNone/>
            </a:pPr>
            <a:r>
              <a:rPr lang="en-US" sz="1300" b="1" dirty="0">
                <a:solidFill>
                  <a:schemeClr val="accent2"/>
                </a:solidFill>
              </a:rPr>
              <a:t>1</a:t>
            </a:r>
            <a:endParaRPr lang="en-US" sz="1300" dirty="0"/>
          </a:p>
        </p:txBody>
      </p:sp>
      <p:sp>
        <p:nvSpPr>
          <p:cNvPr id="10" name="texto-9"/>
          <p:cNvSpPr txBox="1"/>
          <p:nvPr/>
        </p:nvSpPr>
        <p:spPr>
          <a:xfrm>
            <a:off x="548640" y="3063240"/>
            <a:ext cx="1691640" cy="566928"/>
          </a:xfrm>
          <a:prstGeom prst="rect">
            <a:avLst/>
          </a:prstGeom>
          <a:noFill/>
          <a:ln/>
        </p:spPr>
        <p:txBody>
          <a:bodyPr wrap="square" lIns="0" tIns="0" rIns="0" bIns="0" rtlCol="0" anchor="t"/>
          <a:lstStyle/>
          <a:p>
            <a:pPr algn="ctr" indent="0" marL="0">
              <a:buNone/>
            </a:pPr>
            <a:r>
              <a:rPr lang="en-US" sz="1600" b="1" dirty="0">
                <a:solidFill>
                  <a:schemeClr val="tx1"/>
                </a:solidFill>
                <a:latin typeface="Arial" pitchFamily="34" charset="0"/>
                <a:ea typeface="Arial" pitchFamily="34" charset="-122"/>
                <a:cs typeface="Arial" pitchFamily="34" charset="-120"/>
              </a:rPr>
              <a:t>Necesidad deportiva</a:t>
            </a:r>
            <a:endParaRPr lang="en-US" sz="1600" dirty="0"/>
          </a:p>
        </p:txBody>
      </p:sp>
      <p:sp>
        <p:nvSpPr>
          <p:cNvPr id="11" name="texto-10"/>
          <p:cNvSpPr txBox="1"/>
          <p:nvPr/>
        </p:nvSpPr>
        <p:spPr>
          <a:xfrm>
            <a:off x="548640" y="3657600"/>
            <a:ext cx="1691640" cy="685800"/>
          </a:xfrm>
          <a:prstGeom prst="rect">
            <a:avLst/>
          </a:prstGeom>
          <a:noFill/>
          <a:ln/>
        </p:spPr>
        <p:txBody>
          <a:bodyPr wrap="square" lIns="0" tIns="0" rIns="0" bIns="0" rtlCol="0" anchor="t"/>
          <a:lstStyle/>
          <a:p>
            <a:pPr algn="ctr" indent="0" marL="0">
              <a:buNone/>
            </a:pPr>
            <a:r>
              <a:rPr lang="en-US" sz="1400" dirty="0">
                <a:solidFill>
                  <a:schemeClr val="accent6"/>
                </a:solidFill>
              </a:rPr>
              <a:t>Falta un lateral derecho en el Cadete A</a:t>
            </a:r>
            <a:endParaRPr lang="en-US" sz="1400" dirty="0"/>
          </a:p>
        </p:txBody>
      </p:sp>
      <p:sp>
        <p:nvSpPr>
          <p:cNvPr id="12" name="hueco-11"/>
          <p:cNvSpPr/>
          <p:nvPr/>
        </p:nvSpPr>
        <p:spPr>
          <a:xfrm>
            <a:off x="2817815" y="1783080"/>
            <a:ext cx="914400" cy="914400"/>
          </a:xfrm>
          <a:prstGeom prst="ellipse">
            <a:avLst/>
          </a:prstGeom>
          <a:solidFill>
            <a:schemeClr val="bg2"/>
          </a:solidFill>
          <a:ln/>
        </p:spPr>
      </p:sp>
      <p:sp>
        <p:nvSpPr>
          <p:cNvPr id="13" name="icono-fondo-12"/>
          <p:cNvSpPr/>
          <p:nvPr/>
        </p:nvSpPr>
        <p:spPr>
          <a:xfrm>
            <a:off x="2863535" y="1828800"/>
            <a:ext cx="822960" cy="822960"/>
          </a:xfrm>
          <a:prstGeom prst="ellipse">
            <a:avLst/>
          </a:prstGeom>
          <a:solidFill>
            <a:schemeClr val="bg1"/>
          </a:solidFill>
          <a:ln/>
        </p:spPr>
      </p:sp>
      <p:pic>
        <p:nvPicPr>
          <p:cNvPr id="14" name="icono-contacts-13" descr="/tmp/claude-0/-home-user-Scoutup/a47adca6-2afe-5531-9b19-f69196bacfbf/scratchpad/deck/img/i_contacts.png">    </p:cNvPr>
          <p:cNvPicPr>
            <a:picLocks noChangeAspect="1"/>
          </p:cNvPicPr>
          <p:nvPr/>
        </p:nvPicPr>
        <p:blipFill>
          <a:blip r:embed="rId2"/>
          <a:stretch>
            <a:fillRect/>
          </a:stretch>
        </p:blipFill>
        <p:spPr>
          <a:xfrm>
            <a:off x="3069275" y="2034540"/>
            <a:ext cx="411480" cy="411480"/>
          </a:xfrm>
          <a:prstGeom prst="rect">
            <a:avLst/>
          </a:prstGeom>
        </p:spPr>
      </p:pic>
      <p:sp>
        <p:nvSpPr>
          <p:cNvPr id="15" name="aro-14"/>
          <p:cNvSpPr/>
          <p:nvPr/>
        </p:nvSpPr>
        <p:spPr>
          <a:xfrm>
            <a:off x="2863535" y="1828800"/>
            <a:ext cx="822960" cy="822960"/>
          </a:xfrm>
          <a:prstGeom prst="ellipse">
            <a:avLst/>
          </a:prstGeom>
          <a:ln w="19050">
            <a:solidFill>
              <a:schemeClr val="accent1"/>
            </a:solidFill>
            <a:prstDash val="solid"/>
          </a:ln>
        </p:spPr>
      </p:sp>
      <p:sp>
        <p:nvSpPr>
          <p:cNvPr id="16" name="texto-15"/>
          <p:cNvSpPr txBox="1"/>
          <p:nvPr/>
        </p:nvSpPr>
        <p:spPr>
          <a:xfrm>
            <a:off x="2429195" y="2788920"/>
            <a:ext cx="1691640" cy="274320"/>
          </a:xfrm>
          <a:prstGeom prst="rect">
            <a:avLst/>
          </a:prstGeom>
          <a:noFill/>
          <a:ln/>
        </p:spPr>
        <p:txBody>
          <a:bodyPr wrap="square" lIns="0" tIns="0" rIns="0" bIns="0" rtlCol="0" anchor="t"/>
          <a:lstStyle/>
          <a:p>
            <a:pPr algn="ctr" indent="0" marL="0">
              <a:buNone/>
            </a:pPr>
            <a:r>
              <a:rPr lang="en-US" sz="1300" b="1" dirty="0">
                <a:solidFill>
                  <a:schemeClr val="accent2"/>
                </a:solidFill>
              </a:rPr>
              <a:t>2</a:t>
            </a:r>
            <a:endParaRPr lang="en-US" sz="1300" dirty="0"/>
          </a:p>
        </p:txBody>
      </p:sp>
      <p:sp>
        <p:nvSpPr>
          <p:cNvPr id="17" name="texto-16"/>
          <p:cNvSpPr txBox="1"/>
          <p:nvPr/>
        </p:nvSpPr>
        <p:spPr>
          <a:xfrm>
            <a:off x="2429195" y="3063240"/>
            <a:ext cx="1691640" cy="566928"/>
          </a:xfrm>
          <a:prstGeom prst="rect">
            <a:avLst/>
          </a:prstGeom>
          <a:noFill/>
          <a:ln/>
        </p:spPr>
        <p:txBody>
          <a:bodyPr wrap="square" lIns="0" tIns="0" rIns="0" bIns="0" rtlCol="0" anchor="t"/>
          <a:lstStyle/>
          <a:p>
            <a:pPr algn="ctr" indent="0" marL="0">
              <a:buNone/>
            </a:pPr>
            <a:r>
              <a:rPr lang="en-US" sz="1600" b="1" dirty="0">
                <a:solidFill>
                  <a:schemeClr val="tx1"/>
                </a:solidFill>
                <a:latin typeface="Arial" pitchFamily="34" charset="0"/>
                <a:ea typeface="Arial" pitchFamily="34" charset="-122"/>
                <a:cs typeface="Arial" pitchFamily="34" charset="-120"/>
              </a:rPr>
              <a:t>Contactos</a:t>
            </a:r>
            <a:endParaRPr lang="en-US" sz="1600" dirty="0"/>
          </a:p>
        </p:txBody>
      </p:sp>
      <p:sp>
        <p:nvSpPr>
          <p:cNvPr id="18" name="texto-17"/>
          <p:cNvSpPr txBox="1"/>
          <p:nvPr/>
        </p:nvSpPr>
        <p:spPr>
          <a:xfrm>
            <a:off x="2429195" y="3657600"/>
            <a:ext cx="1691640" cy="685800"/>
          </a:xfrm>
          <a:prstGeom prst="rect">
            <a:avLst/>
          </a:prstGeom>
          <a:noFill/>
          <a:ln/>
        </p:spPr>
        <p:txBody>
          <a:bodyPr wrap="square" lIns="0" tIns="0" rIns="0" bIns="0" rtlCol="0" anchor="t"/>
          <a:lstStyle/>
          <a:p>
            <a:pPr algn="ctr" indent="0" marL="0">
              <a:buNone/>
            </a:pPr>
            <a:r>
              <a:rPr lang="en-US" sz="1400" dirty="0">
                <a:solidFill>
                  <a:schemeClr val="accent6"/>
                </a:solidFill>
              </a:rPr>
              <a:t>Recomendaciones, llamadas y conocidos</a:t>
            </a:r>
            <a:endParaRPr lang="en-US" sz="1400" dirty="0"/>
          </a:p>
        </p:txBody>
      </p:sp>
      <p:sp>
        <p:nvSpPr>
          <p:cNvPr id="19" name="hueco-18"/>
          <p:cNvSpPr/>
          <p:nvPr/>
        </p:nvSpPr>
        <p:spPr>
          <a:xfrm>
            <a:off x="4698370" y="1783080"/>
            <a:ext cx="914400" cy="914400"/>
          </a:xfrm>
          <a:prstGeom prst="ellipse">
            <a:avLst/>
          </a:prstGeom>
          <a:solidFill>
            <a:schemeClr val="bg2"/>
          </a:solidFill>
          <a:ln/>
        </p:spPr>
      </p:sp>
      <p:sp>
        <p:nvSpPr>
          <p:cNvPr id="20" name="icono-fondo-19"/>
          <p:cNvSpPr/>
          <p:nvPr/>
        </p:nvSpPr>
        <p:spPr>
          <a:xfrm>
            <a:off x="4744090" y="1828800"/>
            <a:ext cx="822960" cy="822960"/>
          </a:xfrm>
          <a:prstGeom prst="ellipse">
            <a:avLst/>
          </a:prstGeom>
          <a:solidFill>
            <a:schemeClr val="bg1"/>
          </a:solidFill>
          <a:ln/>
        </p:spPr>
      </p:sp>
      <p:pic>
        <p:nvPicPr>
          <p:cNvPr id="21" name="icono-video-20" descr="/tmp/claude-0/-home-user-Scoutup/a47adca6-2afe-5531-9b19-f69196bacfbf/scratchpad/deck/img/i_video.png">    </p:cNvPr>
          <p:cNvPicPr>
            <a:picLocks noChangeAspect="1"/>
          </p:cNvPicPr>
          <p:nvPr/>
        </p:nvPicPr>
        <p:blipFill>
          <a:blip r:embed="rId3"/>
          <a:stretch>
            <a:fillRect/>
          </a:stretch>
        </p:blipFill>
        <p:spPr>
          <a:xfrm>
            <a:off x="4949830" y="2034540"/>
            <a:ext cx="411480" cy="411480"/>
          </a:xfrm>
          <a:prstGeom prst="rect">
            <a:avLst/>
          </a:prstGeom>
        </p:spPr>
      </p:pic>
      <p:sp>
        <p:nvSpPr>
          <p:cNvPr id="22" name="aro-21"/>
          <p:cNvSpPr/>
          <p:nvPr/>
        </p:nvSpPr>
        <p:spPr>
          <a:xfrm>
            <a:off x="4744090" y="1828800"/>
            <a:ext cx="822960" cy="822960"/>
          </a:xfrm>
          <a:prstGeom prst="ellipse">
            <a:avLst/>
          </a:prstGeom>
          <a:ln w="19050">
            <a:solidFill>
              <a:schemeClr val="accent1"/>
            </a:solidFill>
            <a:prstDash val="solid"/>
          </a:ln>
        </p:spPr>
      </p:sp>
      <p:sp>
        <p:nvSpPr>
          <p:cNvPr id="23" name="texto-22"/>
          <p:cNvSpPr txBox="1"/>
          <p:nvPr/>
        </p:nvSpPr>
        <p:spPr>
          <a:xfrm>
            <a:off x="4309750" y="2788920"/>
            <a:ext cx="1691640" cy="274320"/>
          </a:xfrm>
          <a:prstGeom prst="rect">
            <a:avLst/>
          </a:prstGeom>
          <a:noFill/>
          <a:ln/>
        </p:spPr>
        <p:txBody>
          <a:bodyPr wrap="square" lIns="0" tIns="0" rIns="0" bIns="0" rtlCol="0" anchor="t"/>
          <a:lstStyle/>
          <a:p>
            <a:pPr algn="ctr" indent="0" marL="0">
              <a:buNone/>
            </a:pPr>
            <a:r>
              <a:rPr lang="en-US" sz="1300" b="1" dirty="0">
                <a:solidFill>
                  <a:schemeClr val="accent2"/>
                </a:solidFill>
              </a:rPr>
              <a:t>3</a:t>
            </a:r>
            <a:endParaRPr lang="en-US" sz="1300" dirty="0"/>
          </a:p>
        </p:txBody>
      </p:sp>
      <p:sp>
        <p:nvSpPr>
          <p:cNvPr id="24" name="texto-23"/>
          <p:cNvSpPr txBox="1"/>
          <p:nvPr/>
        </p:nvSpPr>
        <p:spPr>
          <a:xfrm>
            <a:off x="4309750" y="3063240"/>
            <a:ext cx="1691640" cy="566928"/>
          </a:xfrm>
          <a:prstGeom prst="rect">
            <a:avLst/>
          </a:prstGeom>
          <a:noFill/>
          <a:ln/>
        </p:spPr>
        <p:txBody>
          <a:bodyPr wrap="square" lIns="0" tIns="0" rIns="0" bIns="0" rtlCol="0" anchor="t"/>
          <a:lstStyle/>
          <a:p>
            <a:pPr algn="ctr" indent="0" marL="0">
              <a:buNone/>
            </a:pPr>
            <a:r>
              <a:rPr lang="en-US" sz="1600" b="1" dirty="0">
                <a:solidFill>
                  <a:schemeClr val="tx1"/>
                </a:solidFill>
                <a:latin typeface="Arial" pitchFamily="34" charset="0"/>
                <a:ea typeface="Arial" pitchFamily="34" charset="-122"/>
                <a:cs typeface="Arial" pitchFamily="34" charset="-120"/>
              </a:rPr>
              <a:t>Vídeos e información</a:t>
            </a:r>
            <a:endParaRPr lang="en-US" sz="1600" dirty="0"/>
          </a:p>
        </p:txBody>
      </p:sp>
      <p:sp>
        <p:nvSpPr>
          <p:cNvPr id="25" name="texto-24"/>
          <p:cNvSpPr txBox="1"/>
          <p:nvPr/>
        </p:nvSpPr>
        <p:spPr>
          <a:xfrm>
            <a:off x="4309750" y="3657600"/>
            <a:ext cx="1691640" cy="685800"/>
          </a:xfrm>
          <a:prstGeom prst="rect">
            <a:avLst/>
          </a:prstGeom>
          <a:noFill/>
          <a:ln/>
        </p:spPr>
        <p:txBody>
          <a:bodyPr wrap="square" lIns="0" tIns="0" rIns="0" bIns="0" rtlCol="0" anchor="t"/>
          <a:lstStyle/>
          <a:p>
            <a:pPr algn="ctr" indent="0" marL="0">
              <a:buNone/>
            </a:pPr>
            <a:r>
              <a:rPr lang="en-US" sz="1400" dirty="0">
                <a:solidFill>
                  <a:schemeClr val="accent6"/>
                </a:solidFill>
              </a:rPr>
              <a:t>Enlaces, mensajes y hojas sueltas</a:t>
            </a:r>
            <a:endParaRPr lang="en-US" sz="1400" dirty="0"/>
          </a:p>
        </p:txBody>
      </p:sp>
      <p:sp>
        <p:nvSpPr>
          <p:cNvPr id="26" name="hueco-25"/>
          <p:cNvSpPr/>
          <p:nvPr/>
        </p:nvSpPr>
        <p:spPr>
          <a:xfrm>
            <a:off x="6578925" y="1783080"/>
            <a:ext cx="914400" cy="914400"/>
          </a:xfrm>
          <a:prstGeom prst="ellipse">
            <a:avLst/>
          </a:prstGeom>
          <a:solidFill>
            <a:schemeClr val="bg2"/>
          </a:solidFill>
          <a:ln/>
        </p:spPr>
      </p:sp>
      <p:sp>
        <p:nvSpPr>
          <p:cNvPr id="27" name="icono-fondo-26"/>
          <p:cNvSpPr/>
          <p:nvPr/>
        </p:nvSpPr>
        <p:spPr>
          <a:xfrm>
            <a:off x="6624645" y="1828800"/>
            <a:ext cx="822960" cy="822960"/>
          </a:xfrm>
          <a:prstGeom prst="ellipse">
            <a:avLst/>
          </a:prstGeom>
          <a:solidFill>
            <a:schemeClr val="bg1"/>
          </a:solidFill>
          <a:ln/>
        </p:spPr>
      </p:sp>
      <p:pic>
        <p:nvPicPr>
          <p:cNvPr id="28" name="icono-eval-27" descr="/tmp/claude-0/-home-user-Scoutup/a47adca6-2afe-5531-9b19-f69196bacfbf/scratchpad/deck/img/i_eval.png">    </p:cNvPr>
          <p:cNvPicPr>
            <a:picLocks noChangeAspect="1"/>
          </p:cNvPicPr>
          <p:nvPr/>
        </p:nvPicPr>
        <p:blipFill>
          <a:blip r:embed="rId4"/>
          <a:stretch>
            <a:fillRect/>
          </a:stretch>
        </p:blipFill>
        <p:spPr>
          <a:xfrm>
            <a:off x="6830385" y="2034540"/>
            <a:ext cx="411480" cy="411480"/>
          </a:xfrm>
          <a:prstGeom prst="rect">
            <a:avLst/>
          </a:prstGeom>
        </p:spPr>
      </p:pic>
      <p:sp>
        <p:nvSpPr>
          <p:cNvPr id="29" name="aro-28"/>
          <p:cNvSpPr/>
          <p:nvPr/>
        </p:nvSpPr>
        <p:spPr>
          <a:xfrm>
            <a:off x="6624645" y="1828800"/>
            <a:ext cx="822960" cy="822960"/>
          </a:xfrm>
          <a:prstGeom prst="ellipse">
            <a:avLst/>
          </a:prstGeom>
          <a:ln w="19050">
            <a:solidFill>
              <a:schemeClr val="accent1"/>
            </a:solidFill>
            <a:prstDash val="solid"/>
          </a:ln>
        </p:spPr>
      </p:sp>
      <p:sp>
        <p:nvSpPr>
          <p:cNvPr id="30" name="texto-29"/>
          <p:cNvSpPr txBox="1"/>
          <p:nvPr/>
        </p:nvSpPr>
        <p:spPr>
          <a:xfrm>
            <a:off x="6190305" y="2788920"/>
            <a:ext cx="1691640" cy="274320"/>
          </a:xfrm>
          <a:prstGeom prst="rect">
            <a:avLst/>
          </a:prstGeom>
          <a:noFill/>
          <a:ln/>
        </p:spPr>
        <p:txBody>
          <a:bodyPr wrap="square" lIns="0" tIns="0" rIns="0" bIns="0" rtlCol="0" anchor="t"/>
          <a:lstStyle/>
          <a:p>
            <a:pPr algn="ctr" indent="0" marL="0">
              <a:buNone/>
            </a:pPr>
            <a:r>
              <a:rPr lang="en-US" sz="1300" b="1" dirty="0">
                <a:solidFill>
                  <a:schemeClr val="accent2"/>
                </a:solidFill>
              </a:rPr>
              <a:t>4</a:t>
            </a:r>
            <a:endParaRPr lang="en-US" sz="1300" dirty="0"/>
          </a:p>
        </p:txBody>
      </p:sp>
      <p:sp>
        <p:nvSpPr>
          <p:cNvPr id="31" name="texto-30"/>
          <p:cNvSpPr txBox="1"/>
          <p:nvPr/>
        </p:nvSpPr>
        <p:spPr>
          <a:xfrm>
            <a:off x="6190305" y="3063240"/>
            <a:ext cx="1691640" cy="566928"/>
          </a:xfrm>
          <a:prstGeom prst="rect">
            <a:avLst/>
          </a:prstGeom>
          <a:noFill/>
          <a:ln/>
        </p:spPr>
        <p:txBody>
          <a:bodyPr wrap="square" lIns="0" tIns="0" rIns="0" bIns="0" rtlCol="0" anchor="t"/>
          <a:lstStyle/>
          <a:p>
            <a:pPr algn="ctr" indent="0" marL="0">
              <a:buNone/>
            </a:pPr>
            <a:r>
              <a:rPr lang="en-US" sz="1600" b="1" dirty="0">
                <a:solidFill>
                  <a:schemeClr val="tx1"/>
                </a:solidFill>
                <a:latin typeface="Arial" pitchFamily="34" charset="0"/>
                <a:ea typeface="Arial" pitchFamily="34" charset="-122"/>
                <a:cs typeface="Arial" pitchFamily="34" charset="-120"/>
              </a:rPr>
              <a:t>Evaluación</a:t>
            </a:r>
            <a:endParaRPr lang="en-US" sz="1600" dirty="0"/>
          </a:p>
        </p:txBody>
      </p:sp>
      <p:sp>
        <p:nvSpPr>
          <p:cNvPr id="32" name="texto-31"/>
          <p:cNvSpPr txBox="1"/>
          <p:nvPr/>
        </p:nvSpPr>
        <p:spPr>
          <a:xfrm>
            <a:off x="6190305" y="3657600"/>
            <a:ext cx="1691640" cy="685800"/>
          </a:xfrm>
          <a:prstGeom prst="rect">
            <a:avLst/>
          </a:prstGeom>
          <a:noFill/>
          <a:ln/>
        </p:spPr>
        <p:txBody>
          <a:bodyPr wrap="square" lIns="0" tIns="0" rIns="0" bIns="0" rtlCol="0" anchor="t"/>
          <a:lstStyle/>
          <a:p>
            <a:pPr algn="ctr" indent="0" marL="0">
              <a:buNone/>
            </a:pPr>
            <a:r>
              <a:rPr lang="en-US" sz="1400" dirty="0">
                <a:solidFill>
                  <a:schemeClr val="accent6"/>
                </a:solidFill>
              </a:rPr>
              <a:t>Ir a verlo jugar y tomar notas</a:t>
            </a:r>
            <a:endParaRPr lang="en-US" sz="1400" dirty="0"/>
          </a:p>
        </p:txBody>
      </p:sp>
      <p:sp>
        <p:nvSpPr>
          <p:cNvPr id="33" name="hueco-32"/>
          <p:cNvSpPr/>
          <p:nvPr/>
        </p:nvSpPr>
        <p:spPr>
          <a:xfrm>
            <a:off x="8459480" y="1783080"/>
            <a:ext cx="914400" cy="914400"/>
          </a:xfrm>
          <a:prstGeom prst="ellipse">
            <a:avLst/>
          </a:prstGeom>
          <a:solidFill>
            <a:schemeClr val="bg2"/>
          </a:solidFill>
          <a:ln/>
        </p:spPr>
      </p:sp>
      <p:sp>
        <p:nvSpPr>
          <p:cNvPr id="34" name="icono-fondo-33"/>
          <p:cNvSpPr/>
          <p:nvPr/>
        </p:nvSpPr>
        <p:spPr>
          <a:xfrm>
            <a:off x="8505200" y="1828800"/>
            <a:ext cx="822960" cy="822960"/>
          </a:xfrm>
          <a:prstGeom prst="ellipse">
            <a:avLst/>
          </a:prstGeom>
          <a:solidFill>
            <a:schemeClr val="bg1"/>
          </a:solidFill>
          <a:ln/>
        </p:spPr>
      </p:sp>
      <p:pic>
        <p:nvPicPr>
          <p:cNvPr id="35" name="icono-follow-34" descr="/tmp/claude-0/-home-user-Scoutup/a47adca6-2afe-5531-9b19-f69196bacfbf/scratchpad/deck/img/i_follow.png">    </p:cNvPr>
          <p:cNvPicPr>
            <a:picLocks noChangeAspect="1"/>
          </p:cNvPicPr>
          <p:nvPr/>
        </p:nvPicPr>
        <p:blipFill>
          <a:blip r:embed="rId5"/>
          <a:stretch>
            <a:fillRect/>
          </a:stretch>
        </p:blipFill>
        <p:spPr>
          <a:xfrm>
            <a:off x="8710940" y="2034540"/>
            <a:ext cx="411480" cy="411480"/>
          </a:xfrm>
          <a:prstGeom prst="rect">
            <a:avLst/>
          </a:prstGeom>
        </p:spPr>
      </p:pic>
      <p:sp>
        <p:nvSpPr>
          <p:cNvPr id="36" name="aro-35"/>
          <p:cNvSpPr/>
          <p:nvPr/>
        </p:nvSpPr>
        <p:spPr>
          <a:xfrm>
            <a:off x="8505200" y="1828800"/>
            <a:ext cx="822960" cy="822960"/>
          </a:xfrm>
          <a:prstGeom prst="ellipse">
            <a:avLst/>
          </a:prstGeom>
          <a:ln w="19050">
            <a:solidFill>
              <a:schemeClr val="accent1"/>
            </a:solidFill>
            <a:prstDash val="solid"/>
          </a:ln>
        </p:spPr>
      </p:sp>
      <p:sp>
        <p:nvSpPr>
          <p:cNvPr id="37" name="texto-36"/>
          <p:cNvSpPr txBox="1"/>
          <p:nvPr/>
        </p:nvSpPr>
        <p:spPr>
          <a:xfrm>
            <a:off x="8070860" y="2788920"/>
            <a:ext cx="1691640" cy="274320"/>
          </a:xfrm>
          <a:prstGeom prst="rect">
            <a:avLst/>
          </a:prstGeom>
          <a:noFill/>
          <a:ln/>
        </p:spPr>
        <p:txBody>
          <a:bodyPr wrap="square" lIns="0" tIns="0" rIns="0" bIns="0" rtlCol="0" anchor="t"/>
          <a:lstStyle/>
          <a:p>
            <a:pPr algn="ctr" indent="0" marL="0">
              <a:buNone/>
            </a:pPr>
            <a:r>
              <a:rPr lang="en-US" sz="1300" b="1" dirty="0">
                <a:solidFill>
                  <a:schemeClr val="accent2"/>
                </a:solidFill>
              </a:rPr>
              <a:t>5</a:t>
            </a:r>
            <a:endParaRPr lang="en-US" sz="1300" dirty="0"/>
          </a:p>
        </p:txBody>
      </p:sp>
      <p:sp>
        <p:nvSpPr>
          <p:cNvPr id="38" name="texto-37"/>
          <p:cNvSpPr txBox="1"/>
          <p:nvPr/>
        </p:nvSpPr>
        <p:spPr>
          <a:xfrm>
            <a:off x="8070860" y="3063240"/>
            <a:ext cx="1691640" cy="566928"/>
          </a:xfrm>
          <a:prstGeom prst="rect">
            <a:avLst/>
          </a:prstGeom>
          <a:noFill/>
          <a:ln/>
        </p:spPr>
        <p:txBody>
          <a:bodyPr wrap="square" lIns="0" tIns="0" rIns="0" bIns="0" rtlCol="0" anchor="t"/>
          <a:lstStyle/>
          <a:p>
            <a:pPr algn="ctr" indent="0" marL="0">
              <a:buNone/>
            </a:pPr>
            <a:r>
              <a:rPr lang="en-US" sz="1600" b="1" dirty="0">
                <a:solidFill>
                  <a:schemeClr val="tx1"/>
                </a:solidFill>
                <a:latin typeface="Arial" pitchFamily="34" charset="0"/>
                <a:ea typeface="Arial" pitchFamily="34" charset="-122"/>
                <a:cs typeface="Arial" pitchFamily="34" charset="-120"/>
              </a:rPr>
              <a:t>Seguimiento</a:t>
            </a:r>
            <a:endParaRPr lang="en-US" sz="1600" dirty="0"/>
          </a:p>
        </p:txBody>
      </p:sp>
      <p:sp>
        <p:nvSpPr>
          <p:cNvPr id="39" name="texto-38"/>
          <p:cNvSpPr txBox="1"/>
          <p:nvPr/>
        </p:nvSpPr>
        <p:spPr>
          <a:xfrm>
            <a:off x="8070860" y="3657600"/>
            <a:ext cx="1691640" cy="685800"/>
          </a:xfrm>
          <a:prstGeom prst="rect">
            <a:avLst/>
          </a:prstGeom>
          <a:noFill/>
          <a:ln/>
        </p:spPr>
        <p:txBody>
          <a:bodyPr wrap="square" lIns="0" tIns="0" rIns="0" bIns="0" rtlCol="0" anchor="t"/>
          <a:lstStyle/>
          <a:p>
            <a:pPr algn="ctr" indent="0" marL="0">
              <a:buNone/>
            </a:pPr>
            <a:r>
              <a:rPr lang="en-US" sz="1400" dirty="0">
                <a:solidFill>
                  <a:schemeClr val="accent6"/>
                </a:solidFill>
              </a:rPr>
              <a:t>Recordar a quién se llamó y cuándo</a:t>
            </a:r>
            <a:endParaRPr lang="en-US" sz="1400" dirty="0"/>
          </a:p>
        </p:txBody>
      </p:sp>
      <p:sp>
        <p:nvSpPr>
          <p:cNvPr id="40" name="hueco-39"/>
          <p:cNvSpPr/>
          <p:nvPr/>
        </p:nvSpPr>
        <p:spPr>
          <a:xfrm>
            <a:off x="10340035" y="1783080"/>
            <a:ext cx="914400" cy="914400"/>
          </a:xfrm>
          <a:prstGeom prst="ellipse">
            <a:avLst/>
          </a:prstGeom>
          <a:solidFill>
            <a:schemeClr val="bg2"/>
          </a:solidFill>
          <a:ln/>
        </p:spPr>
      </p:sp>
      <p:sp>
        <p:nvSpPr>
          <p:cNvPr id="41" name="icono-fondo-40"/>
          <p:cNvSpPr/>
          <p:nvPr/>
        </p:nvSpPr>
        <p:spPr>
          <a:xfrm>
            <a:off x="10385755" y="1828800"/>
            <a:ext cx="822960" cy="822960"/>
          </a:xfrm>
          <a:prstGeom prst="ellipse">
            <a:avLst/>
          </a:prstGeom>
          <a:solidFill>
            <a:schemeClr val="bg1"/>
          </a:solidFill>
          <a:ln/>
        </p:spPr>
      </p:sp>
      <p:pic>
        <p:nvPicPr>
          <p:cNvPr id="42" name="icono-decide-41" descr="/tmp/claude-0/-home-user-Scoutup/a47adca6-2afe-5531-9b19-f69196bacfbf/scratchpad/deck/img/i_decide.png">    </p:cNvPr>
          <p:cNvPicPr>
            <a:picLocks noChangeAspect="1"/>
          </p:cNvPicPr>
          <p:nvPr/>
        </p:nvPicPr>
        <p:blipFill>
          <a:blip r:embed="rId6"/>
          <a:stretch>
            <a:fillRect/>
          </a:stretch>
        </p:blipFill>
        <p:spPr>
          <a:xfrm>
            <a:off x="10591495" y="2034540"/>
            <a:ext cx="411480" cy="411480"/>
          </a:xfrm>
          <a:prstGeom prst="rect">
            <a:avLst/>
          </a:prstGeom>
        </p:spPr>
      </p:pic>
      <p:sp>
        <p:nvSpPr>
          <p:cNvPr id="43" name="aro-42"/>
          <p:cNvSpPr/>
          <p:nvPr/>
        </p:nvSpPr>
        <p:spPr>
          <a:xfrm>
            <a:off x="10385755" y="1828800"/>
            <a:ext cx="822960" cy="822960"/>
          </a:xfrm>
          <a:prstGeom prst="ellipse">
            <a:avLst/>
          </a:prstGeom>
          <a:ln w="19050">
            <a:solidFill>
              <a:schemeClr val="accent1"/>
            </a:solidFill>
            <a:prstDash val="solid"/>
          </a:ln>
        </p:spPr>
      </p:sp>
      <p:sp>
        <p:nvSpPr>
          <p:cNvPr id="44" name="texto-43"/>
          <p:cNvSpPr txBox="1"/>
          <p:nvPr/>
        </p:nvSpPr>
        <p:spPr>
          <a:xfrm>
            <a:off x="9951415" y="2788920"/>
            <a:ext cx="1691640" cy="274320"/>
          </a:xfrm>
          <a:prstGeom prst="rect">
            <a:avLst/>
          </a:prstGeom>
          <a:noFill/>
          <a:ln/>
        </p:spPr>
        <p:txBody>
          <a:bodyPr wrap="square" lIns="0" tIns="0" rIns="0" bIns="0" rtlCol="0" anchor="t"/>
          <a:lstStyle/>
          <a:p>
            <a:pPr algn="ctr" indent="0" marL="0">
              <a:buNone/>
            </a:pPr>
            <a:r>
              <a:rPr lang="en-US" sz="1300" b="1" dirty="0">
                <a:solidFill>
                  <a:schemeClr val="accent2"/>
                </a:solidFill>
              </a:rPr>
              <a:t>6</a:t>
            </a:r>
            <a:endParaRPr lang="en-US" sz="1300" dirty="0"/>
          </a:p>
        </p:txBody>
      </p:sp>
      <p:sp>
        <p:nvSpPr>
          <p:cNvPr id="45" name="texto-44"/>
          <p:cNvSpPr txBox="1"/>
          <p:nvPr/>
        </p:nvSpPr>
        <p:spPr>
          <a:xfrm>
            <a:off x="9951415" y="3063240"/>
            <a:ext cx="1691640" cy="566928"/>
          </a:xfrm>
          <a:prstGeom prst="rect">
            <a:avLst/>
          </a:prstGeom>
          <a:noFill/>
          <a:ln/>
        </p:spPr>
        <p:txBody>
          <a:bodyPr wrap="square" lIns="0" tIns="0" rIns="0" bIns="0" rtlCol="0" anchor="t"/>
          <a:lstStyle/>
          <a:p>
            <a:pPr algn="ctr" indent="0" marL="0">
              <a:buNone/>
            </a:pPr>
            <a:r>
              <a:rPr lang="en-US" sz="1600" b="1" dirty="0">
                <a:solidFill>
                  <a:schemeClr val="tx1"/>
                </a:solidFill>
                <a:latin typeface="Arial" pitchFamily="34" charset="0"/>
                <a:ea typeface="Arial" pitchFamily="34" charset="-122"/>
                <a:cs typeface="Arial" pitchFamily="34" charset="-120"/>
              </a:rPr>
              <a:t>Decisión</a:t>
            </a:r>
            <a:endParaRPr lang="en-US" sz="1600" dirty="0"/>
          </a:p>
        </p:txBody>
      </p:sp>
      <p:sp>
        <p:nvSpPr>
          <p:cNvPr id="46" name="texto-45"/>
          <p:cNvSpPr txBox="1"/>
          <p:nvPr/>
        </p:nvSpPr>
        <p:spPr>
          <a:xfrm>
            <a:off x="9951415" y="3657600"/>
            <a:ext cx="1691640" cy="685800"/>
          </a:xfrm>
          <a:prstGeom prst="rect">
            <a:avLst/>
          </a:prstGeom>
          <a:noFill/>
          <a:ln/>
        </p:spPr>
        <p:txBody>
          <a:bodyPr wrap="square" lIns="0" tIns="0" rIns="0" bIns="0" rtlCol="0" anchor="t"/>
          <a:lstStyle/>
          <a:p>
            <a:pPr algn="ctr" indent="0" marL="0">
              <a:buNone/>
            </a:pPr>
            <a:r>
              <a:rPr lang="en-US" sz="1400" dirty="0">
                <a:solidFill>
                  <a:schemeClr val="accent6"/>
                </a:solidFill>
              </a:rPr>
              <a:t>Prueba, incorporación o descarte</a:t>
            </a:r>
            <a:endParaRPr lang="en-US" sz="1400" dirty="0"/>
          </a:p>
        </p:txBody>
      </p:sp>
      <p:sp>
        <p:nvSpPr>
          <p:cNvPr id="47" name="tarjeta-46"/>
          <p:cNvSpPr/>
          <p:nvPr/>
        </p:nvSpPr>
        <p:spPr>
          <a:xfrm>
            <a:off x="548640" y="4800600"/>
            <a:ext cx="11094415" cy="1188720"/>
          </a:xfrm>
          <a:prstGeom prst="roundRect">
            <a:avLst>
              <a:gd name="adj" fmla="val 10769"/>
            </a:avLst>
          </a:prstGeom>
          <a:solidFill>
            <a:schemeClr val="tx2"/>
          </a:solidFill>
          <a:ln/>
          <a:effectLst>
            <a:outerShdw sx="100000" sy="100000" kx="0" ky="0" algn="bl" rotWithShape="0" blurRad="177800" dist="38100" dir="5400000">
              <a:srgbClr val="0E1116">
                <a:alpha val="13000"/>
              </a:srgbClr>
            </a:outerShdw>
          </a:effectLst>
        </p:spPr>
      </p:sp>
      <p:sp>
        <p:nvSpPr>
          <p:cNvPr id="48" name="icono-fondo-47"/>
          <p:cNvSpPr/>
          <p:nvPr/>
        </p:nvSpPr>
        <p:spPr>
          <a:xfrm>
            <a:off x="868680" y="5029200"/>
            <a:ext cx="731520" cy="731520"/>
          </a:xfrm>
          <a:prstGeom prst="ellipse">
            <a:avLst/>
          </a:prstGeom>
          <a:solidFill>
            <a:schemeClr val="accent1">
              <a:alpha val="20000"/>
            </a:schemeClr>
          </a:solidFill>
          <a:ln/>
        </p:spPr>
      </p:sp>
      <p:pic>
        <p:nvPicPr>
          <p:cNvPr id="49" name="icono-help-48" descr="/tmp/claude-0/-home-user-Scoutup/a47adca6-2afe-5531-9b19-f69196bacfbf/scratchpad/deck/img/i_help.png">    </p:cNvPr>
          <p:cNvPicPr>
            <a:picLocks noChangeAspect="1"/>
          </p:cNvPicPr>
          <p:nvPr/>
        </p:nvPicPr>
        <p:blipFill>
          <a:blip r:embed="rId7"/>
          <a:stretch>
            <a:fillRect/>
          </a:stretch>
        </p:blipFill>
        <p:spPr>
          <a:xfrm>
            <a:off x="1051560" y="5212080"/>
            <a:ext cx="365760" cy="365760"/>
          </a:xfrm>
          <a:prstGeom prst="rect">
            <a:avLst/>
          </a:prstGeom>
        </p:spPr>
      </p:pic>
      <p:sp>
        <p:nvSpPr>
          <p:cNvPr id="50" name="texto-49"/>
          <p:cNvSpPr txBox="1"/>
          <p:nvPr/>
        </p:nvSpPr>
        <p:spPr>
          <a:xfrm>
            <a:off x="1828800" y="4983480"/>
            <a:ext cx="7680960" cy="457200"/>
          </a:xfrm>
          <a:prstGeom prst="rect">
            <a:avLst/>
          </a:prstGeom>
          <a:noFill/>
          <a:ln/>
        </p:spPr>
        <p:txBody>
          <a:bodyPr wrap="square" lIns="0" tIns="0" rIns="0" bIns="0" rtlCol="0" anchor="ctr"/>
          <a:lstStyle/>
          <a:p>
            <a:pPr indent="0" marL="0">
              <a:buNone/>
            </a:pPr>
            <a:r>
              <a:rPr lang="en-US" sz="2200" b="1" dirty="0">
                <a:solidFill>
                  <a:schemeClr val="bg1"/>
                </a:solidFill>
                <a:latin typeface="Arial" pitchFamily="34" charset="0"/>
                <a:ea typeface="Arial" pitchFamily="34" charset="-122"/>
                <a:cs typeface="Arial" pitchFamily="34" charset="-120"/>
              </a:rPr>
              <a:t>¿Se parece a cómo trabajáis?</a:t>
            </a:r>
            <a:endParaRPr lang="en-US" sz="2200" dirty="0"/>
          </a:p>
        </p:txBody>
      </p:sp>
      <p:sp>
        <p:nvSpPr>
          <p:cNvPr id="51" name="texto-50"/>
          <p:cNvSpPr txBox="1"/>
          <p:nvPr/>
        </p:nvSpPr>
        <p:spPr>
          <a:xfrm>
            <a:off x="1828800" y="5440680"/>
            <a:ext cx="7680960" cy="365760"/>
          </a:xfrm>
          <a:prstGeom prst="rect">
            <a:avLst/>
          </a:prstGeom>
          <a:noFill/>
          <a:ln/>
        </p:spPr>
        <p:txBody>
          <a:bodyPr wrap="square" lIns="0" tIns="0" rIns="0" bIns="0" rtlCol="0" anchor="ctr"/>
          <a:lstStyle/>
          <a:p>
            <a:pPr indent="0" marL="0">
              <a:buNone/>
            </a:pPr>
            <a:r>
              <a:rPr lang="en-US" sz="1500" dirty="0">
                <a:solidFill>
                  <a:srgbClr val="C9CDD8"/>
                </a:solidFill>
              </a:rPr>
              <a:t>¿Qué hacéis de otra manera? Cada club trabaja distinto y queremos entender el vuestro.</a:t>
            </a:r>
            <a:endParaRPr lang="en-US" sz="1500" dirty="0"/>
          </a:p>
        </p:txBody>
      </p:sp>
      <p:sp>
        <p:nvSpPr>
          <p:cNvPr id="52" name="etiqueta-fondo-51"/>
          <p:cNvSpPr/>
          <p:nvPr/>
        </p:nvSpPr>
        <p:spPr>
          <a:xfrm>
            <a:off x="9402775" y="5257800"/>
            <a:ext cx="1965960" cy="274320"/>
          </a:xfrm>
          <a:prstGeom prst="roundRect">
            <a:avLst>
              <a:gd name="adj" fmla="val 50000"/>
            </a:avLst>
          </a:prstGeom>
          <a:solidFill>
            <a:schemeClr val="accent5">
              <a:alpha val="30000"/>
            </a:schemeClr>
          </a:solidFill>
          <a:ln/>
        </p:spPr>
      </p:sp>
      <p:sp>
        <p:nvSpPr>
          <p:cNvPr id="53" name="etiqueta-52"/>
          <p:cNvSpPr txBox="1"/>
          <p:nvPr/>
        </p:nvSpPr>
        <p:spPr>
          <a:xfrm>
            <a:off x="9402775" y="5257800"/>
            <a:ext cx="1965960" cy="274320"/>
          </a:xfrm>
          <a:prstGeom prst="rect">
            <a:avLst/>
          </a:prstGeom>
          <a:noFill/>
          <a:ln/>
        </p:spPr>
        <p:txBody>
          <a:bodyPr wrap="square" lIns="0" tIns="0" rIns="0" bIns="0" rtlCol="0" anchor="ctr"/>
          <a:lstStyle/>
          <a:p>
            <a:pPr algn="ctr" indent="0" marL="0">
              <a:buNone/>
            </a:pPr>
            <a:r>
              <a:rPr lang="en-US" sz="1100" b="1" dirty="0">
                <a:solidFill>
                  <a:schemeClr val="bg1"/>
                </a:solidFill>
              </a:rPr>
              <a:t>Hipótesis a contrastar</a:t>
            </a:r>
            <a:endParaRPr lang="en-US" sz="1100" dirty="0"/>
          </a:p>
        </p:txBody>
      </p:sp>
      <p:sp>
        <p:nvSpPr>
          <p:cNvPr id="25" name="Slide Number Placeholder 0"/>
          <p:cNvSpPr>
            <a:spLocks noGrp="1"/>
          </p:cNvSpPr>
          <p:nvPr>
            <p:ph type="sldNum" sz="quarter" idx="4294967295"/>
          </p:nvPr>
        </p:nvSpPr>
        <p:spPr>
          <a:xfrm>
            <a:off x="11185855" y="6382512"/>
            <a:ext cx="457200" cy="237744"/>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686800" cy="274320"/>
          </a:xfrm>
          <a:prstGeom prst="rect">
            <a:avLst/>
          </a:prstGeom>
          <a:noFill/>
          <a:ln/>
        </p:spPr>
        <p:txBody>
          <a:bodyPr wrap="square" lIns="0" tIns="0" rIns="0" bIns="0" rtlCol="0" anchor="ctr"/>
          <a:lstStyle/>
          <a:p>
            <a:pPr indent="0" marL="0">
              <a:buNone/>
            </a:pPr>
            <a:r>
              <a:rPr lang="en-US" sz="1200" b="1" spc="150" kern="0" dirty="0">
                <a:solidFill>
                  <a:schemeClr val="accent2"/>
                </a:solidFill>
              </a:rPr>
              <a:t>LO QUE CREEMOS QUE PASA · POR VALIDAR</a:t>
            </a:r>
            <a:endParaRPr lang="en-US" sz="1200" dirty="0"/>
          </a:p>
        </p:txBody>
      </p:sp>
      <p:sp>
        <p:nvSpPr>
          <p:cNvPr id="3" name="Text 0"/>
          <p:cNvSpPr/>
          <p:nvPr>
            <p:ph idx="101" type="title" hasCustomPrompt="1"/>
          </p:nvPr>
        </p:nvSpPr>
        <p:spPr>
          <a:xfrm>
            <a:off x="548640" y="640080"/>
            <a:ext cx="11094415" cy="685800"/>
          </a:xfrm>
          <a:prstGeom prst="rect">
            <a:avLst/>
          </a:prstGeom>
          <a:noFill/>
          <a:ln/>
        </p:spPr>
        <p:txBody>
          <a:bodyPr wrap="square" lIns="0" tIns="0" rIns="0" bIns="0" rtlCol="0" anchor="t"/>
          <a:lstStyle/>
          <a:p>
            <a:pPr algn="l" indent="0" marL="0">
              <a:buNone/>
            </a:pPr>
            <a:r>
              <a:rPr lang="en-US" sz="3200" b="1" dirty="0">
                <a:solidFill>
                  <a:schemeClr val="tx1"/>
                </a:solidFill>
              </a:rPr>
              <a:t>La captación se apoya en información dispersa</a:t>
            </a:r>
            <a:endParaRPr lang="en-US" sz="3200" dirty="0"/>
          </a:p>
        </p:txBody>
      </p:sp>
      <p:sp>
        <p:nvSpPr>
          <p:cNvPr id="4" name="tarjeta-53"/>
          <p:cNvSpPr/>
          <p:nvPr/>
        </p:nvSpPr>
        <p:spPr>
          <a:xfrm>
            <a:off x="548640" y="1600200"/>
            <a:ext cx="3520440" cy="2103120"/>
          </a:xfrm>
          <a:prstGeom prst="roundRect">
            <a:avLst>
              <a:gd name="adj" fmla="val 6087"/>
            </a:avLst>
          </a:prstGeom>
          <a:solidFill>
            <a:schemeClr val="bg1"/>
          </a:solidFill>
          <a:ln w="9525">
            <a:solidFill>
              <a:srgbClr val="E3E3DD"/>
            </a:solidFill>
            <a:prstDash val="solid"/>
          </a:ln>
          <a:effectLst>
            <a:outerShdw sx="100000" sy="100000" kx="0" ky="0" algn="bl" rotWithShape="0" blurRad="177800" dist="38100" dir="5400000">
              <a:srgbClr val="0E1116">
                <a:alpha val="13000"/>
              </a:srgbClr>
            </a:outerShdw>
          </a:effectLst>
        </p:spPr>
      </p:sp>
      <p:sp>
        <p:nvSpPr>
          <p:cNvPr id="5" name="icono-fondo-54"/>
          <p:cNvSpPr/>
          <p:nvPr/>
        </p:nvSpPr>
        <p:spPr>
          <a:xfrm>
            <a:off x="822960" y="1874520"/>
            <a:ext cx="640080" cy="640080"/>
          </a:xfrm>
          <a:prstGeom prst="ellipse">
            <a:avLst/>
          </a:prstGeom>
          <a:solidFill>
            <a:schemeClr val="accent1">
              <a:alpha val="15000"/>
            </a:schemeClr>
          </a:solidFill>
          <a:ln/>
        </p:spPr>
      </p:sp>
      <p:pic>
        <p:nvPicPr>
          <p:cNvPr id="6" name="icono-scatter-55" descr="/tmp/claude-0/-home-user-Scoutup/a47adca6-2afe-5531-9b19-f69196bacfbf/scratchpad/deck/img/i_scatter.png">    </p:cNvPr>
          <p:cNvPicPr>
            <a:picLocks noChangeAspect="1"/>
          </p:cNvPicPr>
          <p:nvPr/>
        </p:nvPicPr>
        <p:blipFill>
          <a:blip r:embed="rId1"/>
          <a:stretch>
            <a:fillRect/>
          </a:stretch>
        </p:blipFill>
        <p:spPr>
          <a:xfrm>
            <a:off x="982980" y="2034540"/>
            <a:ext cx="320040" cy="320040"/>
          </a:xfrm>
          <a:prstGeom prst="rect">
            <a:avLst/>
          </a:prstGeom>
        </p:spPr>
      </p:pic>
      <p:sp>
        <p:nvSpPr>
          <p:cNvPr id="7" name="etiqueta-fondo-56"/>
          <p:cNvSpPr/>
          <p:nvPr/>
        </p:nvSpPr>
        <p:spPr>
          <a:xfrm>
            <a:off x="2880360" y="1984248"/>
            <a:ext cx="914400" cy="274320"/>
          </a:xfrm>
          <a:prstGeom prst="roundRect">
            <a:avLst>
              <a:gd name="adj" fmla="val 50000"/>
            </a:avLst>
          </a:prstGeom>
          <a:solidFill>
            <a:schemeClr val="accent5">
              <a:alpha val="14000"/>
            </a:schemeClr>
          </a:solidFill>
          <a:ln/>
        </p:spPr>
      </p:sp>
      <p:sp>
        <p:nvSpPr>
          <p:cNvPr id="8" name="etiqueta-57"/>
          <p:cNvSpPr txBox="1"/>
          <p:nvPr/>
        </p:nvSpPr>
        <p:spPr>
          <a:xfrm>
            <a:off x="2880360" y="1984248"/>
            <a:ext cx="914400" cy="274320"/>
          </a:xfrm>
          <a:prstGeom prst="rect">
            <a:avLst/>
          </a:prstGeom>
          <a:noFill/>
          <a:ln/>
        </p:spPr>
        <p:txBody>
          <a:bodyPr wrap="square" lIns="0" tIns="0" rIns="0" bIns="0" rtlCol="0" anchor="ctr"/>
          <a:lstStyle/>
          <a:p>
            <a:pPr algn="ctr" indent="0" marL="0">
              <a:buNone/>
            </a:pPr>
            <a:r>
              <a:rPr lang="en-US" sz="1100" b="1" dirty="0">
                <a:solidFill>
                  <a:schemeClr val="accent5"/>
                </a:solidFill>
              </a:rPr>
              <a:t>¿Os pasa?</a:t>
            </a:r>
            <a:endParaRPr lang="en-US" sz="1100" dirty="0"/>
          </a:p>
        </p:txBody>
      </p:sp>
      <p:sp>
        <p:nvSpPr>
          <p:cNvPr id="9" name="texto-58"/>
          <p:cNvSpPr txBox="1"/>
          <p:nvPr/>
        </p:nvSpPr>
        <p:spPr>
          <a:xfrm>
            <a:off x="822960" y="2651760"/>
            <a:ext cx="2971800" cy="365760"/>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Información dispersa</a:t>
            </a:r>
            <a:endParaRPr lang="en-US" sz="1800" dirty="0"/>
          </a:p>
        </p:txBody>
      </p:sp>
      <p:sp>
        <p:nvSpPr>
          <p:cNvPr id="10" name="texto-59"/>
          <p:cNvSpPr txBox="1"/>
          <p:nvPr/>
        </p:nvSpPr>
        <p:spPr>
          <a:xfrm>
            <a:off x="822960" y="3017520"/>
            <a:ext cx="2971800" cy="594360"/>
          </a:xfrm>
          <a:prstGeom prst="rect">
            <a:avLst/>
          </a:prstGeom>
          <a:noFill/>
          <a:ln/>
        </p:spPr>
        <p:txBody>
          <a:bodyPr wrap="square" lIns="0" tIns="0" rIns="0" bIns="0" rtlCol="0" anchor="t"/>
          <a:lstStyle/>
          <a:p>
            <a:pPr indent="0" marL="0">
              <a:buNone/>
            </a:pPr>
            <a:r>
              <a:rPr lang="en-US" sz="1400" dirty="0">
                <a:solidFill>
                  <a:schemeClr val="accent6"/>
                </a:solidFill>
              </a:rPr>
              <a:t>Vídeos, mensajes, contactos y documentos, cada uno en un sitio.</a:t>
            </a:r>
            <a:endParaRPr lang="en-US" sz="1400" dirty="0"/>
          </a:p>
        </p:txBody>
      </p:sp>
      <p:sp>
        <p:nvSpPr>
          <p:cNvPr id="11" name="tarjeta-60"/>
          <p:cNvSpPr/>
          <p:nvPr/>
        </p:nvSpPr>
        <p:spPr>
          <a:xfrm>
            <a:off x="4343400" y="1600200"/>
            <a:ext cx="3520440" cy="2103120"/>
          </a:xfrm>
          <a:prstGeom prst="roundRect">
            <a:avLst>
              <a:gd name="adj" fmla="val 6087"/>
            </a:avLst>
          </a:prstGeom>
          <a:solidFill>
            <a:schemeClr val="bg1"/>
          </a:solidFill>
          <a:ln w="9525">
            <a:solidFill>
              <a:srgbClr val="E3E3DD"/>
            </a:solidFill>
            <a:prstDash val="solid"/>
          </a:ln>
          <a:effectLst>
            <a:outerShdw sx="100000" sy="100000" kx="0" ky="0" algn="bl" rotWithShape="0" blurRad="177800" dist="38100" dir="5400000">
              <a:srgbClr val="0E1116">
                <a:alpha val="13000"/>
              </a:srgbClr>
            </a:outerShdw>
          </a:effectLst>
        </p:spPr>
      </p:sp>
      <p:sp>
        <p:nvSpPr>
          <p:cNvPr id="12" name="icono-fondo-61"/>
          <p:cNvSpPr/>
          <p:nvPr/>
        </p:nvSpPr>
        <p:spPr>
          <a:xfrm>
            <a:off x="4617720" y="1874520"/>
            <a:ext cx="640080" cy="640080"/>
          </a:xfrm>
          <a:prstGeom prst="ellipse">
            <a:avLst/>
          </a:prstGeom>
          <a:solidFill>
            <a:schemeClr val="accent1">
              <a:alpha val="15000"/>
            </a:schemeClr>
          </a:solidFill>
          <a:ln/>
        </p:spPr>
      </p:sp>
      <p:pic>
        <p:nvPicPr>
          <p:cNvPr id="13" name="icono-discover-62" descr="/tmp/claude-0/-home-user-Scoutup/a47adca6-2afe-5531-9b19-f69196bacfbf/scratchpad/deck/img/i_discover.png">    </p:cNvPr>
          <p:cNvPicPr>
            <a:picLocks noChangeAspect="1"/>
          </p:cNvPicPr>
          <p:nvPr/>
        </p:nvPicPr>
        <p:blipFill>
          <a:blip r:embed="rId2"/>
          <a:stretch>
            <a:fillRect/>
          </a:stretch>
        </p:blipFill>
        <p:spPr>
          <a:xfrm>
            <a:off x="4777740" y="2034540"/>
            <a:ext cx="320040" cy="320040"/>
          </a:xfrm>
          <a:prstGeom prst="rect">
            <a:avLst/>
          </a:prstGeom>
        </p:spPr>
      </p:pic>
      <p:sp>
        <p:nvSpPr>
          <p:cNvPr id="14" name="etiqueta-fondo-63"/>
          <p:cNvSpPr/>
          <p:nvPr/>
        </p:nvSpPr>
        <p:spPr>
          <a:xfrm>
            <a:off x="6675120" y="1984248"/>
            <a:ext cx="914400" cy="274320"/>
          </a:xfrm>
          <a:prstGeom prst="roundRect">
            <a:avLst>
              <a:gd name="adj" fmla="val 50000"/>
            </a:avLst>
          </a:prstGeom>
          <a:solidFill>
            <a:schemeClr val="accent5">
              <a:alpha val="14000"/>
            </a:schemeClr>
          </a:solidFill>
          <a:ln/>
        </p:spPr>
      </p:sp>
      <p:sp>
        <p:nvSpPr>
          <p:cNvPr id="15" name="etiqueta-64"/>
          <p:cNvSpPr txBox="1"/>
          <p:nvPr/>
        </p:nvSpPr>
        <p:spPr>
          <a:xfrm>
            <a:off x="6675120" y="1984248"/>
            <a:ext cx="914400" cy="274320"/>
          </a:xfrm>
          <a:prstGeom prst="rect">
            <a:avLst/>
          </a:prstGeom>
          <a:noFill/>
          <a:ln/>
        </p:spPr>
        <p:txBody>
          <a:bodyPr wrap="square" lIns="0" tIns="0" rIns="0" bIns="0" rtlCol="0" anchor="ctr"/>
          <a:lstStyle/>
          <a:p>
            <a:pPr algn="ctr" indent="0" marL="0">
              <a:buNone/>
            </a:pPr>
            <a:r>
              <a:rPr lang="en-US" sz="1100" b="1" dirty="0">
                <a:solidFill>
                  <a:schemeClr val="accent5"/>
                </a:solidFill>
              </a:rPr>
              <a:t>¿Os pasa?</a:t>
            </a:r>
            <a:endParaRPr lang="en-US" sz="1100" dirty="0"/>
          </a:p>
        </p:txBody>
      </p:sp>
      <p:sp>
        <p:nvSpPr>
          <p:cNvPr id="16" name="texto-65"/>
          <p:cNvSpPr txBox="1"/>
          <p:nvPr/>
        </p:nvSpPr>
        <p:spPr>
          <a:xfrm>
            <a:off x="4617720" y="2651760"/>
            <a:ext cx="2971800" cy="365760"/>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Descubrir fuera del círculo</a:t>
            </a:r>
            <a:endParaRPr lang="en-US" sz="1800" dirty="0"/>
          </a:p>
        </p:txBody>
      </p:sp>
      <p:sp>
        <p:nvSpPr>
          <p:cNvPr id="17" name="texto-66"/>
          <p:cNvSpPr txBox="1"/>
          <p:nvPr/>
        </p:nvSpPr>
        <p:spPr>
          <a:xfrm>
            <a:off x="4617720" y="3017520"/>
            <a:ext cx="2971800" cy="594360"/>
          </a:xfrm>
          <a:prstGeom prst="rect">
            <a:avLst/>
          </a:prstGeom>
          <a:noFill/>
          <a:ln/>
        </p:spPr>
        <p:txBody>
          <a:bodyPr wrap="square" lIns="0" tIns="0" rIns="0" bIns="0" rtlCol="0" anchor="t"/>
          <a:lstStyle/>
          <a:p>
            <a:pPr indent="0" marL="0">
              <a:buNone/>
            </a:pPr>
            <a:r>
              <a:rPr lang="en-US" sz="1400" dirty="0">
                <a:solidFill>
                  <a:schemeClr val="accent6"/>
                </a:solidFill>
              </a:rPr>
              <a:t>Si no llegan por recomendación, cuesta encontrarlos.</a:t>
            </a:r>
            <a:endParaRPr lang="en-US" sz="1400" dirty="0"/>
          </a:p>
        </p:txBody>
      </p:sp>
      <p:sp>
        <p:nvSpPr>
          <p:cNvPr id="18" name="tarjeta-67"/>
          <p:cNvSpPr/>
          <p:nvPr/>
        </p:nvSpPr>
        <p:spPr>
          <a:xfrm>
            <a:off x="548640" y="3977640"/>
            <a:ext cx="3520440" cy="2103120"/>
          </a:xfrm>
          <a:prstGeom prst="roundRect">
            <a:avLst>
              <a:gd name="adj" fmla="val 6087"/>
            </a:avLst>
          </a:prstGeom>
          <a:solidFill>
            <a:schemeClr val="bg1"/>
          </a:solidFill>
          <a:ln w="9525">
            <a:solidFill>
              <a:srgbClr val="E3E3DD"/>
            </a:solidFill>
            <a:prstDash val="solid"/>
          </a:ln>
          <a:effectLst>
            <a:outerShdw sx="100000" sy="100000" kx="0" ky="0" algn="bl" rotWithShape="0" blurRad="177800" dist="38100" dir="5400000">
              <a:srgbClr val="0E1116">
                <a:alpha val="13000"/>
              </a:srgbClr>
            </a:outerShdw>
          </a:effectLst>
        </p:spPr>
      </p:sp>
      <p:sp>
        <p:nvSpPr>
          <p:cNvPr id="19" name="icono-fondo-68"/>
          <p:cNvSpPr/>
          <p:nvPr/>
        </p:nvSpPr>
        <p:spPr>
          <a:xfrm>
            <a:off x="822960" y="4251960"/>
            <a:ext cx="640080" cy="640080"/>
          </a:xfrm>
          <a:prstGeom prst="ellipse">
            <a:avLst/>
          </a:prstGeom>
          <a:solidFill>
            <a:schemeClr val="accent1">
              <a:alpha val="15000"/>
            </a:schemeClr>
          </a:solidFill>
          <a:ln/>
        </p:spPr>
      </p:sp>
      <p:pic>
        <p:nvPicPr>
          <p:cNvPr id="20" name="icono-compare-69" descr="/tmp/claude-0/-home-user-Scoutup/a47adca6-2afe-5531-9b19-f69196bacfbf/scratchpad/deck/img/i_compare.png">    </p:cNvPr>
          <p:cNvPicPr>
            <a:picLocks noChangeAspect="1"/>
          </p:cNvPicPr>
          <p:nvPr/>
        </p:nvPicPr>
        <p:blipFill>
          <a:blip r:embed="rId3"/>
          <a:stretch>
            <a:fillRect/>
          </a:stretch>
        </p:blipFill>
        <p:spPr>
          <a:xfrm>
            <a:off x="982980" y="4411980"/>
            <a:ext cx="320040" cy="320040"/>
          </a:xfrm>
          <a:prstGeom prst="rect">
            <a:avLst/>
          </a:prstGeom>
        </p:spPr>
      </p:pic>
      <p:sp>
        <p:nvSpPr>
          <p:cNvPr id="21" name="etiqueta-fondo-70"/>
          <p:cNvSpPr/>
          <p:nvPr/>
        </p:nvSpPr>
        <p:spPr>
          <a:xfrm>
            <a:off x="2880360" y="4361688"/>
            <a:ext cx="914400" cy="274320"/>
          </a:xfrm>
          <a:prstGeom prst="roundRect">
            <a:avLst>
              <a:gd name="adj" fmla="val 50000"/>
            </a:avLst>
          </a:prstGeom>
          <a:solidFill>
            <a:schemeClr val="accent5">
              <a:alpha val="14000"/>
            </a:schemeClr>
          </a:solidFill>
          <a:ln/>
        </p:spPr>
      </p:sp>
      <p:sp>
        <p:nvSpPr>
          <p:cNvPr id="22" name="etiqueta-71"/>
          <p:cNvSpPr txBox="1"/>
          <p:nvPr/>
        </p:nvSpPr>
        <p:spPr>
          <a:xfrm>
            <a:off x="2880360" y="4361688"/>
            <a:ext cx="914400" cy="274320"/>
          </a:xfrm>
          <a:prstGeom prst="rect">
            <a:avLst/>
          </a:prstGeom>
          <a:noFill/>
          <a:ln/>
        </p:spPr>
        <p:txBody>
          <a:bodyPr wrap="square" lIns="0" tIns="0" rIns="0" bIns="0" rtlCol="0" anchor="ctr"/>
          <a:lstStyle/>
          <a:p>
            <a:pPr algn="ctr" indent="0" marL="0">
              <a:buNone/>
            </a:pPr>
            <a:r>
              <a:rPr lang="en-US" sz="1100" b="1" dirty="0">
                <a:solidFill>
                  <a:schemeClr val="accent5"/>
                </a:solidFill>
              </a:rPr>
              <a:t>¿Os pasa?</a:t>
            </a:r>
            <a:endParaRPr lang="en-US" sz="1100" dirty="0"/>
          </a:p>
        </p:txBody>
      </p:sp>
      <p:sp>
        <p:nvSpPr>
          <p:cNvPr id="23" name="texto-72"/>
          <p:cNvSpPr txBox="1"/>
          <p:nvPr/>
        </p:nvSpPr>
        <p:spPr>
          <a:xfrm>
            <a:off x="822960" y="5029200"/>
            <a:ext cx="2971800" cy="365760"/>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Comparar candidatos</a:t>
            </a:r>
            <a:endParaRPr lang="en-US" sz="1800" dirty="0"/>
          </a:p>
        </p:txBody>
      </p:sp>
      <p:sp>
        <p:nvSpPr>
          <p:cNvPr id="24" name="texto-73"/>
          <p:cNvSpPr txBox="1"/>
          <p:nvPr/>
        </p:nvSpPr>
        <p:spPr>
          <a:xfrm>
            <a:off x="822960" y="5394960"/>
            <a:ext cx="2971800" cy="594360"/>
          </a:xfrm>
          <a:prstGeom prst="rect">
            <a:avLst/>
          </a:prstGeom>
          <a:noFill/>
          <a:ln/>
        </p:spPr>
        <p:txBody>
          <a:bodyPr wrap="square" lIns="0" tIns="0" rIns="0" bIns="0" rtlCol="0" anchor="t"/>
          <a:lstStyle/>
          <a:p>
            <a:pPr indent="0" marL="0">
              <a:buNone/>
            </a:pPr>
            <a:r>
              <a:rPr lang="en-US" sz="1400" dirty="0">
                <a:solidFill>
                  <a:schemeClr val="accent6"/>
                </a:solidFill>
              </a:rPr>
              <a:t>Cada persona valora y apunta a su manera.</a:t>
            </a:r>
            <a:endParaRPr lang="en-US" sz="1400" dirty="0"/>
          </a:p>
        </p:txBody>
      </p:sp>
      <p:sp>
        <p:nvSpPr>
          <p:cNvPr id="25" name="tarjeta-74"/>
          <p:cNvSpPr/>
          <p:nvPr/>
        </p:nvSpPr>
        <p:spPr>
          <a:xfrm>
            <a:off x="4343400" y="3977640"/>
            <a:ext cx="3520440" cy="2103120"/>
          </a:xfrm>
          <a:prstGeom prst="roundRect">
            <a:avLst>
              <a:gd name="adj" fmla="val 6087"/>
            </a:avLst>
          </a:prstGeom>
          <a:solidFill>
            <a:schemeClr val="bg1"/>
          </a:solidFill>
          <a:ln w="9525">
            <a:solidFill>
              <a:srgbClr val="E3E3DD"/>
            </a:solidFill>
            <a:prstDash val="solid"/>
          </a:ln>
          <a:effectLst>
            <a:outerShdw sx="100000" sy="100000" kx="0" ky="0" algn="bl" rotWithShape="0" blurRad="177800" dist="38100" dir="5400000">
              <a:srgbClr val="0E1116">
                <a:alpha val="13000"/>
              </a:srgbClr>
            </a:outerShdw>
          </a:effectLst>
        </p:spPr>
      </p:sp>
      <p:sp>
        <p:nvSpPr>
          <p:cNvPr id="26" name="icono-fondo-75"/>
          <p:cNvSpPr/>
          <p:nvPr/>
        </p:nvSpPr>
        <p:spPr>
          <a:xfrm>
            <a:off x="4617720" y="4251960"/>
            <a:ext cx="640080" cy="640080"/>
          </a:xfrm>
          <a:prstGeom prst="ellipse">
            <a:avLst/>
          </a:prstGeom>
          <a:solidFill>
            <a:schemeClr val="accent1">
              <a:alpha val="15000"/>
            </a:schemeClr>
          </a:solidFill>
          <a:ln/>
        </p:spPr>
      </p:sp>
      <p:pic>
        <p:nvPicPr>
          <p:cNvPr id="27" name="icono-history-76" descr="/tmp/claude-0/-home-user-Scoutup/a47adca6-2afe-5531-9b19-f69196bacfbf/scratchpad/deck/img/i_history.png">    </p:cNvPr>
          <p:cNvPicPr>
            <a:picLocks noChangeAspect="1"/>
          </p:cNvPicPr>
          <p:nvPr/>
        </p:nvPicPr>
        <p:blipFill>
          <a:blip r:embed="rId4"/>
          <a:stretch>
            <a:fillRect/>
          </a:stretch>
        </p:blipFill>
        <p:spPr>
          <a:xfrm>
            <a:off x="4777740" y="4411980"/>
            <a:ext cx="320040" cy="320040"/>
          </a:xfrm>
          <a:prstGeom prst="rect">
            <a:avLst/>
          </a:prstGeom>
        </p:spPr>
      </p:pic>
      <p:sp>
        <p:nvSpPr>
          <p:cNvPr id="28" name="etiqueta-fondo-77"/>
          <p:cNvSpPr/>
          <p:nvPr/>
        </p:nvSpPr>
        <p:spPr>
          <a:xfrm>
            <a:off x="6675120" y="4361688"/>
            <a:ext cx="914400" cy="274320"/>
          </a:xfrm>
          <a:prstGeom prst="roundRect">
            <a:avLst>
              <a:gd name="adj" fmla="val 50000"/>
            </a:avLst>
          </a:prstGeom>
          <a:solidFill>
            <a:schemeClr val="accent5">
              <a:alpha val="14000"/>
            </a:schemeClr>
          </a:solidFill>
          <a:ln/>
        </p:spPr>
      </p:sp>
      <p:sp>
        <p:nvSpPr>
          <p:cNvPr id="29" name="etiqueta-78"/>
          <p:cNvSpPr txBox="1"/>
          <p:nvPr/>
        </p:nvSpPr>
        <p:spPr>
          <a:xfrm>
            <a:off x="6675120" y="4361688"/>
            <a:ext cx="914400" cy="274320"/>
          </a:xfrm>
          <a:prstGeom prst="rect">
            <a:avLst/>
          </a:prstGeom>
          <a:noFill/>
          <a:ln/>
        </p:spPr>
        <p:txBody>
          <a:bodyPr wrap="square" lIns="0" tIns="0" rIns="0" bIns="0" rtlCol="0" anchor="ctr"/>
          <a:lstStyle/>
          <a:p>
            <a:pPr algn="ctr" indent="0" marL="0">
              <a:buNone/>
            </a:pPr>
            <a:r>
              <a:rPr lang="en-US" sz="1100" b="1" dirty="0">
                <a:solidFill>
                  <a:schemeClr val="accent5"/>
                </a:solidFill>
              </a:rPr>
              <a:t>¿Os pasa?</a:t>
            </a:r>
            <a:endParaRPr lang="en-US" sz="1100" dirty="0"/>
          </a:p>
        </p:txBody>
      </p:sp>
      <p:sp>
        <p:nvSpPr>
          <p:cNvPr id="30" name="texto-79"/>
          <p:cNvSpPr txBox="1"/>
          <p:nvPr/>
        </p:nvSpPr>
        <p:spPr>
          <a:xfrm>
            <a:off x="4617720" y="5029200"/>
            <a:ext cx="2971800" cy="365760"/>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Continuidad</a:t>
            </a:r>
            <a:endParaRPr lang="en-US" sz="1800" dirty="0"/>
          </a:p>
        </p:txBody>
      </p:sp>
      <p:sp>
        <p:nvSpPr>
          <p:cNvPr id="31" name="texto-80"/>
          <p:cNvSpPr txBox="1"/>
          <p:nvPr/>
        </p:nvSpPr>
        <p:spPr>
          <a:xfrm>
            <a:off x="4617720" y="5394960"/>
            <a:ext cx="2971800" cy="594360"/>
          </a:xfrm>
          <a:prstGeom prst="rect">
            <a:avLst/>
          </a:prstGeom>
          <a:noFill/>
          <a:ln/>
        </p:spPr>
        <p:txBody>
          <a:bodyPr wrap="square" lIns="0" tIns="0" rIns="0" bIns="0" rtlCol="0" anchor="t"/>
          <a:lstStyle/>
          <a:p>
            <a:pPr indent="0" marL="0">
              <a:buNone/>
            </a:pPr>
            <a:r>
              <a:rPr lang="en-US" sz="1400" dirty="0">
                <a:solidFill>
                  <a:schemeClr val="accent6"/>
                </a:solidFill>
              </a:rPr>
              <a:t>Si cambia el responsable o acaba la temporada, el historial se pierde.</a:t>
            </a:r>
            <a:endParaRPr lang="en-US" sz="1400" dirty="0"/>
          </a:p>
        </p:txBody>
      </p:sp>
      <p:sp>
        <p:nvSpPr>
          <p:cNvPr id="32" name="tarjeta-81"/>
          <p:cNvSpPr/>
          <p:nvPr/>
        </p:nvSpPr>
        <p:spPr>
          <a:xfrm>
            <a:off x="8183880" y="1600200"/>
            <a:ext cx="3459175" cy="4480560"/>
          </a:xfrm>
          <a:prstGeom prst="roundRect">
            <a:avLst>
              <a:gd name="adj" fmla="val 3701"/>
            </a:avLst>
          </a:prstGeom>
          <a:solidFill>
            <a:schemeClr val="tx2"/>
          </a:solidFill>
          <a:ln/>
          <a:effectLst>
            <a:outerShdw sx="100000" sy="100000" kx="0" ky="0" algn="bl" rotWithShape="0" blurRad="177800" dist="38100" dir="5400000">
              <a:srgbClr val="0E1116">
                <a:alpha val="13000"/>
              </a:srgbClr>
            </a:outerShdw>
          </a:effectLst>
        </p:spPr>
      </p:sp>
      <p:sp>
        <p:nvSpPr>
          <p:cNvPr id="33" name="icono-fondo-82"/>
          <p:cNvSpPr/>
          <p:nvPr/>
        </p:nvSpPr>
        <p:spPr>
          <a:xfrm>
            <a:off x="8503920" y="1965960"/>
            <a:ext cx="731520" cy="731520"/>
          </a:xfrm>
          <a:prstGeom prst="ellipse">
            <a:avLst/>
          </a:prstGeom>
          <a:solidFill>
            <a:schemeClr val="accent1">
              <a:alpha val="20000"/>
            </a:schemeClr>
          </a:solidFill>
          <a:ln/>
        </p:spPr>
      </p:sp>
      <p:pic>
        <p:nvPicPr>
          <p:cNvPr id="34" name="icono-handshake-83" descr="/tmp/claude-0/-home-user-Scoutup/a47adca6-2afe-5531-9b19-f69196bacfbf/scratchpad/deck/img/i_handshake.png">    </p:cNvPr>
          <p:cNvPicPr>
            <a:picLocks noChangeAspect="1"/>
          </p:cNvPicPr>
          <p:nvPr/>
        </p:nvPicPr>
        <p:blipFill>
          <a:blip r:embed="rId5"/>
          <a:stretch>
            <a:fillRect/>
          </a:stretch>
        </p:blipFill>
        <p:spPr>
          <a:xfrm>
            <a:off x="8686800" y="2148840"/>
            <a:ext cx="365760" cy="365760"/>
          </a:xfrm>
          <a:prstGeom prst="rect">
            <a:avLst/>
          </a:prstGeom>
        </p:spPr>
      </p:pic>
      <p:sp>
        <p:nvSpPr>
          <p:cNvPr id="35" name="texto-84"/>
          <p:cNvSpPr txBox="1"/>
          <p:nvPr/>
        </p:nvSpPr>
        <p:spPr>
          <a:xfrm>
            <a:off x="8503920" y="2926080"/>
            <a:ext cx="2819095" cy="822960"/>
          </a:xfrm>
          <a:prstGeom prst="rect">
            <a:avLst/>
          </a:prstGeom>
          <a:noFill/>
          <a:ln/>
        </p:spPr>
        <p:txBody>
          <a:bodyPr wrap="square" lIns="0" tIns="0" rIns="0" bIns="0" rtlCol="0" anchor="t"/>
          <a:lstStyle/>
          <a:p>
            <a:pPr indent="0" marL="0">
              <a:buNone/>
            </a:pPr>
            <a:r>
              <a:rPr lang="en-US" sz="2200" b="1" dirty="0">
                <a:solidFill>
                  <a:schemeClr val="bg1"/>
                </a:solidFill>
                <a:latin typeface="Arial" pitchFamily="34" charset="0"/>
                <a:ea typeface="Arial" pitchFamily="34" charset="-122"/>
                <a:cs typeface="Arial" pitchFamily="34" charset="-120"/>
              </a:rPr>
              <a:t>Una ayuda, no un sustituto</a:t>
            </a:r>
            <a:endParaRPr lang="en-US" sz="2200" dirty="0"/>
          </a:p>
        </p:txBody>
      </p:sp>
      <p:sp>
        <p:nvSpPr>
          <p:cNvPr id="36" name="texto-85"/>
          <p:cNvSpPr txBox="1"/>
          <p:nvPr/>
        </p:nvSpPr>
        <p:spPr>
          <a:xfrm>
            <a:off x="8503920" y="3794760"/>
            <a:ext cx="2819095" cy="1097280"/>
          </a:xfrm>
          <a:prstGeom prst="rect">
            <a:avLst/>
          </a:prstGeom>
          <a:noFill/>
          <a:ln/>
        </p:spPr>
        <p:txBody>
          <a:bodyPr wrap="square" lIns="0" tIns="0" rIns="0" bIns="0" rtlCol="0" anchor="t"/>
          <a:lstStyle/>
          <a:p>
            <a:pPr indent="0" marL="0">
              <a:buNone/>
            </a:pPr>
            <a:r>
              <a:rPr lang="en-US" sz="1500" dirty="0">
                <a:solidFill>
                  <a:srgbClr val="C9CDD8"/>
                </a:solidFill>
              </a:rPr>
              <a:t>El criterio deportivo es del club. Queremos quitar trabajo de búsqueda y de orden, no decidir por nadie.</a:t>
            </a:r>
            <a:endParaRPr lang="en-US" sz="1500" dirty="0"/>
          </a:p>
        </p:txBody>
      </p:sp>
      <p:sp>
        <p:nvSpPr>
          <p:cNvPr id="37" name="texto-86"/>
          <p:cNvSpPr txBox="1"/>
          <p:nvPr/>
        </p:nvSpPr>
        <p:spPr>
          <a:xfrm>
            <a:off x="8503920" y="4983480"/>
            <a:ext cx="2819095" cy="822960"/>
          </a:xfrm>
          <a:prstGeom prst="rect">
            <a:avLst/>
          </a:prstGeom>
          <a:noFill/>
          <a:ln/>
        </p:spPr>
        <p:txBody>
          <a:bodyPr wrap="square" lIns="0" tIns="0" rIns="0" bIns="0" rtlCol="0" anchor="t"/>
          <a:lstStyle/>
          <a:p>
            <a:pPr indent="0" marL="0">
              <a:buNone/>
            </a:pPr>
            <a:r>
              <a:rPr lang="en-US" sz="1500" i="1" dirty="0">
                <a:solidFill>
                  <a:schemeClr val="accent1"/>
                </a:solidFill>
              </a:rPr>
              <a:t>Y si alguno de estos problemas no existe en vuestro club, también queremos saberlo.</a:t>
            </a:r>
            <a:endParaRPr lang="en-US" sz="1500" dirty="0"/>
          </a:p>
        </p:txBody>
      </p:sp>
      <p:sp>
        <p:nvSpPr>
          <p:cNvPr id="25" name="Slide Number Placeholder 0"/>
          <p:cNvSpPr>
            <a:spLocks noGrp="1"/>
          </p:cNvSpPr>
          <p:nvPr>
            <p:ph type="sldNum" sz="quarter" idx="4294967295"/>
          </p:nvPr>
        </p:nvSpPr>
        <p:spPr>
          <a:xfrm>
            <a:off x="11185855" y="6382512"/>
            <a:ext cx="457200" cy="237744"/>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686800" cy="274320"/>
          </a:xfrm>
          <a:prstGeom prst="rect">
            <a:avLst/>
          </a:prstGeom>
          <a:noFill/>
          <a:ln/>
        </p:spPr>
        <p:txBody>
          <a:bodyPr wrap="square" lIns="0" tIns="0" rIns="0" bIns="0" rtlCol="0" anchor="ctr"/>
          <a:lstStyle/>
          <a:p>
            <a:pPr indent="0" marL="0">
              <a:buNone/>
            </a:pPr>
            <a:r>
              <a:rPr lang="en-US" sz="1200" b="1" spc="150" kern="0" dirty="0">
                <a:solidFill>
                  <a:schemeClr val="accent2"/>
                </a:solidFill>
              </a:rPr>
              <a:t>LA PROPUESTA</a:t>
            </a:r>
            <a:endParaRPr lang="en-US" sz="1200" dirty="0"/>
          </a:p>
        </p:txBody>
      </p:sp>
      <p:sp>
        <p:nvSpPr>
          <p:cNvPr id="3" name="Text 0"/>
          <p:cNvSpPr/>
          <p:nvPr>
            <p:ph idx="101" type="title" hasCustomPrompt="1"/>
          </p:nvPr>
        </p:nvSpPr>
        <p:spPr>
          <a:xfrm>
            <a:off x="548640" y="640080"/>
            <a:ext cx="11094415" cy="685800"/>
          </a:xfrm>
          <a:prstGeom prst="rect">
            <a:avLst/>
          </a:prstGeom>
          <a:noFill/>
          <a:ln/>
        </p:spPr>
        <p:txBody>
          <a:bodyPr wrap="square" lIns="0" tIns="0" rIns="0" bIns="0" rtlCol="0" anchor="t"/>
          <a:lstStyle/>
          <a:p>
            <a:pPr algn="l" indent="0" marL="0">
              <a:buNone/>
            </a:pPr>
            <a:r>
              <a:rPr lang="en-US" sz="3200" b="1" dirty="0">
                <a:solidFill>
                  <a:schemeClr val="tx1"/>
                </a:solidFill>
              </a:rPr>
              <a:t>ScoutUp Club: un espacio para organizar la captación</a:t>
            </a:r>
            <a:endParaRPr lang="en-US" sz="3200" dirty="0"/>
          </a:p>
        </p:txBody>
      </p:sp>
      <p:sp>
        <p:nvSpPr>
          <p:cNvPr id="4" name="icono-fondo-87"/>
          <p:cNvSpPr/>
          <p:nvPr/>
        </p:nvSpPr>
        <p:spPr>
          <a:xfrm>
            <a:off x="548640" y="1645920"/>
            <a:ext cx="658368" cy="658368"/>
          </a:xfrm>
          <a:prstGeom prst="ellipse">
            <a:avLst/>
          </a:prstGeom>
          <a:solidFill>
            <a:schemeClr val="accent1">
              <a:alpha val="15000"/>
            </a:schemeClr>
          </a:solidFill>
          <a:ln/>
        </p:spPr>
      </p:sp>
      <p:pic>
        <p:nvPicPr>
          <p:cNvPr id="5" name="icono-search-88" descr="/tmp/claude-0/-home-user-Scoutup/a47adca6-2afe-5531-9b19-f69196bacfbf/scratchpad/deck/img/i_search.png">    </p:cNvPr>
          <p:cNvPicPr>
            <a:picLocks noChangeAspect="1"/>
          </p:cNvPicPr>
          <p:nvPr/>
        </p:nvPicPr>
        <p:blipFill>
          <a:blip r:embed="rId1"/>
          <a:stretch>
            <a:fillRect/>
          </a:stretch>
        </p:blipFill>
        <p:spPr>
          <a:xfrm>
            <a:off x="713232" y="1810512"/>
            <a:ext cx="329184" cy="329184"/>
          </a:xfrm>
          <a:prstGeom prst="rect">
            <a:avLst/>
          </a:prstGeom>
        </p:spPr>
      </p:pic>
      <p:sp>
        <p:nvSpPr>
          <p:cNvPr id="6" name="texto-89"/>
          <p:cNvSpPr txBox="1"/>
          <p:nvPr/>
        </p:nvSpPr>
        <p:spPr>
          <a:xfrm>
            <a:off x="1389888" y="1645920"/>
            <a:ext cx="2423160" cy="347472"/>
          </a:xfrm>
          <a:prstGeom prst="rect">
            <a:avLst/>
          </a:prstGeom>
          <a:noFill/>
          <a:ln/>
        </p:spPr>
        <p:txBody>
          <a:bodyPr wrap="square" lIns="0" tIns="0" rIns="0" bIns="0" rtlCol="0" anchor="t"/>
          <a:lstStyle/>
          <a:p>
            <a:pPr indent="0" marL="0">
              <a:buNone/>
            </a:pPr>
            <a:r>
              <a:rPr lang="en-US" sz="1700" b="1" dirty="0">
                <a:solidFill>
                  <a:schemeClr val="tx1"/>
                </a:solidFill>
                <a:latin typeface="Arial" pitchFamily="34" charset="0"/>
                <a:ea typeface="Arial" pitchFamily="34" charset="-122"/>
                <a:cs typeface="Arial" pitchFamily="34" charset="-120"/>
              </a:rPr>
              <a:t>Buscar jugadores</a:t>
            </a:r>
            <a:endParaRPr lang="en-US" sz="1700" dirty="0"/>
          </a:p>
        </p:txBody>
      </p:sp>
      <p:sp>
        <p:nvSpPr>
          <p:cNvPr id="7" name="texto-90"/>
          <p:cNvSpPr txBox="1"/>
          <p:nvPr/>
        </p:nvSpPr>
        <p:spPr>
          <a:xfrm>
            <a:off x="1389888" y="1993392"/>
            <a:ext cx="2423160" cy="320040"/>
          </a:xfrm>
          <a:prstGeom prst="rect">
            <a:avLst/>
          </a:prstGeom>
          <a:noFill/>
          <a:ln/>
        </p:spPr>
        <p:txBody>
          <a:bodyPr wrap="square" lIns="0" tIns="0" rIns="0" bIns="0" rtlCol="0" anchor="t"/>
          <a:lstStyle/>
          <a:p>
            <a:pPr indent="0" marL="0">
              <a:buNone/>
            </a:pPr>
            <a:r>
              <a:rPr lang="en-US" sz="1400" dirty="0">
                <a:solidFill>
                  <a:schemeClr val="accent6"/>
                </a:solidFill>
              </a:rPr>
              <a:t>Por nombre, posición o zona</a:t>
            </a:r>
            <a:endParaRPr lang="en-US" sz="1400" dirty="0"/>
          </a:p>
        </p:txBody>
      </p:sp>
      <p:sp>
        <p:nvSpPr>
          <p:cNvPr id="8" name="icono-fondo-91"/>
          <p:cNvSpPr/>
          <p:nvPr/>
        </p:nvSpPr>
        <p:spPr>
          <a:xfrm>
            <a:off x="548640" y="2633472"/>
            <a:ext cx="658368" cy="658368"/>
          </a:xfrm>
          <a:prstGeom prst="ellipse">
            <a:avLst/>
          </a:prstGeom>
          <a:solidFill>
            <a:schemeClr val="accent1">
              <a:alpha val="15000"/>
            </a:schemeClr>
          </a:solidFill>
          <a:ln/>
        </p:spPr>
      </p:sp>
      <p:pic>
        <p:nvPicPr>
          <p:cNvPr id="9" name="icono-filter-92" descr="/tmp/claude-0/-home-user-Scoutup/a47adca6-2afe-5531-9b19-f69196bacfbf/scratchpad/deck/img/i_filter.png">    </p:cNvPr>
          <p:cNvPicPr>
            <a:picLocks noChangeAspect="1"/>
          </p:cNvPicPr>
          <p:nvPr/>
        </p:nvPicPr>
        <p:blipFill>
          <a:blip r:embed="rId2"/>
          <a:stretch>
            <a:fillRect/>
          </a:stretch>
        </p:blipFill>
        <p:spPr>
          <a:xfrm>
            <a:off x="713232" y="2798064"/>
            <a:ext cx="329184" cy="329184"/>
          </a:xfrm>
          <a:prstGeom prst="rect">
            <a:avLst/>
          </a:prstGeom>
        </p:spPr>
      </p:pic>
      <p:sp>
        <p:nvSpPr>
          <p:cNvPr id="10" name="texto-93"/>
          <p:cNvSpPr txBox="1"/>
          <p:nvPr/>
        </p:nvSpPr>
        <p:spPr>
          <a:xfrm>
            <a:off x="1389888" y="2633472"/>
            <a:ext cx="2423160" cy="347472"/>
          </a:xfrm>
          <a:prstGeom prst="rect">
            <a:avLst/>
          </a:prstGeom>
          <a:noFill/>
          <a:ln/>
        </p:spPr>
        <p:txBody>
          <a:bodyPr wrap="square" lIns="0" tIns="0" rIns="0" bIns="0" rtlCol="0" anchor="t"/>
          <a:lstStyle/>
          <a:p>
            <a:pPr indent="0" marL="0">
              <a:buNone/>
            </a:pPr>
            <a:r>
              <a:rPr lang="en-US" sz="1700" b="1" dirty="0">
                <a:solidFill>
                  <a:schemeClr val="tx1"/>
                </a:solidFill>
                <a:latin typeface="Arial" pitchFamily="34" charset="0"/>
                <a:ea typeface="Arial" pitchFamily="34" charset="-122"/>
                <a:cs typeface="Arial" pitchFamily="34" charset="-120"/>
              </a:rPr>
              <a:t>Filtrar</a:t>
            </a:r>
            <a:endParaRPr lang="en-US" sz="1700" dirty="0"/>
          </a:p>
        </p:txBody>
      </p:sp>
      <p:sp>
        <p:nvSpPr>
          <p:cNvPr id="11" name="texto-94"/>
          <p:cNvSpPr txBox="1"/>
          <p:nvPr/>
        </p:nvSpPr>
        <p:spPr>
          <a:xfrm>
            <a:off x="1389888" y="2980944"/>
            <a:ext cx="2423160" cy="320040"/>
          </a:xfrm>
          <a:prstGeom prst="rect">
            <a:avLst/>
          </a:prstGeom>
          <a:noFill/>
          <a:ln/>
        </p:spPr>
        <p:txBody>
          <a:bodyPr wrap="square" lIns="0" tIns="0" rIns="0" bIns="0" rtlCol="0" anchor="t"/>
          <a:lstStyle/>
          <a:p>
            <a:pPr indent="0" marL="0">
              <a:buNone/>
            </a:pPr>
            <a:r>
              <a:rPr lang="en-US" sz="1400" dirty="0">
                <a:solidFill>
                  <a:schemeClr val="accent6"/>
                </a:solidFill>
              </a:rPr>
              <a:t>Edad, nivel, pie, disponibilidad…</a:t>
            </a:r>
            <a:endParaRPr lang="en-US" sz="1400" dirty="0"/>
          </a:p>
        </p:txBody>
      </p:sp>
      <p:sp>
        <p:nvSpPr>
          <p:cNvPr id="12" name="icono-fondo-95"/>
          <p:cNvSpPr/>
          <p:nvPr/>
        </p:nvSpPr>
        <p:spPr>
          <a:xfrm>
            <a:off x="548640" y="3621024"/>
            <a:ext cx="658368" cy="658368"/>
          </a:xfrm>
          <a:prstGeom prst="ellipse">
            <a:avLst/>
          </a:prstGeom>
          <a:solidFill>
            <a:schemeClr val="accent1">
              <a:alpha val="15000"/>
            </a:schemeClr>
          </a:solidFill>
          <a:ln/>
        </p:spPr>
      </p:sp>
      <p:pic>
        <p:nvPicPr>
          <p:cNvPr id="13" name="icono-match-96" descr="/tmp/claude-0/-home-user-Scoutup/a47adca6-2afe-5531-9b19-f69196bacfbf/scratchpad/deck/img/i_match.png">    </p:cNvPr>
          <p:cNvPicPr>
            <a:picLocks noChangeAspect="1"/>
          </p:cNvPicPr>
          <p:nvPr/>
        </p:nvPicPr>
        <p:blipFill>
          <a:blip r:embed="rId3"/>
          <a:stretch>
            <a:fillRect/>
          </a:stretch>
        </p:blipFill>
        <p:spPr>
          <a:xfrm>
            <a:off x="713232" y="3785616"/>
            <a:ext cx="329184" cy="329184"/>
          </a:xfrm>
          <a:prstGeom prst="rect">
            <a:avLst/>
          </a:prstGeom>
        </p:spPr>
      </p:pic>
      <p:sp>
        <p:nvSpPr>
          <p:cNvPr id="14" name="texto-97"/>
          <p:cNvSpPr txBox="1"/>
          <p:nvPr/>
        </p:nvSpPr>
        <p:spPr>
          <a:xfrm>
            <a:off x="1389888" y="3621024"/>
            <a:ext cx="2423160" cy="347472"/>
          </a:xfrm>
          <a:prstGeom prst="rect">
            <a:avLst/>
          </a:prstGeom>
          <a:noFill/>
          <a:ln/>
        </p:spPr>
        <p:txBody>
          <a:bodyPr wrap="square" lIns="0" tIns="0" rIns="0" bIns="0" rtlCol="0" anchor="t"/>
          <a:lstStyle/>
          <a:p>
            <a:pPr indent="0" marL="0">
              <a:buNone/>
            </a:pPr>
            <a:r>
              <a:rPr lang="en-US" sz="1700" b="1" dirty="0">
                <a:solidFill>
                  <a:schemeClr val="tx1"/>
                </a:solidFill>
                <a:latin typeface="Arial" pitchFamily="34" charset="0"/>
                <a:ea typeface="Arial" pitchFamily="34" charset="-122"/>
                <a:cs typeface="Arial" pitchFamily="34" charset="-120"/>
              </a:rPr>
              <a:t>Perfiles compatibles</a:t>
            </a:r>
            <a:endParaRPr lang="en-US" sz="1700" dirty="0"/>
          </a:p>
        </p:txBody>
      </p:sp>
      <p:sp>
        <p:nvSpPr>
          <p:cNvPr id="15" name="texto-98"/>
          <p:cNvSpPr txBox="1"/>
          <p:nvPr/>
        </p:nvSpPr>
        <p:spPr>
          <a:xfrm>
            <a:off x="1389888" y="3968496"/>
            <a:ext cx="2423160" cy="320040"/>
          </a:xfrm>
          <a:prstGeom prst="rect">
            <a:avLst/>
          </a:prstGeom>
          <a:noFill/>
          <a:ln/>
        </p:spPr>
        <p:txBody>
          <a:bodyPr wrap="square" lIns="0" tIns="0" rIns="0" bIns="0" rtlCol="0" anchor="t"/>
          <a:lstStyle/>
          <a:p>
            <a:pPr indent="0" marL="0">
              <a:buNone/>
            </a:pPr>
            <a:r>
              <a:rPr lang="en-US" sz="1400" dirty="0">
                <a:solidFill>
                  <a:schemeClr val="accent6"/>
                </a:solidFill>
              </a:rPr>
              <a:t>Ordenados según una necesidad</a:t>
            </a:r>
            <a:endParaRPr lang="en-US" sz="1400" dirty="0"/>
          </a:p>
        </p:txBody>
      </p:sp>
      <p:sp>
        <p:nvSpPr>
          <p:cNvPr id="16" name="icono-fondo-99"/>
          <p:cNvSpPr/>
          <p:nvPr/>
        </p:nvSpPr>
        <p:spPr>
          <a:xfrm>
            <a:off x="548640" y="4608576"/>
            <a:ext cx="658368" cy="658368"/>
          </a:xfrm>
          <a:prstGeom prst="ellipse">
            <a:avLst/>
          </a:prstGeom>
          <a:solidFill>
            <a:schemeClr val="accent1">
              <a:alpha val="15000"/>
            </a:schemeClr>
          </a:solidFill>
          <a:ln/>
        </p:spPr>
      </p:sp>
      <p:pic>
        <p:nvPicPr>
          <p:cNvPr id="17" name="icono-compare2-100" descr="/tmp/claude-0/-home-user-Scoutup/a47adca6-2afe-5531-9b19-f69196bacfbf/scratchpad/deck/img/i_compare2.png">    </p:cNvPr>
          <p:cNvPicPr>
            <a:picLocks noChangeAspect="1"/>
          </p:cNvPicPr>
          <p:nvPr/>
        </p:nvPicPr>
        <p:blipFill>
          <a:blip r:embed="rId4"/>
          <a:stretch>
            <a:fillRect/>
          </a:stretch>
        </p:blipFill>
        <p:spPr>
          <a:xfrm>
            <a:off x="713232" y="4773168"/>
            <a:ext cx="329184" cy="329184"/>
          </a:xfrm>
          <a:prstGeom prst="rect">
            <a:avLst/>
          </a:prstGeom>
        </p:spPr>
      </p:pic>
      <p:sp>
        <p:nvSpPr>
          <p:cNvPr id="18" name="texto-101"/>
          <p:cNvSpPr txBox="1"/>
          <p:nvPr/>
        </p:nvSpPr>
        <p:spPr>
          <a:xfrm>
            <a:off x="1389888" y="4608576"/>
            <a:ext cx="2423160" cy="347472"/>
          </a:xfrm>
          <a:prstGeom prst="rect">
            <a:avLst/>
          </a:prstGeom>
          <a:noFill/>
          <a:ln/>
        </p:spPr>
        <p:txBody>
          <a:bodyPr wrap="square" lIns="0" tIns="0" rIns="0" bIns="0" rtlCol="0" anchor="t"/>
          <a:lstStyle/>
          <a:p>
            <a:pPr indent="0" marL="0">
              <a:buNone/>
            </a:pPr>
            <a:r>
              <a:rPr lang="en-US" sz="1700" b="1" dirty="0">
                <a:solidFill>
                  <a:schemeClr val="tx1"/>
                </a:solidFill>
                <a:latin typeface="Arial" pitchFamily="34" charset="0"/>
                <a:ea typeface="Arial" pitchFamily="34" charset="-122"/>
                <a:cs typeface="Arial" pitchFamily="34" charset="-120"/>
              </a:rPr>
              <a:t>Comparar candidatos</a:t>
            </a:r>
            <a:endParaRPr lang="en-US" sz="1700" dirty="0"/>
          </a:p>
        </p:txBody>
      </p:sp>
      <p:sp>
        <p:nvSpPr>
          <p:cNvPr id="19" name="texto-102"/>
          <p:cNvSpPr txBox="1"/>
          <p:nvPr/>
        </p:nvSpPr>
        <p:spPr>
          <a:xfrm>
            <a:off x="1389888" y="4956048"/>
            <a:ext cx="2423160" cy="320040"/>
          </a:xfrm>
          <a:prstGeom prst="rect">
            <a:avLst/>
          </a:prstGeom>
          <a:noFill/>
          <a:ln/>
        </p:spPr>
        <p:txBody>
          <a:bodyPr wrap="square" lIns="0" tIns="0" rIns="0" bIns="0" rtlCol="0" anchor="t"/>
          <a:lstStyle/>
          <a:p>
            <a:pPr indent="0" marL="0">
              <a:buNone/>
            </a:pPr>
            <a:r>
              <a:rPr lang="en-US" sz="1400" dirty="0">
                <a:solidFill>
                  <a:schemeClr val="accent6"/>
                </a:solidFill>
              </a:rPr>
              <a:t>Cara a cara, mismos criterios</a:t>
            </a:r>
            <a:endParaRPr lang="en-US" sz="1400" dirty="0"/>
          </a:p>
        </p:txBody>
      </p:sp>
      <p:sp>
        <p:nvSpPr>
          <p:cNvPr id="20" name="icono-fondo-103"/>
          <p:cNvSpPr/>
          <p:nvPr/>
        </p:nvSpPr>
        <p:spPr>
          <a:xfrm>
            <a:off x="4114800" y="1645920"/>
            <a:ext cx="658368" cy="658368"/>
          </a:xfrm>
          <a:prstGeom prst="ellipse">
            <a:avLst/>
          </a:prstGeom>
          <a:solidFill>
            <a:schemeClr val="accent1">
              <a:alpha val="15000"/>
            </a:schemeClr>
          </a:solidFill>
          <a:ln/>
        </p:spPr>
      </p:sp>
      <p:pic>
        <p:nvPicPr>
          <p:cNvPr id="21" name="icono-bookmark-104" descr="/tmp/claude-0/-home-user-Scoutup/a47adca6-2afe-5531-9b19-f69196bacfbf/scratchpad/deck/img/i_bookmark.png">    </p:cNvPr>
          <p:cNvPicPr>
            <a:picLocks noChangeAspect="1"/>
          </p:cNvPicPr>
          <p:nvPr/>
        </p:nvPicPr>
        <p:blipFill>
          <a:blip r:embed="rId5"/>
          <a:stretch>
            <a:fillRect/>
          </a:stretch>
        </p:blipFill>
        <p:spPr>
          <a:xfrm>
            <a:off x="4279392" y="1810512"/>
            <a:ext cx="329184" cy="329184"/>
          </a:xfrm>
          <a:prstGeom prst="rect">
            <a:avLst/>
          </a:prstGeom>
        </p:spPr>
      </p:pic>
      <p:sp>
        <p:nvSpPr>
          <p:cNvPr id="22" name="texto-105"/>
          <p:cNvSpPr txBox="1"/>
          <p:nvPr/>
        </p:nvSpPr>
        <p:spPr>
          <a:xfrm>
            <a:off x="4956048" y="1645920"/>
            <a:ext cx="2423160" cy="347472"/>
          </a:xfrm>
          <a:prstGeom prst="rect">
            <a:avLst/>
          </a:prstGeom>
          <a:noFill/>
          <a:ln/>
        </p:spPr>
        <p:txBody>
          <a:bodyPr wrap="square" lIns="0" tIns="0" rIns="0" bIns="0" rtlCol="0" anchor="t"/>
          <a:lstStyle/>
          <a:p>
            <a:pPr indent="0" marL="0">
              <a:buNone/>
            </a:pPr>
            <a:r>
              <a:rPr lang="en-US" sz="1700" b="1" dirty="0">
                <a:solidFill>
                  <a:schemeClr val="tx1"/>
                </a:solidFill>
                <a:latin typeface="Arial" pitchFamily="34" charset="0"/>
                <a:ea typeface="Arial" pitchFamily="34" charset="-122"/>
                <a:cs typeface="Arial" pitchFamily="34" charset="-120"/>
              </a:rPr>
              <a:t>Guardar y seguir</a:t>
            </a:r>
            <a:endParaRPr lang="en-US" sz="1700" dirty="0"/>
          </a:p>
        </p:txBody>
      </p:sp>
      <p:sp>
        <p:nvSpPr>
          <p:cNvPr id="23" name="texto-106"/>
          <p:cNvSpPr txBox="1"/>
          <p:nvPr/>
        </p:nvSpPr>
        <p:spPr>
          <a:xfrm>
            <a:off x="4956048" y="1993392"/>
            <a:ext cx="2423160" cy="320040"/>
          </a:xfrm>
          <a:prstGeom prst="rect">
            <a:avLst/>
          </a:prstGeom>
          <a:noFill/>
          <a:ln/>
        </p:spPr>
        <p:txBody>
          <a:bodyPr wrap="square" lIns="0" tIns="0" rIns="0" bIns="0" rtlCol="0" anchor="t"/>
          <a:lstStyle/>
          <a:p>
            <a:pPr indent="0" marL="0">
              <a:buNone/>
            </a:pPr>
            <a:r>
              <a:rPr lang="en-US" sz="1400" dirty="0">
                <a:solidFill>
                  <a:schemeClr val="accent6"/>
                </a:solidFill>
              </a:rPr>
              <a:t>Pipeline de captación por etapas</a:t>
            </a:r>
            <a:endParaRPr lang="en-US" sz="1400" dirty="0"/>
          </a:p>
        </p:txBody>
      </p:sp>
      <p:sp>
        <p:nvSpPr>
          <p:cNvPr id="24" name="icono-fondo-107"/>
          <p:cNvSpPr/>
          <p:nvPr/>
        </p:nvSpPr>
        <p:spPr>
          <a:xfrm>
            <a:off x="4114800" y="2633472"/>
            <a:ext cx="658368" cy="658368"/>
          </a:xfrm>
          <a:prstGeom prst="ellipse">
            <a:avLst/>
          </a:prstGeom>
          <a:solidFill>
            <a:schemeClr val="accent1">
              <a:alpha val="15000"/>
            </a:schemeClr>
          </a:solidFill>
          <a:ln/>
        </p:spPr>
      </p:sp>
      <p:pic>
        <p:nvPicPr>
          <p:cNvPr id="25" name="icono-notes-108" descr="/tmp/claude-0/-home-user-Scoutup/a47adca6-2afe-5531-9b19-f69196bacfbf/scratchpad/deck/img/i_notes.png">    </p:cNvPr>
          <p:cNvPicPr>
            <a:picLocks noChangeAspect="1"/>
          </p:cNvPicPr>
          <p:nvPr/>
        </p:nvPicPr>
        <p:blipFill>
          <a:blip r:embed="rId6"/>
          <a:stretch>
            <a:fillRect/>
          </a:stretch>
        </p:blipFill>
        <p:spPr>
          <a:xfrm>
            <a:off x="4279392" y="2798064"/>
            <a:ext cx="329184" cy="329184"/>
          </a:xfrm>
          <a:prstGeom prst="rect">
            <a:avLst/>
          </a:prstGeom>
        </p:spPr>
      </p:pic>
      <p:sp>
        <p:nvSpPr>
          <p:cNvPr id="26" name="texto-109"/>
          <p:cNvSpPr txBox="1"/>
          <p:nvPr/>
        </p:nvSpPr>
        <p:spPr>
          <a:xfrm>
            <a:off x="4956048" y="2633472"/>
            <a:ext cx="2423160" cy="347472"/>
          </a:xfrm>
          <a:prstGeom prst="rect">
            <a:avLst/>
          </a:prstGeom>
          <a:noFill/>
          <a:ln/>
        </p:spPr>
        <p:txBody>
          <a:bodyPr wrap="square" lIns="0" tIns="0" rIns="0" bIns="0" rtlCol="0" anchor="t"/>
          <a:lstStyle/>
          <a:p>
            <a:pPr indent="0" marL="0">
              <a:buNone/>
            </a:pPr>
            <a:r>
              <a:rPr lang="en-US" sz="1700" b="1" dirty="0">
                <a:solidFill>
                  <a:schemeClr val="tx1"/>
                </a:solidFill>
                <a:latin typeface="Arial" pitchFamily="34" charset="0"/>
                <a:ea typeface="Arial" pitchFamily="34" charset="-122"/>
                <a:cs typeface="Arial" pitchFamily="34" charset="-120"/>
              </a:rPr>
              <a:t>Evaluar y contactar</a:t>
            </a:r>
            <a:endParaRPr lang="en-US" sz="1700" dirty="0"/>
          </a:p>
        </p:txBody>
      </p:sp>
      <p:sp>
        <p:nvSpPr>
          <p:cNvPr id="27" name="texto-110"/>
          <p:cNvSpPr txBox="1"/>
          <p:nvPr/>
        </p:nvSpPr>
        <p:spPr>
          <a:xfrm>
            <a:off x="4956048" y="2980944"/>
            <a:ext cx="2423160" cy="320040"/>
          </a:xfrm>
          <a:prstGeom prst="rect">
            <a:avLst/>
          </a:prstGeom>
          <a:noFill/>
          <a:ln/>
        </p:spPr>
        <p:txBody>
          <a:bodyPr wrap="square" lIns="0" tIns="0" rIns="0" bIns="0" rtlCol="0" anchor="t"/>
          <a:lstStyle/>
          <a:p>
            <a:pPr indent="0" marL="0">
              <a:buNone/>
            </a:pPr>
            <a:r>
              <a:rPr lang="en-US" sz="1400" dirty="0">
                <a:solidFill>
                  <a:schemeClr val="accent6"/>
                </a:solidFill>
              </a:rPr>
              <a:t>Notas privadas y contacto seguro</a:t>
            </a:r>
            <a:endParaRPr lang="en-US" sz="1400" dirty="0"/>
          </a:p>
        </p:txBody>
      </p:sp>
      <p:sp>
        <p:nvSpPr>
          <p:cNvPr id="28" name="icono-fondo-111"/>
          <p:cNvSpPr/>
          <p:nvPr/>
        </p:nvSpPr>
        <p:spPr>
          <a:xfrm>
            <a:off x="4114800" y="3621024"/>
            <a:ext cx="658368" cy="658368"/>
          </a:xfrm>
          <a:prstGeom prst="ellipse">
            <a:avLst/>
          </a:prstGeom>
          <a:solidFill>
            <a:schemeClr val="accent1">
              <a:alpha val="15000"/>
            </a:schemeClr>
          </a:solidFill>
          <a:ln/>
        </p:spPr>
      </p:sp>
      <p:pic>
        <p:nvPicPr>
          <p:cNvPr id="29" name="icono-megaphone-112" descr="/tmp/claude-0/-home-user-Scoutup/a47adca6-2afe-5531-9b19-f69196bacfbf/scratchpad/deck/img/i_megaphone.png">    </p:cNvPr>
          <p:cNvPicPr>
            <a:picLocks noChangeAspect="1"/>
          </p:cNvPicPr>
          <p:nvPr/>
        </p:nvPicPr>
        <p:blipFill>
          <a:blip r:embed="rId7"/>
          <a:stretch>
            <a:fillRect/>
          </a:stretch>
        </p:blipFill>
        <p:spPr>
          <a:xfrm>
            <a:off x="4279392" y="3785616"/>
            <a:ext cx="329184" cy="329184"/>
          </a:xfrm>
          <a:prstGeom prst="rect">
            <a:avLst/>
          </a:prstGeom>
        </p:spPr>
      </p:pic>
      <p:sp>
        <p:nvSpPr>
          <p:cNvPr id="30" name="texto-113"/>
          <p:cNvSpPr txBox="1"/>
          <p:nvPr/>
        </p:nvSpPr>
        <p:spPr>
          <a:xfrm>
            <a:off x="4956048" y="3621024"/>
            <a:ext cx="2423160" cy="347472"/>
          </a:xfrm>
          <a:prstGeom prst="rect">
            <a:avLst/>
          </a:prstGeom>
          <a:noFill/>
          <a:ln/>
        </p:spPr>
        <p:txBody>
          <a:bodyPr wrap="square" lIns="0" tIns="0" rIns="0" bIns="0" rtlCol="0" anchor="t"/>
          <a:lstStyle/>
          <a:p>
            <a:pPr indent="0" marL="0">
              <a:buNone/>
            </a:pPr>
            <a:r>
              <a:rPr lang="en-US" sz="1700" b="1" dirty="0">
                <a:solidFill>
                  <a:schemeClr val="tx1"/>
                </a:solidFill>
                <a:latin typeface="Arial" pitchFamily="34" charset="0"/>
                <a:ea typeface="Arial" pitchFamily="34" charset="-122"/>
                <a:cs typeface="Arial" pitchFamily="34" charset="-120"/>
              </a:rPr>
              <a:t>Publicar oportunidades</a:t>
            </a:r>
            <a:endParaRPr lang="en-US" sz="1700" dirty="0"/>
          </a:p>
        </p:txBody>
      </p:sp>
      <p:sp>
        <p:nvSpPr>
          <p:cNvPr id="31" name="texto-114"/>
          <p:cNvSpPr txBox="1"/>
          <p:nvPr/>
        </p:nvSpPr>
        <p:spPr>
          <a:xfrm>
            <a:off x="4956048" y="3968496"/>
            <a:ext cx="2423160" cy="320040"/>
          </a:xfrm>
          <a:prstGeom prst="rect">
            <a:avLst/>
          </a:prstGeom>
          <a:noFill/>
          <a:ln/>
        </p:spPr>
        <p:txBody>
          <a:bodyPr wrap="square" lIns="0" tIns="0" rIns="0" bIns="0" rtlCol="0" anchor="t"/>
          <a:lstStyle/>
          <a:p>
            <a:pPr indent="0" marL="0">
              <a:buNone/>
            </a:pPr>
            <a:r>
              <a:rPr lang="en-US" sz="1400" dirty="0">
                <a:solidFill>
                  <a:schemeClr val="accent6"/>
                </a:solidFill>
              </a:rPr>
              <a:t>Atraer candidaturas de jugadores</a:t>
            </a:r>
            <a:endParaRPr lang="en-US" sz="1400" dirty="0"/>
          </a:p>
        </p:txBody>
      </p:sp>
      <p:sp>
        <p:nvSpPr>
          <p:cNvPr id="32" name="etiqueta-fondo-115"/>
          <p:cNvSpPr/>
          <p:nvPr/>
        </p:nvSpPr>
        <p:spPr>
          <a:xfrm>
            <a:off x="4114800" y="4745736"/>
            <a:ext cx="1906524" cy="274320"/>
          </a:xfrm>
          <a:prstGeom prst="roundRect">
            <a:avLst>
              <a:gd name="adj" fmla="val 50000"/>
            </a:avLst>
          </a:prstGeom>
          <a:solidFill>
            <a:schemeClr val="accent1">
              <a:alpha val="14000"/>
            </a:schemeClr>
          </a:solidFill>
          <a:ln/>
        </p:spPr>
      </p:sp>
      <p:sp>
        <p:nvSpPr>
          <p:cNvPr id="33" name="etiqueta-116"/>
          <p:cNvSpPr txBox="1"/>
          <p:nvPr/>
        </p:nvSpPr>
        <p:spPr>
          <a:xfrm>
            <a:off x="4114800" y="4745736"/>
            <a:ext cx="1906524" cy="274320"/>
          </a:xfrm>
          <a:prstGeom prst="rect">
            <a:avLst/>
          </a:prstGeom>
          <a:noFill/>
          <a:ln/>
        </p:spPr>
        <p:txBody>
          <a:bodyPr wrap="square" lIns="0" tIns="0" rIns="0" bIns="0" rtlCol="0" anchor="ctr"/>
          <a:lstStyle/>
          <a:p>
            <a:pPr algn="ctr" indent="0" marL="0">
              <a:buNone/>
            </a:pPr>
            <a:r>
              <a:rPr lang="en-US" sz="1100" b="1" dirty="0">
                <a:solidFill>
                  <a:schemeClr val="accent2"/>
                </a:solidFill>
              </a:rPr>
              <a:t>Disponible en la demo</a:t>
            </a:r>
            <a:endParaRPr lang="en-US" sz="1100" dirty="0"/>
          </a:p>
        </p:txBody>
      </p:sp>
      <p:sp>
        <p:nvSpPr>
          <p:cNvPr id="34" name="texto-117"/>
          <p:cNvSpPr txBox="1"/>
          <p:nvPr/>
        </p:nvSpPr>
        <p:spPr>
          <a:xfrm>
            <a:off x="4114800" y="5129784"/>
            <a:ext cx="3291840" cy="274320"/>
          </a:xfrm>
          <a:prstGeom prst="rect">
            <a:avLst/>
          </a:prstGeom>
          <a:noFill/>
          <a:ln/>
        </p:spPr>
        <p:txBody>
          <a:bodyPr wrap="square" lIns="0" tIns="0" rIns="0" bIns="0" rtlCol="0" anchor="t"/>
          <a:lstStyle/>
          <a:p>
            <a:pPr indent="0" marL="0">
              <a:buNone/>
            </a:pPr>
            <a:r>
              <a:rPr lang="en-US" sz="1300" dirty="0">
                <a:solidFill>
                  <a:schemeClr val="accent6"/>
                </a:solidFill>
              </a:rPr>
              <a:t>Todo esto se puede ver hoy en la demo.</a:t>
            </a:r>
            <a:endParaRPr lang="en-US" sz="1300" dirty="0"/>
          </a:p>
        </p:txBody>
      </p:sp>
      <p:sp>
        <p:nvSpPr>
          <p:cNvPr id="35" name="tarjeta-118"/>
          <p:cNvSpPr/>
          <p:nvPr/>
        </p:nvSpPr>
        <p:spPr>
          <a:xfrm>
            <a:off x="7726680" y="1600200"/>
            <a:ext cx="3916375" cy="4434840"/>
          </a:xfrm>
          <a:prstGeom prst="roundRect">
            <a:avLst>
              <a:gd name="adj" fmla="val 3269"/>
            </a:avLst>
          </a:prstGeom>
          <a:solidFill>
            <a:schemeClr val="bg1"/>
          </a:solidFill>
          <a:ln w="9525">
            <a:solidFill>
              <a:srgbClr val="E3E3DD"/>
            </a:solidFill>
            <a:prstDash val="solid"/>
          </a:ln>
          <a:effectLst>
            <a:outerShdw sx="100000" sy="100000" kx="0" ky="0" algn="bl" rotWithShape="0" blurRad="177800" dist="38100" dir="5400000">
              <a:srgbClr val="0E1116">
                <a:alpha val="13000"/>
              </a:srgbClr>
            </a:outerShdw>
          </a:effectLst>
        </p:spPr>
      </p:sp>
      <p:sp>
        <p:nvSpPr>
          <p:cNvPr id="36" name="texto-119"/>
          <p:cNvSpPr txBox="1"/>
          <p:nvPr/>
        </p:nvSpPr>
        <p:spPr>
          <a:xfrm>
            <a:off x="8001000" y="1874520"/>
            <a:ext cx="3367735" cy="274320"/>
          </a:xfrm>
          <a:prstGeom prst="rect">
            <a:avLst/>
          </a:prstGeom>
          <a:noFill/>
          <a:ln/>
        </p:spPr>
        <p:txBody>
          <a:bodyPr wrap="square" lIns="0" tIns="0" rIns="0" bIns="0" rtlCol="0" anchor="t"/>
          <a:lstStyle/>
          <a:p>
            <a:pPr indent="0" marL="0">
              <a:buNone/>
            </a:pPr>
            <a:r>
              <a:rPr lang="en-US" sz="1100" b="1" spc="100" kern="0" dirty="0">
                <a:solidFill>
                  <a:schemeClr val="accent2"/>
                </a:solidFill>
              </a:rPr>
              <a:t>LA OTRA PARTE</a:t>
            </a:r>
            <a:endParaRPr lang="en-US" sz="1100" dirty="0"/>
          </a:p>
        </p:txBody>
      </p:sp>
      <p:sp>
        <p:nvSpPr>
          <p:cNvPr id="37" name="texto-120"/>
          <p:cNvSpPr txBox="1"/>
          <p:nvPr/>
        </p:nvSpPr>
        <p:spPr>
          <a:xfrm>
            <a:off x="8001000" y="2148840"/>
            <a:ext cx="3367735" cy="365760"/>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ScoutUp Player</a:t>
            </a:r>
            <a:endParaRPr lang="en-US" sz="1800" dirty="0"/>
          </a:p>
        </p:txBody>
      </p:sp>
      <p:sp>
        <p:nvSpPr>
          <p:cNvPr id="38" name="texto-121"/>
          <p:cNvSpPr txBox="1"/>
          <p:nvPr/>
        </p:nvSpPr>
        <p:spPr>
          <a:xfrm>
            <a:off x="8001000" y="2532888"/>
            <a:ext cx="3367735" cy="594360"/>
          </a:xfrm>
          <a:prstGeom prst="rect">
            <a:avLst/>
          </a:prstGeom>
          <a:noFill/>
          <a:ln/>
        </p:spPr>
        <p:txBody>
          <a:bodyPr wrap="square" lIns="0" tIns="0" rIns="0" bIns="0" rtlCol="0" anchor="t"/>
          <a:lstStyle/>
          <a:p>
            <a:pPr indent="0" marL="0">
              <a:buNone/>
            </a:pPr>
            <a:r>
              <a:rPr lang="en-US" sz="1400" dirty="0">
                <a:solidFill>
                  <a:schemeClr val="accent6"/>
                </a:solidFill>
              </a:rPr>
              <a:t>La app del jugador: perfil, trayectoria, vídeos y respuesta a oportunidades.</a:t>
            </a:r>
            <a:endParaRPr lang="en-US" sz="1400" dirty="0"/>
          </a:p>
        </p:txBody>
      </p:sp>
      <p:sp>
        <p:nvSpPr>
          <p:cNvPr id="39" name="etiqueta-fondo-122"/>
          <p:cNvSpPr/>
          <p:nvPr/>
        </p:nvSpPr>
        <p:spPr>
          <a:xfrm>
            <a:off x="8001000" y="3200400"/>
            <a:ext cx="2286000" cy="274320"/>
          </a:xfrm>
          <a:prstGeom prst="roundRect">
            <a:avLst>
              <a:gd name="adj" fmla="val 50000"/>
            </a:avLst>
          </a:prstGeom>
          <a:solidFill>
            <a:schemeClr val="accent3">
              <a:alpha val="14000"/>
            </a:schemeClr>
          </a:solidFill>
          <a:ln/>
        </p:spPr>
      </p:sp>
      <p:sp>
        <p:nvSpPr>
          <p:cNvPr id="40" name="etiqueta-123"/>
          <p:cNvSpPr txBox="1"/>
          <p:nvPr/>
        </p:nvSpPr>
        <p:spPr>
          <a:xfrm>
            <a:off x="8001000" y="3200400"/>
            <a:ext cx="2286000" cy="274320"/>
          </a:xfrm>
          <a:prstGeom prst="rect">
            <a:avLst/>
          </a:prstGeom>
          <a:noFill/>
          <a:ln/>
        </p:spPr>
        <p:txBody>
          <a:bodyPr wrap="square" lIns="0" tIns="0" rIns="0" bIns="0" rtlCol="0" anchor="ctr"/>
          <a:lstStyle/>
          <a:p>
            <a:pPr algn="ctr" indent="0" marL="0">
              <a:buNone/>
            </a:pPr>
            <a:r>
              <a:rPr lang="en-US" sz="1100" b="1" dirty="0">
                <a:solidFill>
                  <a:schemeClr val="accent3"/>
                </a:solidFill>
              </a:rPr>
              <a:t>En la demo, solo simulado</a:t>
            </a:r>
            <a:endParaRPr lang="en-US" sz="1100" dirty="0"/>
          </a:p>
        </p:txBody>
      </p:sp>
      <p:sp>
        <p:nvSpPr>
          <p:cNvPr id="41" name="marco-player"/>
          <p:cNvSpPr/>
          <p:nvPr/>
        </p:nvSpPr>
        <p:spPr>
          <a:xfrm>
            <a:off x="8001000" y="3657600"/>
            <a:ext cx="1371600" cy="2125980"/>
          </a:xfrm>
          <a:prstGeom prst="roundRect">
            <a:avLst>
              <a:gd name="adj" fmla="val 10667"/>
            </a:avLst>
          </a:prstGeom>
          <a:solidFill>
            <a:schemeClr val="bg1"/>
          </a:solidFill>
          <a:ln w="9525">
            <a:solidFill>
              <a:srgbClr val="E3E3DD"/>
            </a:solidFill>
            <a:prstDash val="solid"/>
          </a:ln>
          <a:effectLst>
            <a:outerShdw sx="100000" sy="100000" kx="0" ky="0" algn="bl" rotWithShape="0" blurRad="177800" dist="38100" dir="5400000">
              <a:srgbClr val="0E1116">
                <a:alpha val="13000"/>
              </a:srgbClr>
            </a:outerShdw>
          </a:effectLst>
        </p:spPr>
      </p:sp>
      <p:pic>
        <p:nvPicPr>
          <p:cNvPr id="42" name="captura-player" descr="Perfil del jugador en ScoutUp Player (demo)">    </p:cNvPr>
          <p:cNvPicPr>
            <a:picLocks noChangeAspect="1"/>
          </p:cNvPicPr>
          <p:nvPr/>
        </p:nvPicPr>
        <p:blipFill>
          <a:blip r:embed="rId8"/>
          <a:stretch>
            <a:fillRect/>
          </a:stretch>
        </p:blipFill>
        <p:spPr>
          <a:xfrm>
            <a:off x="8001000" y="3657600"/>
            <a:ext cx="1371600" cy="2125980"/>
          </a:xfrm>
          <a:prstGeom prst="rect">
            <a:avLst/>
          </a:prstGeom>
        </p:spPr>
      </p:pic>
      <p:sp>
        <p:nvSpPr>
          <p:cNvPr id="43" name="texto-124"/>
          <p:cNvSpPr txBox="1"/>
          <p:nvPr/>
        </p:nvSpPr>
        <p:spPr>
          <a:xfrm>
            <a:off x="9601200" y="3749040"/>
            <a:ext cx="1767535" cy="1280160"/>
          </a:xfrm>
          <a:prstGeom prst="rect">
            <a:avLst/>
          </a:prstGeom>
          <a:noFill/>
          <a:ln/>
        </p:spPr>
        <p:txBody>
          <a:bodyPr wrap="square" lIns="0" tIns="0" rIns="0" bIns="0" rtlCol="0" anchor="t"/>
          <a:lstStyle/>
          <a:p>
            <a:pPr indent="0" marL="0">
              <a:buNone/>
            </a:pPr>
            <a:r>
              <a:rPr lang="en-US" sz="1500" b="1" dirty="0">
                <a:solidFill>
                  <a:schemeClr val="tx1"/>
                </a:solidFill>
              </a:rPr>
              <a:t>Con menores, el contacto pasa siempre por su tutor.</a:t>
            </a:r>
            <a:endParaRPr lang="en-US" sz="1500" dirty="0"/>
          </a:p>
        </p:txBody>
      </p:sp>
      <p:sp>
        <p:nvSpPr>
          <p:cNvPr id="25" name="Slide Number Placeholder 0"/>
          <p:cNvSpPr>
            <a:spLocks noGrp="1"/>
          </p:cNvSpPr>
          <p:nvPr>
            <p:ph type="sldNum" sz="quarter" idx="4294967295"/>
          </p:nvPr>
        </p:nvSpPr>
        <p:spPr>
          <a:xfrm>
            <a:off x="11185855" y="6382512"/>
            <a:ext cx="457200" cy="237744"/>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686800" cy="274320"/>
          </a:xfrm>
          <a:prstGeom prst="rect">
            <a:avLst/>
          </a:prstGeom>
          <a:noFill/>
          <a:ln/>
        </p:spPr>
        <p:txBody>
          <a:bodyPr wrap="square" lIns="0" tIns="0" rIns="0" bIns="0" rtlCol="0" anchor="ctr"/>
          <a:lstStyle/>
          <a:p>
            <a:pPr indent="0" marL="0">
              <a:buNone/>
            </a:pPr>
            <a:r>
              <a:rPr lang="en-US" sz="1200" b="1" spc="150" kern="0" dirty="0">
                <a:solidFill>
                  <a:schemeClr val="accent2"/>
                </a:solidFill>
              </a:rPr>
              <a:t>EJEMPLO · PANTALLA REAL CON DATOS FICTICIOS</a:t>
            </a:r>
            <a:endParaRPr lang="en-US" sz="1200" dirty="0"/>
          </a:p>
        </p:txBody>
      </p:sp>
      <p:sp>
        <p:nvSpPr>
          <p:cNvPr id="3" name="Text 0"/>
          <p:cNvSpPr/>
          <p:nvPr>
            <p:ph idx="101" type="title" hasCustomPrompt="1"/>
          </p:nvPr>
        </p:nvSpPr>
        <p:spPr>
          <a:xfrm>
            <a:off x="548640" y="640080"/>
            <a:ext cx="11094415" cy="685800"/>
          </a:xfrm>
          <a:prstGeom prst="rect">
            <a:avLst/>
          </a:prstGeom>
          <a:noFill/>
          <a:ln/>
        </p:spPr>
        <p:txBody>
          <a:bodyPr wrap="square" lIns="0" tIns="0" rIns="0" bIns="0" rtlCol="0" anchor="t"/>
          <a:lstStyle/>
          <a:p>
            <a:pPr algn="l" indent="0" marL="0">
              <a:buNone/>
            </a:pPr>
            <a:r>
              <a:rPr lang="en-US" sz="3200" b="1" dirty="0">
                <a:solidFill>
                  <a:schemeClr val="tx1"/>
                </a:solidFill>
              </a:rPr>
              <a:t>«El Cadete A necesita un lateral derecho»</a:t>
            </a:r>
            <a:endParaRPr lang="en-US" sz="3200" dirty="0"/>
          </a:p>
        </p:txBody>
      </p:sp>
      <p:sp>
        <p:nvSpPr>
          <p:cNvPr id="4" name="texto-125"/>
          <p:cNvSpPr txBox="1"/>
          <p:nvPr/>
        </p:nvSpPr>
        <p:spPr>
          <a:xfrm>
            <a:off x="548640" y="1463040"/>
            <a:ext cx="1371600" cy="310896"/>
          </a:xfrm>
          <a:prstGeom prst="rect">
            <a:avLst/>
          </a:prstGeom>
          <a:noFill/>
          <a:ln/>
        </p:spPr>
        <p:txBody>
          <a:bodyPr wrap="square" lIns="0" tIns="0" rIns="0" bIns="0" rtlCol="0" anchor="ctr"/>
          <a:lstStyle/>
          <a:p>
            <a:pPr indent="0" marL="0">
              <a:buNone/>
            </a:pPr>
            <a:r>
              <a:rPr lang="en-US" sz="1500" b="1" dirty="0">
                <a:solidFill>
                  <a:schemeClr val="tx1"/>
                </a:solidFill>
              </a:rPr>
              <a:t>La necesidad:</a:t>
            </a:r>
            <a:endParaRPr lang="en-US" sz="1500" dirty="0"/>
          </a:p>
        </p:txBody>
      </p:sp>
      <p:sp>
        <p:nvSpPr>
          <p:cNvPr id="5" name="criterio-fondo-126"/>
          <p:cNvSpPr/>
          <p:nvPr/>
        </p:nvSpPr>
        <p:spPr>
          <a:xfrm>
            <a:off x="1920240" y="1463040"/>
            <a:ext cx="824789" cy="310896"/>
          </a:xfrm>
          <a:prstGeom prst="roundRect">
            <a:avLst>
              <a:gd name="adj" fmla="val 50000"/>
            </a:avLst>
          </a:prstGeom>
          <a:solidFill>
            <a:schemeClr val="bg1"/>
          </a:solidFill>
          <a:ln w="9525">
            <a:solidFill>
              <a:srgbClr val="E3E3DD"/>
            </a:solidFill>
            <a:prstDash val="solid"/>
          </a:ln>
        </p:spPr>
      </p:sp>
      <p:sp>
        <p:nvSpPr>
          <p:cNvPr id="6" name="texto-127"/>
          <p:cNvSpPr txBox="1"/>
          <p:nvPr/>
        </p:nvSpPr>
        <p:spPr>
          <a:xfrm>
            <a:off x="1920240" y="1463040"/>
            <a:ext cx="824789" cy="310896"/>
          </a:xfrm>
          <a:prstGeom prst="rect">
            <a:avLst/>
          </a:prstGeom>
          <a:noFill/>
          <a:ln/>
        </p:spPr>
        <p:txBody>
          <a:bodyPr wrap="square" lIns="0" tIns="0" rIns="0" bIns="0" rtlCol="0" anchor="ctr"/>
          <a:lstStyle/>
          <a:p>
            <a:pPr algn="ctr" indent="0" marL="0">
              <a:buNone/>
            </a:pPr>
            <a:r>
              <a:rPr lang="en-US" sz="1300" dirty="0">
                <a:solidFill>
                  <a:schemeClr val="tx1"/>
                </a:solidFill>
              </a:rPr>
              <a:t>Cadete</a:t>
            </a:r>
            <a:endParaRPr lang="en-US" sz="1300" dirty="0"/>
          </a:p>
        </p:txBody>
      </p:sp>
      <p:sp>
        <p:nvSpPr>
          <p:cNvPr id="7" name="criterio-fondo-128"/>
          <p:cNvSpPr/>
          <p:nvPr/>
        </p:nvSpPr>
        <p:spPr>
          <a:xfrm>
            <a:off x="2854757" y="1463040"/>
            <a:ext cx="1750162" cy="310896"/>
          </a:xfrm>
          <a:prstGeom prst="roundRect">
            <a:avLst>
              <a:gd name="adj" fmla="val 50000"/>
            </a:avLst>
          </a:prstGeom>
          <a:solidFill>
            <a:schemeClr val="bg1"/>
          </a:solidFill>
          <a:ln w="9525">
            <a:solidFill>
              <a:srgbClr val="E3E3DD"/>
            </a:solidFill>
            <a:prstDash val="solid"/>
          </a:ln>
        </p:spPr>
      </p:sp>
      <p:sp>
        <p:nvSpPr>
          <p:cNvPr id="8" name="texto-129"/>
          <p:cNvSpPr txBox="1"/>
          <p:nvPr/>
        </p:nvSpPr>
        <p:spPr>
          <a:xfrm>
            <a:off x="2854757" y="1463040"/>
            <a:ext cx="1750162" cy="310896"/>
          </a:xfrm>
          <a:prstGeom prst="rect">
            <a:avLst/>
          </a:prstGeom>
          <a:noFill/>
          <a:ln/>
        </p:spPr>
        <p:txBody>
          <a:bodyPr wrap="square" lIns="0" tIns="0" rIns="0" bIns="0" rtlCol="0" anchor="ctr"/>
          <a:lstStyle/>
          <a:p>
            <a:pPr algn="ctr" indent="0" marL="0">
              <a:buNone/>
            </a:pPr>
            <a:r>
              <a:rPr lang="en-US" sz="1300" dirty="0">
                <a:solidFill>
                  <a:schemeClr val="tx1"/>
                </a:solidFill>
              </a:rPr>
              <a:t>Nacidos 2011–2012</a:t>
            </a:r>
            <a:endParaRPr lang="en-US" sz="1300" dirty="0"/>
          </a:p>
        </p:txBody>
      </p:sp>
      <p:sp>
        <p:nvSpPr>
          <p:cNvPr id="9" name="criterio-fondo-130"/>
          <p:cNvSpPr/>
          <p:nvPr/>
        </p:nvSpPr>
        <p:spPr>
          <a:xfrm>
            <a:off x="4714646" y="1463040"/>
            <a:ext cx="1497787" cy="310896"/>
          </a:xfrm>
          <a:prstGeom prst="roundRect">
            <a:avLst>
              <a:gd name="adj" fmla="val 50000"/>
            </a:avLst>
          </a:prstGeom>
          <a:solidFill>
            <a:schemeClr val="bg1"/>
          </a:solidFill>
          <a:ln w="9525">
            <a:solidFill>
              <a:srgbClr val="E3E3DD"/>
            </a:solidFill>
            <a:prstDash val="solid"/>
          </a:ln>
        </p:spPr>
      </p:sp>
      <p:sp>
        <p:nvSpPr>
          <p:cNvPr id="10" name="texto-131"/>
          <p:cNvSpPr txBox="1"/>
          <p:nvPr/>
        </p:nvSpPr>
        <p:spPr>
          <a:xfrm>
            <a:off x="4714646" y="1463040"/>
            <a:ext cx="1497787" cy="310896"/>
          </a:xfrm>
          <a:prstGeom prst="rect">
            <a:avLst/>
          </a:prstGeom>
          <a:noFill/>
          <a:ln/>
        </p:spPr>
        <p:txBody>
          <a:bodyPr wrap="square" lIns="0" tIns="0" rIns="0" bIns="0" rtlCol="0" anchor="ctr"/>
          <a:lstStyle/>
          <a:p>
            <a:pPr algn="ctr" indent="0" marL="0">
              <a:buNone/>
            </a:pPr>
            <a:r>
              <a:rPr lang="en-US" sz="1300" dirty="0">
                <a:solidFill>
                  <a:schemeClr val="tx1"/>
                </a:solidFill>
              </a:rPr>
              <a:t>Nivel Nacional</a:t>
            </a:r>
            <a:endParaRPr lang="en-US" sz="1300" dirty="0"/>
          </a:p>
        </p:txBody>
      </p:sp>
      <p:sp>
        <p:nvSpPr>
          <p:cNvPr id="11" name="criterio-fondo-132"/>
          <p:cNvSpPr/>
          <p:nvPr/>
        </p:nvSpPr>
        <p:spPr>
          <a:xfrm>
            <a:off x="6322162" y="1463040"/>
            <a:ext cx="1666037" cy="310896"/>
          </a:xfrm>
          <a:prstGeom prst="roundRect">
            <a:avLst>
              <a:gd name="adj" fmla="val 50000"/>
            </a:avLst>
          </a:prstGeom>
          <a:solidFill>
            <a:schemeClr val="bg1"/>
          </a:solidFill>
          <a:ln w="9525">
            <a:solidFill>
              <a:srgbClr val="E3E3DD"/>
            </a:solidFill>
            <a:prstDash val="solid"/>
          </a:ln>
        </p:spPr>
      </p:sp>
      <p:sp>
        <p:nvSpPr>
          <p:cNvPr id="12" name="texto-133"/>
          <p:cNvSpPr txBox="1"/>
          <p:nvPr/>
        </p:nvSpPr>
        <p:spPr>
          <a:xfrm>
            <a:off x="6322162" y="1463040"/>
            <a:ext cx="1666037" cy="310896"/>
          </a:xfrm>
          <a:prstGeom prst="rect">
            <a:avLst/>
          </a:prstGeom>
          <a:noFill/>
          <a:ln/>
        </p:spPr>
        <p:txBody>
          <a:bodyPr wrap="square" lIns="0" tIns="0" rIns="0" bIns="0" rtlCol="0" anchor="ctr"/>
          <a:lstStyle/>
          <a:p>
            <a:pPr algn="ctr" indent="0" marL="0">
              <a:buNone/>
            </a:pPr>
            <a:r>
              <a:rPr lang="en-US" sz="1300" dirty="0">
                <a:solidFill>
                  <a:schemeClr val="tx1"/>
                </a:solidFill>
              </a:rPr>
              <a:t>Sabadell · 30 km</a:t>
            </a:r>
            <a:endParaRPr lang="en-US" sz="1300" dirty="0"/>
          </a:p>
        </p:txBody>
      </p:sp>
      <p:sp>
        <p:nvSpPr>
          <p:cNvPr id="13" name="criterio-fondo-134"/>
          <p:cNvSpPr/>
          <p:nvPr/>
        </p:nvSpPr>
        <p:spPr>
          <a:xfrm>
            <a:off x="8097926" y="1463040"/>
            <a:ext cx="908914" cy="310896"/>
          </a:xfrm>
          <a:prstGeom prst="roundRect">
            <a:avLst>
              <a:gd name="adj" fmla="val 50000"/>
            </a:avLst>
          </a:prstGeom>
          <a:solidFill>
            <a:schemeClr val="bg1"/>
          </a:solidFill>
          <a:ln w="9525">
            <a:solidFill>
              <a:srgbClr val="E3E3DD"/>
            </a:solidFill>
            <a:prstDash val="solid"/>
          </a:ln>
        </p:spPr>
      </p:sp>
      <p:sp>
        <p:nvSpPr>
          <p:cNvPr id="14" name="texto-135"/>
          <p:cNvSpPr txBox="1"/>
          <p:nvPr/>
        </p:nvSpPr>
        <p:spPr>
          <a:xfrm>
            <a:off x="8097926" y="1463040"/>
            <a:ext cx="908914" cy="310896"/>
          </a:xfrm>
          <a:prstGeom prst="rect">
            <a:avLst/>
          </a:prstGeom>
          <a:noFill/>
          <a:ln/>
        </p:spPr>
        <p:txBody>
          <a:bodyPr wrap="square" lIns="0" tIns="0" rIns="0" bIns="0" rtlCol="0" anchor="ctr"/>
          <a:lstStyle/>
          <a:p>
            <a:pPr algn="ctr" indent="0" marL="0">
              <a:buNone/>
            </a:pPr>
            <a:r>
              <a:rPr lang="en-US" sz="1300" dirty="0">
                <a:solidFill>
                  <a:schemeClr val="tx1"/>
                </a:solidFill>
              </a:rPr>
              <a:t>Diestro</a:t>
            </a:r>
            <a:endParaRPr lang="en-US" sz="1300" dirty="0"/>
          </a:p>
        </p:txBody>
      </p:sp>
      <p:sp>
        <p:nvSpPr>
          <p:cNvPr id="15" name="criterio-fondo-136"/>
          <p:cNvSpPr/>
          <p:nvPr/>
        </p:nvSpPr>
        <p:spPr>
          <a:xfrm>
            <a:off x="9116568" y="1463040"/>
            <a:ext cx="2086661" cy="310896"/>
          </a:xfrm>
          <a:prstGeom prst="roundRect">
            <a:avLst>
              <a:gd name="adj" fmla="val 50000"/>
            </a:avLst>
          </a:prstGeom>
          <a:solidFill>
            <a:schemeClr val="bg1"/>
          </a:solidFill>
          <a:ln w="9525">
            <a:solidFill>
              <a:srgbClr val="E3E3DD"/>
            </a:solidFill>
            <a:prstDash val="solid"/>
          </a:ln>
        </p:spPr>
      </p:sp>
      <p:sp>
        <p:nvSpPr>
          <p:cNvPr id="16" name="texto-137"/>
          <p:cNvSpPr txBox="1"/>
          <p:nvPr/>
        </p:nvSpPr>
        <p:spPr>
          <a:xfrm>
            <a:off x="9116568" y="1463040"/>
            <a:ext cx="2086661" cy="310896"/>
          </a:xfrm>
          <a:prstGeom prst="rect">
            <a:avLst/>
          </a:prstGeom>
          <a:noFill/>
          <a:ln/>
        </p:spPr>
        <p:txBody>
          <a:bodyPr wrap="square" lIns="0" tIns="0" rIns="0" bIns="0" rtlCol="0" anchor="ctr"/>
          <a:lstStyle/>
          <a:p>
            <a:pPr algn="ctr" indent="0" marL="0">
              <a:buNone/>
            </a:pPr>
            <a:r>
              <a:rPr lang="en-US" sz="1300" dirty="0">
                <a:solidFill>
                  <a:schemeClr val="tx1"/>
                </a:solidFill>
              </a:rPr>
              <a:t>Velocidad y recorrido</a:t>
            </a:r>
            <a:endParaRPr lang="en-US" sz="1300" dirty="0"/>
          </a:p>
        </p:txBody>
      </p:sp>
      <p:sp>
        <p:nvSpPr>
          <p:cNvPr id="17" name="marco-captura-138"/>
          <p:cNvSpPr/>
          <p:nvPr/>
        </p:nvSpPr>
        <p:spPr>
          <a:xfrm>
            <a:off x="548640" y="2057400"/>
            <a:ext cx="8412480" cy="3584448"/>
          </a:xfrm>
          <a:prstGeom prst="roundRect">
            <a:avLst>
              <a:gd name="adj" fmla="val 2551"/>
            </a:avLst>
          </a:prstGeom>
          <a:solidFill>
            <a:schemeClr val="bg1"/>
          </a:solidFill>
          <a:ln w="9525">
            <a:solidFill>
              <a:srgbClr val="E3E3DD"/>
            </a:solidFill>
            <a:prstDash val="solid"/>
          </a:ln>
          <a:effectLst>
            <a:outerShdw sx="100000" sy="100000" kx="0" ky="0" algn="bl" rotWithShape="0" blurRad="177800" dist="38100" dir="5400000">
              <a:srgbClr val="0E1116">
                <a:alpha val="13000"/>
              </a:srgbClr>
            </a:outerShdw>
          </a:effectLst>
        </p:spPr>
      </p:sp>
      <p:pic>
        <p:nvPicPr>
          <p:cNvPr id="18" name="captura-c_oportunidad-139" descr="Oportunidad «Lateral derecho para el Cadete A»: ScoutUp ha encontrado 18 jugadores compatibles; mejor encaje Hugo Navarro, 87 %">    </p:cNvPr>
          <p:cNvPicPr>
            <a:picLocks noChangeAspect="1"/>
          </p:cNvPicPr>
          <p:nvPr/>
        </p:nvPicPr>
        <p:blipFill>
          <a:blip r:embed="rId1"/>
          <a:stretch>
            <a:fillRect/>
          </a:stretch>
        </p:blipFill>
        <p:spPr>
          <a:xfrm>
            <a:off x="548640" y="2057400"/>
            <a:ext cx="8412480" cy="3584448"/>
          </a:xfrm>
          <a:prstGeom prst="rect">
            <a:avLst/>
          </a:prstGeom>
        </p:spPr>
      </p:pic>
      <p:sp>
        <p:nvSpPr>
          <p:cNvPr id="19" name="marco-captura-140"/>
          <p:cNvSpPr/>
          <p:nvPr/>
        </p:nvSpPr>
        <p:spPr>
          <a:xfrm>
            <a:off x="9448495" y="2057400"/>
            <a:ext cx="2194560" cy="4027018"/>
          </a:xfrm>
          <a:prstGeom prst="roundRect">
            <a:avLst>
              <a:gd name="adj" fmla="val 4167"/>
            </a:avLst>
          </a:prstGeom>
          <a:solidFill>
            <a:schemeClr val="bg1"/>
          </a:solidFill>
          <a:ln w="9525">
            <a:solidFill>
              <a:srgbClr val="E3E3DD"/>
            </a:solidFill>
            <a:prstDash val="solid"/>
          </a:ln>
          <a:effectLst>
            <a:outerShdw sx="100000" sy="100000" kx="0" ky="0" algn="bl" rotWithShape="0" blurRad="177800" dist="38100" dir="5400000">
              <a:srgbClr val="0E1116">
                <a:alpha val="13000"/>
              </a:srgbClr>
            </a:outerShdw>
          </a:effectLst>
        </p:spPr>
      </p:sp>
      <p:pic>
        <p:nvPicPr>
          <p:cNvPr id="20" name="captura-c_porque-141" descr="Bloque «¿Por qué encaja?»: siete factores con su puntuación y explicación">    </p:cNvPr>
          <p:cNvPicPr>
            <a:picLocks noChangeAspect="1"/>
          </p:cNvPicPr>
          <p:nvPr/>
        </p:nvPicPr>
        <p:blipFill>
          <a:blip r:embed="rId2"/>
          <a:stretch>
            <a:fillRect/>
          </a:stretch>
        </p:blipFill>
        <p:spPr>
          <a:xfrm>
            <a:off x="9448495" y="2057400"/>
            <a:ext cx="2194560" cy="4027018"/>
          </a:xfrm>
          <a:prstGeom prst="rect">
            <a:avLst/>
          </a:prstGeom>
        </p:spPr>
      </p:pic>
      <p:sp>
        <p:nvSpPr>
          <p:cNvPr id="21" name="texto-142"/>
          <p:cNvSpPr txBox="1"/>
          <p:nvPr/>
        </p:nvSpPr>
        <p:spPr>
          <a:xfrm>
            <a:off x="548640" y="5824728"/>
            <a:ext cx="8412480" cy="502920"/>
          </a:xfrm>
          <a:prstGeom prst="rect">
            <a:avLst/>
          </a:prstGeom>
          <a:noFill/>
          <a:ln/>
        </p:spPr>
        <p:txBody>
          <a:bodyPr wrap="square" lIns="0" tIns="0" rIns="0" bIns="0" rtlCol="0" anchor="t"/>
          <a:lstStyle/>
          <a:p>
            <a:pPr indent="0" marL="0">
              <a:buNone/>
            </a:pPr>
            <a:r>
              <a:rPr lang="en-US" sz="1400" b="1" dirty="0">
                <a:solidFill>
                  <a:schemeClr val="tx1"/>
                </a:solidFill>
              </a:rPr>
              <a:t>18 jugadores compatibles; el mejor encaja al 87 %. </a:t>
            </a:r>
            <a:pPr indent="0" marL="0">
              <a:buNone/>
            </a:pPr>
            <a:r>
              <a:rPr lang="en-US" sz="1400" dirty="0">
                <a:solidFill>
                  <a:schemeClr val="accent6"/>
                </a:solidFill>
              </a:rPr>
              <a:t>El porcentaje mide el encaje con la necesidad: no es una probabilidad de fichaje.</a:t>
            </a:r>
            <a:endParaRPr lang="en-US" sz="1400" dirty="0"/>
          </a:p>
        </p:txBody>
      </p:sp>
      <p:sp>
        <p:nvSpPr>
          <p:cNvPr id="25" name="Slide Number Placeholder 0"/>
          <p:cNvSpPr>
            <a:spLocks noGrp="1"/>
          </p:cNvSpPr>
          <p:nvPr>
            <p:ph type="sldNum" sz="quarter" idx="4294967295"/>
          </p:nvPr>
        </p:nvSpPr>
        <p:spPr>
          <a:xfrm>
            <a:off x="11185855" y="6382512"/>
            <a:ext cx="457200" cy="237744"/>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686800" cy="274320"/>
          </a:xfrm>
          <a:prstGeom prst="rect">
            <a:avLst/>
          </a:prstGeom>
          <a:noFill/>
          <a:ln/>
        </p:spPr>
        <p:txBody>
          <a:bodyPr wrap="square" lIns="0" tIns="0" rIns="0" bIns="0" rtlCol="0" anchor="ctr"/>
          <a:lstStyle/>
          <a:p>
            <a:pPr indent="0" marL="0">
              <a:buNone/>
            </a:pPr>
            <a:r>
              <a:rPr lang="en-US" sz="1200" b="1" spc="150" kern="0" dirty="0">
                <a:solidFill>
                  <a:schemeClr val="accent2"/>
                </a:solidFill>
              </a:rPr>
              <a:t>SEGUIMIENTO</a:t>
            </a:r>
            <a:endParaRPr lang="en-US" sz="1200" dirty="0"/>
          </a:p>
        </p:txBody>
      </p:sp>
      <p:sp>
        <p:nvSpPr>
          <p:cNvPr id="3" name="Text 0"/>
          <p:cNvSpPr/>
          <p:nvPr>
            <p:ph idx="101" type="title" hasCustomPrompt="1"/>
          </p:nvPr>
        </p:nvSpPr>
        <p:spPr>
          <a:xfrm>
            <a:off x="548640" y="640080"/>
            <a:ext cx="11094415" cy="685800"/>
          </a:xfrm>
          <a:prstGeom prst="rect">
            <a:avLst/>
          </a:prstGeom>
          <a:noFill/>
          <a:ln/>
        </p:spPr>
        <p:txBody>
          <a:bodyPr wrap="square" lIns="0" tIns="0" rIns="0" bIns="0" rtlCol="0" anchor="t"/>
          <a:lstStyle/>
          <a:p>
            <a:pPr algn="l" indent="0" marL="0">
              <a:buNone/>
            </a:pPr>
            <a:r>
              <a:rPr lang="en-US" sz="3200" b="1" dirty="0">
                <a:solidFill>
                  <a:schemeClr val="tx1"/>
                </a:solidFill>
              </a:rPr>
              <a:t>De la búsqueda a la decisión, sin perder información</a:t>
            </a:r>
            <a:endParaRPr lang="en-US" sz="3200" dirty="0"/>
          </a:p>
        </p:txBody>
      </p:sp>
      <p:sp>
        <p:nvSpPr>
          <p:cNvPr id="4" name="paso-143"/>
          <p:cNvSpPr/>
          <p:nvPr/>
        </p:nvSpPr>
        <p:spPr>
          <a:xfrm>
            <a:off x="548640" y="1463040"/>
            <a:ext cx="1441666" cy="502920"/>
          </a:xfrm>
          <a:prstGeom prst="homePlate">
            <a:avLst/>
          </a:prstGeom>
          <a:solidFill>
            <a:schemeClr val="accent1">
              <a:alpha val="12000"/>
            </a:schemeClr>
          </a:solidFill>
          <a:ln/>
        </p:spPr>
      </p:sp>
      <p:sp>
        <p:nvSpPr>
          <p:cNvPr id="5" name="texto-144"/>
          <p:cNvSpPr txBox="1"/>
          <p:nvPr/>
        </p:nvSpPr>
        <p:spPr>
          <a:xfrm>
            <a:off x="713232" y="1463040"/>
            <a:ext cx="1203922" cy="502920"/>
          </a:xfrm>
          <a:prstGeom prst="rect">
            <a:avLst/>
          </a:prstGeom>
          <a:noFill/>
          <a:ln/>
        </p:spPr>
        <p:txBody>
          <a:bodyPr wrap="square" lIns="0" tIns="0" rIns="0" bIns="0" rtlCol="0" anchor="ctr"/>
          <a:lstStyle/>
          <a:p>
            <a:pPr algn="ctr" indent="0" marL="0">
              <a:buNone/>
            </a:pPr>
            <a:r>
              <a:rPr lang="en-US" sz="1300" b="1" dirty="0">
                <a:solidFill>
                  <a:schemeClr val="accent2"/>
                </a:solidFill>
              </a:rPr>
              <a:t>Necesidad</a:t>
            </a:r>
            <a:endParaRPr lang="en-US" sz="1300" dirty="0"/>
          </a:p>
        </p:txBody>
      </p:sp>
      <p:sp>
        <p:nvSpPr>
          <p:cNvPr id="6" name="paso-145"/>
          <p:cNvSpPr/>
          <p:nvPr/>
        </p:nvSpPr>
        <p:spPr>
          <a:xfrm>
            <a:off x="1935442" y="1463040"/>
            <a:ext cx="1441666" cy="502920"/>
          </a:xfrm>
          <a:prstGeom prst="chevron">
            <a:avLst/>
          </a:prstGeom>
          <a:solidFill>
            <a:schemeClr val="accent1">
              <a:alpha val="16000"/>
            </a:schemeClr>
          </a:solidFill>
          <a:ln/>
        </p:spPr>
      </p:sp>
      <p:sp>
        <p:nvSpPr>
          <p:cNvPr id="7" name="texto-146"/>
          <p:cNvSpPr txBox="1"/>
          <p:nvPr/>
        </p:nvSpPr>
        <p:spPr>
          <a:xfrm>
            <a:off x="2100034" y="1463040"/>
            <a:ext cx="1203922" cy="502920"/>
          </a:xfrm>
          <a:prstGeom prst="rect">
            <a:avLst/>
          </a:prstGeom>
          <a:noFill/>
          <a:ln/>
        </p:spPr>
        <p:txBody>
          <a:bodyPr wrap="square" lIns="0" tIns="0" rIns="0" bIns="0" rtlCol="0" anchor="ctr"/>
          <a:lstStyle/>
          <a:p>
            <a:pPr algn="ctr" indent="0" marL="0">
              <a:buNone/>
            </a:pPr>
            <a:r>
              <a:rPr lang="en-US" sz="1300" b="1" dirty="0">
                <a:solidFill>
                  <a:schemeClr val="accent2"/>
                </a:solidFill>
              </a:rPr>
              <a:t>Búsqueda</a:t>
            </a:r>
            <a:endParaRPr lang="en-US" sz="1300" dirty="0"/>
          </a:p>
        </p:txBody>
      </p:sp>
      <p:sp>
        <p:nvSpPr>
          <p:cNvPr id="8" name="paso-147"/>
          <p:cNvSpPr/>
          <p:nvPr/>
        </p:nvSpPr>
        <p:spPr>
          <a:xfrm>
            <a:off x="3322244" y="1463040"/>
            <a:ext cx="1441666" cy="502920"/>
          </a:xfrm>
          <a:prstGeom prst="chevron">
            <a:avLst/>
          </a:prstGeom>
          <a:solidFill>
            <a:schemeClr val="accent1">
              <a:alpha val="20000"/>
            </a:schemeClr>
          </a:solidFill>
          <a:ln/>
        </p:spPr>
      </p:sp>
      <p:sp>
        <p:nvSpPr>
          <p:cNvPr id="9" name="texto-148"/>
          <p:cNvSpPr txBox="1"/>
          <p:nvPr/>
        </p:nvSpPr>
        <p:spPr>
          <a:xfrm>
            <a:off x="3486836" y="1463040"/>
            <a:ext cx="1203922" cy="502920"/>
          </a:xfrm>
          <a:prstGeom prst="rect">
            <a:avLst/>
          </a:prstGeom>
          <a:noFill/>
          <a:ln/>
        </p:spPr>
        <p:txBody>
          <a:bodyPr wrap="square" lIns="0" tIns="0" rIns="0" bIns="0" rtlCol="0" anchor="ctr"/>
          <a:lstStyle/>
          <a:p>
            <a:pPr algn="ctr" indent="0" marL="0">
              <a:buNone/>
            </a:pPr>
            <a:r>
              <a:rPr lang="en-US" sz="1300" b="1" dirty="0">
                <a:solidFill>
                  <a:schemeClr val="accent2"/>
                </a:solidFill>
              </a:rPr>
              <a:t>Candidatos</a:t>
            </a:r>
            <a:endParaRPr lang="en-US" sz="1300" dirty="0"/>
          </a:p>
        </p:txBody>
      </p:sp>
      <p:sp>
        <p:nvSpPr>
          <p:cNvPr id="10" name="paso-149"/>
          <p:cNvSpPr/>
          <p:nvPr/>
        </p:nvSpPr>
        <p:spPr>
          <a:xfrm>
            <a:off x="4709046" y="1463040"/>
            <a:ext cx="1441666" cy="502920"/>
          </a:xfrm>
          <a:prstGeom prst="chevron">
            <a:avLst/>
          </a:prstGeom>
          <a:solidFill>
            <a:schemeClr val="accent1">
              <a:alpha val="24000"/>
            </a:schemeClr>
          </a:solidFill>
          <a:ln/>
        </p:spPr>
      </p:sp>
      <p:sp>
        <p:nvSpPr>
          <p:cNvPr id="11" name="texto-150"/>
          <p:cNvSpPr txBox="1"/>
          <p:nvPr/>
        </p:nvSpPr>
        <p:spPr>
          <a:xfrm>
            <a:off x="4873638" y="1463040"/>
            <a:ext cx="1203922" cy="502920"/>
          </a:xfrm>
          <a:prstGeom prst="rect">
            <a:avLst/>
          </a:prstGeom>
          <a:noFill/>
          <a:ln/>
        </p:spPr>
        <p:txBody>
          <a:bodyPr wrap="square" lIns="0" tIns="0" rIns="0" bIns="0" rtlCol="0" anchor="ctr"/>
          <a:lstStyle/>
          <a:p>
            <a:pPr algn="ctr" indent="0" marL="0">
              <a:buNone/>
            </a:pPr>
            <a:r>
              <a:rPr lang="en-US" sz="1300" b="1" dirty="0">
                <a:solidFill>
                  <a:schemeClr val="accent2"/>
                </a:solidFill>
              </a:rPr>
              <a:t>Comparación</a:t>
            </a:r>
            <a:endParaRPr lang="en-US" sz="1300" dirty="0"/>
          </a:p>
        </p:txBody>
      </p:sp>
      <p:sp>
        <p:nvSpPr>
          <p:cNvPr id="12" name="paso-151"/>
          <p:cNvSpPr/>
          <p:nvPr/>
        </p:nvSpPr>
        <p:spPr>
          <a:xfrm>
            <a:off x="6095848" y="1463040"/>
            <a:ext cx="1441666" cy="502920"/>
          </a:xfrm>
          <a:prstGeom prst="chevron">
            <a:avLst/>
          </a:prstGeom>
          <a:solidFill>
            <a:schemeClr val="accent1">
              <a:alpha val="28000"/>
            </a:schemeClr>
          </a:solidFill>
          <a:ln/>
        </p:spPr>
      </p:sp>
      <p:sp>
        <p:nvSpPr>
          <p:cNvPr id="13" name="texto-152"/>
          <p:cNvSpPr txBox="1"/>
          <p:nvPr/>
        </p:nvSpPr>
        <p:spPr>
          <a:xfrm>
            <a:off x="6260440" y="1463040"/>
            <a:ext cx="1203922" cy="502920"/>
          </a:xfrm>
          <a:prstGeom prst="rect">
            <a:avLst/>
          </a:prstGeom>
          <a:noFill/>
          <a:ln/>
        </p:spPr>
        <p:txBody>
          <a:bodyPr wrap="square" lIns="0" tIns="0" rIns="0" bIns="0" rtlCol="0" anchor="ctr"/>
          <a:lstStyle/>
          <a:p>
            <a:pPr algn="ctr" indent="0" marL="0">
              <a:buNone/>
            </a:pPr>
            <a:r>
              <a:rPr lang="en-US" sz="1300" b="1" dirty="0">
                <a:solidFill>
                  <a:schemeClr val="accent2"/>
                </a:solidFill>
              </a:rPr>
              <a:t>Seguimiento</a:t>
            </a:r>
            <a:endParaRPr lang="en-US" sz="1300" dirty="0"/>
          </a:p>
        </p:txBody>
      </p:sp>
      <p:sp>
        <p:nvSpPr>
          <p:cNvPr id="14" name="paso-153"/>
          <p:cNvSpPr/>
          <p:nvPr/>
        </p:nvSpPr>
        <p:spPr>
          <a:xfrm>
            <a:off x="7482650" y="1463040"/>
            <a:ext cx="1441666" cy="502920"/>
          </a:xfrm>
          <a:prstGeom prst="chevron">
            <a:avLst/>
          </a:prstGeom>
          <a:solidFill>
            <a:schemeClr val="accent1">
              <a:alpha val="32000"/>
            </a:schemeClr>
          </a:solidFill>
          <a:ln/>
        </p:spPr>
      </p:sp>
      <p:sp>
        <p:nvSpPr>
          <p:cNvPr id="15" name="texto-154"/>
          <p:cNvSpPr txBox="1"/>
          <p:nvPr/>
        </p:nvSpPr>
        <p:spPr>
          <a:xfrm>
            <a:off x="7647242" y="1463040"/>
            <a:ext cx="1203922" cy="502920"/>
          </a:xfrm>
          <a:prstGeom prst="rect">
            <a:avLst/>
          </a:prstGeom>
          <a:noFill/>
          <a:ln/>
        </p:spPr>
        <p:txBody>
          <a:bodyPr wrap="square" lIns="0" tIns="0" rIns="0" bIns="0" rtlCol="0" anchor="ctr"/>
          <a:lstStyle/>
          <a:p>
            <a:pPr algn="ctr" indent="0" marL="0">
              <a:buNone/>
            </a:pPr>
            <a:r>
              <a:rPr lang="en-US" sz="1300" b="1" dirty="0">
                <a:solidFill>
                  <a:schemeClr val="accent2"/>
                </a:solidFill>
              </a:rPr>
              <a:t>Contacto</a:t>
            </a:r>
            <a:endParaRPr lang="en-US" sz="1300" dirty="0"/>
          </a:p>
        </p:txBody>
      </p:sp>
      <p:sp>
        <p:nvSpPr>
          <p:cNvPr id="16" name="paso-155"/>
          <p:cNvSpPr/>
          <p:nvPr/>
        </p:nvSpPr>
        <p:spPr>
          <a:xfrm>
            <a:off x="8869451" y="1463040"/>
            <a:ext cx="1441666" cy="502920"/>
          </a:xfrm>
          <a:prstGeom prst="chevron">
            <a:avLst/>
          </a:prstGeom>
          <a:solidFill>
            <a:schemeClr val="accent1">
              <a:alpha val="36000"/>
            </a:schemeClr>
          </a:solidFill>
          <a:ln/>
        </p:spPr>
      </p:sp>
      <p:sp>
        <p:nvSpPr>
          <p:cNvPr id="17" name="texto-156"/>
          <p:cNvSpPr txBox="1"/>
          <p:nvPr/>
        </p:nvSpPr>
        <p:spPr>
          <a:xfrm>
            <a:off x="9034043" y="1463040"/>
            <a:ext cx="1203922" cy="502920"/>
          </a:xfrm>
          <a:prstGeom prst="rect">
            <a:avLst/>
          </a:prstGeom>
          <a:noFill/>
          <a:ln/>
        </p:spPr>
        <p:txBody>
          <a:bodyPr wrap="square" lIns="0" tIns="0" rIns="0" bIns="0" rtlCol="0" anchor="ctr"/>
          <a:lstStyle/>
          <a:p>
            <a:pPr algn="ctr" indent="0" marL="0">
              <a:buNone/>
            </a:pPr>
            <a:r>
              <a:rPr lang="en-US" sz="1300" b="1" dirty="0">
                <a:solidFill>
                  <a:schemeClr val="accent2"/>
                </a:solidFill>
              </a:rPr>
              <a:t>Prueba</a:t>
            </a:r>
            <a:endParaRPr lang="en-US" sz="1300" dirty="0"/>
          </a:p>
        </p:txBody>
      </p:sp>
      <p:sp>
        <p:nvSpPr>
          <p:cNvPr id="18" name="paso-157"/>
          <p:cNvSpPr/>
          <p:nvPr/>
        </p:nvSpPr>
        <p:spPr>
          <a:xfrm>
            <a:off x="10256253" y="1463040"/>
            <a:ext cx="1441666" cy="502920"/>
          </a:xfrm>
          <a:prstGeom prst="chevron">
            <a:avLst/>
          </a:prstGeom>
          <a:solidFill>
            <a:schemeClr val="accent1"/>
          </a:solidFill>
          <a:ln/>
        </p:spPr>
      </p:sp>
      <p:sp>
        <p:nvSpPr>
          <p:cNvPr id="19" name="texto-158"/>
          <p:cNvSpPr txBox="1"/>
          <p:nvPr/>
        </p:nvSpPr>
        <p:spPr>
          <a:xfrm>
            <a:off x="10420845" y="1463040"/>
            <a:ext cx="1203922" cy="502920"/>
          </a:xfrm>
          <a:prstGeom prst="rect">
            <a:avLst/>
          </a:prstGeom>
          <a:noFill/>
          <a:ln/>
        </p:spPr>
        <p:txBody>
          <a:bodyPr wrap="square" lIns="0" tIns="0" rIns="0" bIns="0" rtlCol="0" anchor="ctr"/>
          <a:lstStyle/>
          <a:p>
            <a:pPr algn="ctr" indent="0" marL="0">
              <a:buNone/>
            </a:pPr>
            <a:r>
              <a:rPr lang="en-US" sz="1300" b="1" dirty="0">
                <a:solidFill>
                  <a:schemeClr val="tx2"/>
                </a:solidFill>
              </a:rPr>
              <a:t>Decisión</a:t>
            </a:r>
            <a:endParaRPr lang="en-US" sz="1300" dirty="0"/>
          </a:p>
        </p:txBody>
      </p:sp>
      <p:sp>
        <p:nvSpPr>
          <p:cNvPr id="20" name="marco-captura-159"/>
          <p:cNvSpPr/>
          <p:nvPr/>
        </p:nvSpPr>
        <p:spPr>
          <a:xfrm>
            <a:off x="548640" y="2286000"/>
            <a:ext cx="6766560" cy="3701366"/>
          </a:xfrm>
          <a:prstGeom prst="roundRect">
            <a:avLst>
              <a:gd name="adj" fmla="val 2470"/>
            </a:avLst>
          </a:prstGeom>
          <a:solidFill>
            <a:schemeClr val="bg1"/>
          </a:solidFill>
          <a:ln w="9525">
            <a:solidFill>
              <a:srgbClr val="E3E3DD"/>
            </a:solidFill>
            <a:prstDash val="solid"/>
          </a:ln>
          <a:effectLst>
            <a:outerShdw sx="100000" sy="100000" kx="0" ky="0" algn="bl" rotWithShape="0" blurRad="177800" dist="38100" dir="5400000">
              <a:srgbClr val="0E1116">
                <a:alpha val="13000"/>
              </a:srgbClr>
            </a:outerShdw>
          </a:effectLst>
        </p:spPr>
      </p:sp>
      <p:pic>
        <p:nvPicPr>
          <p:cNvPr id="21" name="captura-c_pipeline-160" descr="Pipeline de captación: columnas Nuevo, Revisar, Interesante, Contactado… con un jugador por tarjeta">    </p:cNvPr>
          <p:cNvPicPr>
            <a:picLocks noChangeAspect="1"/>
          </p:cNvPicPr>
          <p:nvPr/>
        </p:nvPicPr>
        <p:blipFill>
          <a:blip r:embed="rId1"/>
          <a:stretch>
            <a:fillRect/>
          </a:stretch>
        </p:blipFill>
        <p:spPr>
          <a:xfrm>
            <a:off x="548640" y="2286000"/>
            <a:ext cx="6766560" cy="3701366"/>
          </a:xfrm>
          <a:prstGeom prst="rect">
            <a:avLst/>
          </a:prstGeom>
        </p:spPr>
      </p:pic>
      <p:sp>
        <p:nvSpPr>
          <p:cNvPr id="22" name="icono-fondo-161"/>
          <p:cNvSpPr/>
          <p:nvPr/>
        </p:nvSpPr>
        <p:spPr>
          <a:xfrm>
            <a:off x="7680960" y="2286000"/>
            <a:ext cx="566928" cy="566928"/>
          </a:xfrm>
          <a:prstGeom prst="ellipse">
            <a:avLst/>
          </a:prstGeom>
          <a:solidFill>
            <a:schemeClr val="accent1">
              <a:alpha val="15000"/>
            </a:schemeClr>
          </a:solidFill>
          <a:ln/>
        </p:spPr>
      </p:sp>
      <p:pic>
        <p:nvPicPr>
          <p:cNvPr id="23" name="icono-stages-162" descr="/tmp/claude-0/-home-user-Scoutup/a47adca6-2afe-5531-9b19-f69196bacfbf/scratchpad/deck/img/i_stages.png">    </p:cNvPr>
          <p:cNvPicPr>
            <a:picLocks noChangeAspect="1"/>
          </p:cNvPicPr>
          <p:nvPr/>
        </p:nvPicPr>
        <p:blipFill>
          <a:blip r:embed="rId2"/>
          <a:stretch>
            <a:fillRect/>
          </a:stretch>
        </p:blipFill>
        <p:spPr>
          <a:xfrm>
            <a:off x="7822692" y="2427732"/>
            <a:ext cx="283464" cy="283464"/>
          </a:xfrm>
          <a:prstGeom prst="rect">
            <a:avLst/>
          </a:prstGeom>
        </p:spPr>
      </p:pic>
      <p:sp>
        <p:nvSpPr>
          <p:cNvPr id="24" name="texto-163"/>
          <p:cNvSpPr txBox="1"/>
          <p:nvPr/>
        </p:nvSpPr>
        <p:spPr>
          <a:xfrm>
            <a:off x="8430768" y="2286000"/>
            <a:ext cx="3212287" cy="329184"/>
          </a:xfrm>
          <a:prstGeom prst="rect">
            <a:avLst/>
          </a:prstGeom>
          <a:noFill/>
          <a:ln/>
        </p:spPr>
        <p:txBody>
          <a:bodyPr wrap="square" lIns="0" tIns="0" rIns="0" bIns="0" rtlCol="0" anchor="t"/>
          <a:lstStyle/>
          <a:p>
            <a:pPr indent="0" marL="0">
              <a:buNone/>
            </a:pPr>
            <a:r>
              <a:rPr lang="en-US" sz="1600" b="1" dirty="0">
                <a:solidFill>
                  <a:schemeClr val="tx1"/>
                </a:solidFill>
                <a:latin typeface="Arial" pitchFamily="34" charset="0"/>
                <a:ea typeface="Arial" pitchFamily="34" charset="-122"/>
                <a:cs typeface="Arial" pitchFamily="34" charset="-120"/>
              </a:rPr>
              <a:t>Etapas compartidas</a:t>
            </a:r>
            <a:endParaRPr lang="en-US" sz="1600" dirty="0"/>
          </a:p>
        </p:txBody>
      </p:sp>
      <p:sp>
        <p:nvSpPr>
          <p:cNvPr id="25" name="texto-164"/>
          <p:cNvSpPr txBox="1"/>
          <p:nvPr/>
        </p:nvSpPr>
        <p:spPr>
          <a:xfrm>
            <a:off x="8430768" y="2633472"/>
            <a:ext cx="3212287" cy="777240"/>
          </a:xfrm>
          <a:prstGeom prst="rect">
            <a:avLst/>
          </a:prstGeom>
          <a:noFill/>
          <a:ln/>
        </p:spPr>
        <p:txBody>
          <a:bodyPr wrap="square" lIns="0" tIns="0" rIns="0" bIns="0" rtlCol="0" anchor="t"/>
          <a:lstStyle/>
          <a:p>
            <a:pPr indent="0" marL="0">
              <a:buNone/>
            </a:pPr>
            <a:r>
              <a:rPr lang="en-US" sz="1400" dirty="0">
                <a:solidFill>
                  <a:schemeClr val="accent6"/>
                </a:solidFill>
              </a:rPr>
              <a:t>Nuevo, revisar, interesante, contactado, prueba… Cada persona lo ve según sus permisos.</a:t>
            </a:r>
            <a:endParaRPr lang="en-US" sz="1400" dirty="0"/>
          </a:p>
        </p:txBody>
      </p:sp>
      <p:sp>
        <p:nvSpPr>
          <p:cNvPr id="26" name="icono-fondo-165"/>
          <p:cNvSpPr/>
          <p:nvPr/>
        </p:nvSpPr>
        <p:spPr>
          <a:xfrm>
            <a:off x="7680960" y="3474720"/>
            <a:ext cx="566928" cy="566928"/>
          </a:xfrm>
          <a:prstGeom prst="ellipse">
            <a:avLst/>
          </a:prstGeom>
          <a:solidFill>
            <a:schemeClr val="accent1">
              <a:alpha val="15000"/>
            </a:schemeClr>
          </a:solidFill>
          <a:ln/>
        </p:spPr>
      </p:sp>
      <p:pic>
        <p:nvPicPr>
          <p:cNvPr id="27" name="icono-record-166" descr="/tmp/claude-0/-home-user-Scoutup/a47adca6-2afe-5531-9b19-f69196bacfbf/scratchpad/deck/img/i_record.png">    </p:cNvPr>
          <p:cNvPicPr>
            <a:picLocks noChangeAspect="1"/>
          </p:cNvPicPr>
          <p:nvPr/>
        </p:nvPicPr>
        <p:blipFill>
          <a:blip r:embed="rId3"/>
          <a:stretch>
            <a:fillRect/>
          </a:stretch>
        </p:blipFill>
        <p:spPr>
          <a:xfrm>
            <a:off x="7822692" y="3616452"/>
            <a:ext cx="283464" cy="283464"/>
          </a:xfrm>
          <a:prstGeom prst="rect">
            <a:avLst/>
          </a:prstGeom>
        </p:spPr>
      </p:pic>
      <p:sp>
        <p:nvSpPr>
          <p:cNvPr id="28" name="texto-167"/>
          <p:cNvSpPr txBox="1"/>
          <p:nvPr/>
        </p:nvSpPr>
        <p:spPr>
          <a:xfrm>
            <a:off x="8430768" y="3474720"/>
            <a:ext cx="3212287" cy="329184"/>
          </a:xfrm>
          <a:prstGeom prst="rect">
            <a:avLst/>
          </a:prstGeom>
          <a:noFill/>
          <a:ln/>
        </p:spPr>
        <p:txBody>
          <a:bodyPr wrap="square" lIns="0" tIns="0" rIns="0" bIns="0" rtlCol="0" anchor="t"/>
          <a:lstStyle/>
          <a:p>
            <a:pPr indent="0" marL="0">
              <a:buNone/>
            </a:pPr>
            <a:r>
              <a:rPr lang="en-US" sz="1600" b="1" dirty="0">
                <a:solidFill>
                  <a:schemeClr val="tx1"/>
                </a:solidFill>
                <a:latin typeface="Arial" pitchFamily="34" charset="0"/>
                <a:ea typeface="Arial" pitchFamily="34" charset="-122"/>
                <a:cs typeface="Arial" pitchFamily="34" charset="-120"/>
              </a:rPr>
              <a:t>Todo queda asociado al jugador</a:t>
            </a:r>
            <a:endParaRPr lang="en-US" sz="1600" dirty="0"/>
          </a:p>
        </p:txBody>
      </p:sp>
      <p:sp>
        <p:nvSpPr>
          <p:cNvPr id="29" name="texto-168"/>
          <p:cNvSpPr txBox="1"/>
          <p:nvPr/>
        </p:nvSpPr>
        <p:spPr>
          <a:xfrm>
            <a:off x="8430768" y="3822192"/>
            <a:ext cx="3212287" cy="777240"/>
          </a:xfrm>
          <a:prstGeom prst="rect">
            <a:avLst/>
          </a:prstGeom>
          <a:noFill/>
          <a:ln/>
        </p:spPr>
        <p:txBody>
          <a:bodyPr wrap="square" lIns="0" tIns="0" rIns="0" bIns="0" rtlCol="0" anchor="t"/>
          <a:lstStyle/>
          <a:p>
            <a:pPr indent="0" marL="0">
              <a:buNone/>
            </a:pPr>
            <a:r>
              <a:rPr lang="en-US" sz="1400" dirty="0">
                <a:solidFill>
                  <a:schemeClr val="accent6"/>
                </a:solidFill>
              </a:rPr>
              <a:t>Evaluaciones, contactos y actividad en un mismo sitio.</a:t>
            </a:r>
            <a:endParaRPr lang="en-US" sz="1400" dirty="0"/>
          </a:p>
        </p:txBody>
      </p:sp>
      <p:sp>
        <p:nvSpPr>
          <p:cNvPr id="30" name="icono-fondo-169"/>
          <p:cNvSpPr/>
          <p:nvPr/>
        </p:nvSpPr>
        <p:spPr>
          <a:xfrm>
            <a:off x="7680960" y="4663440"/>
            <a:ext cx="566928" cy="566928"/>
          </a:xfrm>
          <a:prstGeom prst="ellipse">
            <a:avLst/>
          </a:prstGeom>
          <a:solidFill>
            <a:schemeClr val="accent1">
              <a:alpha val="15000"/>
            </a:schemeClr>
          </a:solidFill>
          <a:ln/>
        </p:spPr>
      </p:sp>
      <p:pic>
        <p:nvPicPr>
          <p:cNvPr id="31" name="icono-person-170" descr="/tmp/claude-0/-home-user-Scoutup/a47adca6-2afe-5531-9b19-f69196bacfbf/scratchpad/deck/img/i_person.png">    </p:cNvPr>
          <p:cNvPicPr>
            <a:picLocks noChangeAspect="1"/>
          </p:cNvPicPr>
          <p:nvPr/>
        </p:nvPicPr>
        <p:blipFill>
          <a:blip r:embed="rId4"/>
          <a:stretch>
            <a:fillRect/>
          </a:stretch>
        </p:blipFill>
        <p:spPr>
          <a:xfrm>
            <a:off x="7822692" y="4805172"/>
            <a:ext cx="283464" cy="283464"/>
          </a:xfrm>
          <a:prstGeom prst="rect">
            <a:avLst/>
          </a:prstGeom>
        </p:spPr>
      </p:pic>
      <p:sp>
        <p:nvSpPr>
          <p:cNvPr id="32" name="texto-171"/>
          <p:cNvSpPr txBox="1"/>
          <p:nvPr/>
        </p:nvSpPr>
        <p:spPr>
          <a:xfrm>
            <a:off x="8430768" y="4663440"/>
            <a:ext cx="3212287" cy="329184"/>
          </a:xfrm>
          <a:prstGeom prst="rect">
            <a:avLst/>
          </a:prstGeom>
          <a:noFill/>
          <a:ln/>
        </p:spPr>
        <p:txBody>
          <a:bodyPr wrap="square" lIns="0" tIns="0" rIns="0" bIns="0" rtlCol="0" anchor="t"/>
          <a:lstStyle/>
          <a:p>
            <a:pPr indent="0" marL="0">
              <a:buNone/>
            </a:pPr>
            <a:r>
              <a:rPr lang="en-US" sz="1600" b="1" dirty="0">
                <a:solidFill>
                  <a:schemeClr val="tx1"/>
                </a:solidFill>
                <a:latin typeface="Arial" pitchFamily="34" charset="0"/>
                <a:ea typeface="Arial" pitchFamily="34" charset="-122"/>
                <a:cs typeface="Arial" pitchFamily="34" charset="-120"/>
              </a:rPr>
              <a:t>Decide una persona</a:t>
            </a:r>
            <a:endParaRPr lang="en-US" sz="1600" dirty="0"/>
          </a:p>
        </p:txBody>
      </p:sp>
      <p:sp>
        <p:nvSpPr>
          <p:cNvPr id="33" name="texto-172"/>
          <p:cNvSpPr txBox="1"/>
          <p:nvPr/>
        </p:nvSpPr>
        <p:spPr>
          <a:xfrm>
            <a:off x="8430768" y="5010912"/>
            <a:ext cx="3212287" cy="777240"/>
          </a:xfrm>
          <a:prstGeom prst="rect">
            <a:avLst/>
          </a:prstGeom>
          <a:noFill/>
          <a:ln/>
        </p:spPr>
        <p:txBody>
          <a:bodyPr wrap="square" lIns="0" tIns="0" rIns="0" bIns="0" rtlCol="0" anchor="t"/>
          <a:lstStyle/>
          <a:p>
            <a:pPr indent="0" marL="0">
              <a:buNone/>
            </a:pPr>
            <a:r>
              <a:rPr lang="en-US" sz="1400" dirty="0">
                <a:solidFill>
                  <a:schemeClr val="accent6"/>
                </a:solidFill>
              </a:rPr>
              <a:t>ScoutUp no mueve jugadores ni contacta por su cuenta.</a:t>
            </a:r>
            <a:endParaRPr lang="en-US" sz="1400" dirty="0"/>
          </a:p>
        </p:txBody>
      </p:sp>
      <p:sp>
        <p:nvSpPr>
          <p:cNvPr id="34" name="etiqueta-fondo-173"/>
          <p:cNvSpPr/>
          <p:nvPr/>
        </p:nvSpPr>
        <p:spPr>
          <a:xfrm>
            <a:off x="7680960" y="5806440"/>
            <a:ext cx="1906524" cy="274320"/>
          </a:xfrm>
          <a:prstGeom prst="roundRect">
            <a:avLst>
              <a:gd name="adj" fmla="val 50000"/>
            </a:avLst>
          </a:prstGeom>
          <a:solidFill>
            <a:schemeClr val="accent1">
              <a:alpha val="14000"/>
            </a:schemeClr>
          </a:solidFill>
          <a:ln/>
        </p:spPr>
      </p:sp>
      <p:sp>
        <p:nvSpPr>
          <p:cNvPr id="35" name="etiqueta-174"/>
          <p:cNvSpPr txBox="1"/>
          <p:nvPr/>
        </p:nvSpPr>
        <p:spPr>
          <a:xfrm>
            <a:off x="7680960" y="5806440"/>
            <a:ext cx="1906524" cy="274320"/>
          </a:xfrm>
          <a:prstGeom prst="rect">
            <a:avLst/>
          </a:prstGeom>
          <a:noFill/>
          <a:ln/>
        </p:spPr>
        <p:txBody>
          <a:bodyPr wrap="square" lIns="0" tIns="0" rIns="0" bIns="0" rtlCol="0" anchor="ctr"/>
          <a:lstStyle/>
          <a:p>
            <a:pPr algn="ctr" indent="0" marL="0">
              <a:buNone/>
            </a:pPr>
            <a:r>
              <a:rPr lang="en-US" sz="1100" b="1" dirty="0">
                <a:solidFill>
                  <a:schemeClr val="accent2"/>
                </a:solidFill>
              </a:rPr>
              <a:t>Disponible en la demo</a:t>
            </a:r>
            <a:endParaRPr lang="en-US" sz="1100" dirty="0"/>
          </a:p>
        </p:txBody>
      </p:sp>
      <p:sp>
        <p:nvSpPr>
          <p:cNvPr id="25" name="Slide Number Placeholder 0"/>
          <p:cNvSpPr>
            <a:spLocks noGrp="1"/>
          </p:cNvSpPr>
          <p:nvPr>
            <p:ph type="sldNum" sz="quarter" idx="4294967295"/>
          </p:nvPr>
        </p:nvSpPr>
        <p:spPr>
          <a:xfrm>
            <a:off x="11185855" y="6382512"/>
            <a:ext cx="457200" cy="237744"/>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686800" cy="274320"/>
          </a:xfrm>
          <a:prstGeom prst="rect">
            <a:avLst/>
          </a:prstGeom>
          <a:noFill/>
          <a:ln/>
        </p:spPr>
        <p:txBody>
          <a:bodyPr wrap="square" lIns="0" tIns="0" rIns="0" bIns="0" rtlCol="0" anchor="ctr"/>
          <a:lstStyle/>
          <a:p>
            <a:pPr indent="0" marL="0">
              <a:buNone/>
            </a:pPr>
            <a:r>
              <a:rPr lang="en-US" sz="1200" b="1" spc="150" kern="0" dirty="0">
                <a:solidFill>
                  <a:schemeClr val="accent2"/>
                </a:solidFill>
              </a:rPr>
              <a:t>EL PERFIL DEL JUGADOR</a:t>
            </a:r>
            <a:endParaRPr lang="en-US" sz="1200" dirty="0"/>
          </a:p>
        </p:txBody>
      </p:sp>
      <p:sp>
        <p:nvSpPr>
          <p:cNvPr id="3" name="Text 0"/>
          <p:cNvSpPr/>
          <p:nvPr>
            <p:ph idx="101" type="title" hasCustomPrompt="1"/>
          </p:nvPr>
        </p:nvSpPr>
        <p:spPr>
          <a:xfrm>
            <a:off x="548640" y="640080"/>
            <a:ext cx="11094415" cy="685800"/>
          </a:xfrm>
          <a:prstGeom prst="rect">
            <a:avLst/>
          </a:prstGeom>
          <a:noFill/>
          <a:ln/>
        </p:spPr>
        <p:txBody>
          <a:bodyPr wrap="square" lIns="0" tIns="0" rIns="0" bIns="0" rtlCol="0" anchor="t"/>
          <a:lstStyle/>
          <a:p>
            <a:pPr algn="l" indent="0" marL="0">
              <a:buNone/>
            </a:pPr>
            <a:r>
              <a:rPr lang="en-US" sz="3200" b="1" dirty="0">
                <a:solidFill>
                  <a:schemeClr val="tx1"/>
                </a:solidFill>
              </a:rPr>
              <a:t>Más información, mejor contexto para decidir</a:t>
            </a:r>
            <a:endParaRPr lang="en-US" sz="3200" dirty="0"/>
          </a:p>
        </p:txBody>
      </p:sp>
      <p:sp>
        <p:nvSpPr>
          <p:cNvPr id="4" name="marco-captura-175"/>
          <p:cNvSpPr/>
          <p:nvPr/>
        </p:nvSpPr>
        <p:spPr>
          <a:xfrm>
            <a:off x="548640" y="1508760"/>
            <a:ext cx="6949440" cy="3293430"/>
          </a:xfrm>
          <a:prstGeom prst="roundRect">
            <a:avLst>
              <a:gd name="adj" fmla="val 2776"/>
            </a:avLst>
          </a:prstGeom>
          <a:solidFill>
            <a:schemeClr val="bg1"/>
          </a:solidFill>
          <a:ln w="9525">
            <a:solidFill>
              <a:srgbClr val="E3E3DD"/>
            </a:solidFill>
            <a:prstDash val="solid"/>
          </a:ln>
          <a:effectLst>
            <a:outerShdw sx="100000" sy="100000" kx="0" ky="0" algn="bl" rotWithShape="0" blurRad="177800" dist="38100" dir="5400000">
              <a:srgbClr val="0E1116">
                <a:alpha val="13000"/>
              </a:srgbClr>
            </a:outerShdw>
          </a:effectLst>
        </p:spPr>
      </p:sp>
      <p:pic>
        <p:nvPicPr>
          <p:cNvPr id="5" name="captura-c_perfil-176" descr="Perfil de Hugo Navarro: quién es, qué ha hecho, si encaja y qué hacer ahora">    </p:cNvPr>
          <p:cNvPicPr>
            <a:picLocks noChangeAspect="1"/>
          </p:cNvPicPr>
          <p:nvPr/>
        </p:nvPicPr>
        <p:blipFill>
          <a:blip r:embed="rId1"/>
          <a:stretch>
            <a:fillRect/>
          </a:stretch>
        </p:blipFill>
        <p:spPr>
          <a:xfrm>
            <a:off x="548640" y="1508760"/>
            <a:ext cx="6949440" cy="3293430"/>
          </a:xfrm>
          <a:prstGeom prst="rect">
            <a:avLst/>
          </a:prstGeom>
        </p:spPr>
      </p:pic>
      <p:sp>
        <p:nvSpPr>
          <p:cNvPr id="6" name="dato-fondo-177"/>
          <p:cNvSpPr/>
          <p:nvPr/>
        </p:nvSpPr>
        <p:spPr>
          <a:xfrm>
            <a:off x="548640" y="5122230"/>
            <a:ext cx="2457907" cy="329184"/>
          </a:xfrm>
          <a:prstGeom prst="roundRect">
            <a:avLst>
              <a:gd name="adj" fmla="val 50000"/>
            </a:avLst>
          </a:prstGeom>
          <a:solidFill>
            <a:schemeClr val="bg1"/>
          </a:solidFill>
          <a:ln w="9525">
            <a:solidFill>
              <a:srgbClr val="E3E3DD"/>
            </a:solidFill>
            <a:prstDash val="solid"/>
          </a:ln>
        </p:spPr>
      </p:sp>
      <p:sp>
        <p:nvSpPr>
          <p:cNvPr id="7" name="texto-178"/>
          <p:cNvSpPr txBox="1"/>
          <p:nvPr/>
        </p:nvSpPr>
        <p:spPr>
          <a:xfrm>
            <a:off x="548640" y="5122230"/>
            <a:ext cx="2457907" cy="329184"/>
          </a:xfrm>
          <a:prstGeom prst="rect">
            <a:avLst/>
          </a:prstGeom>
          <a:noFill/>
          <a:ln/>
        </p:spPr>
        <p:txBody>
          <a:bodyPr wrap="square" lIns="0" tIns="0" rIns="0" bIns="0" rtlCol="0" anchor="ctr"/>
          <a:lstStyle/>
          <a:p>
            <a:pPr algn="ctr" indent="0" marL="0">
              <a:buNone/>
            </a:pPr>
            <a:r>
              <a:rPr lang="en-US" sz="1300" dirty="0">
                <a:solidFill>
                  <a:schemeClr val="tx1"/>
                </a:solidFill>
              </a:rPr>
              <a:t>Trayectoria por temporadas</a:t>
            </a:r>
            <a:endParaRPr lang="en-US" sz="1300" dirty="0"/>
          </a:p>
        </p:txBody>
      </p:sp>
      <p:sp>
        <p:nvSpPr>
          <p:cNvPr id="8" name="dato-fondo-179"/>
          <p:cNvSpPr/>
          <p:nvPr/>
        </p:nvSpPr>
        <p:spPr>
          <a:xfrm>
            <a:off x="3116275" y="5122230"/>
            <a:ext cx="2618842" cy="329184"/>
          </a:xfrm>
          <a:prstGeom prst="roundRect">
            <a:avLst>
              <a:gd name="adj" fmla="val 50000"/>
            </a:avLst>
          </a:prstGeom>
          <a:solidFill>
            <a:schemeClr val="bg1"/>
          </a:solidFill>
          <a:ln w="9525">
            <a:solidFill>
              <a:srgbClr val="E3E3DD"/>
            </a:solidFill>
            <a:prstDash val="solid"/>
          </a:ln>
        </p:spPr>
      </p:sp>
      <p:sp>
        <p:nvSpPr>
          <p:cNvPr id="9" name="texto-180"/>
          <p:cNvSpPr txBox="1"/>
          <p:nvPr/>
        </p:nvSpPr>
        <p:spPr>
          <a:xfrm>
            <a:off x="3116275" y="5122230"/>
            <a:ext cx="2618842" cy="329184"/>
          </a:xfrm>
          <a:prstGeom prst="rect">
            <a:avLst/>
          </a:prstGeom>
          <a:noFill/>
          <a:ln/>
        </p:spPr>
        <p:txBody>
          <a:bodyPr wrap="square" lIns="0" tIns="0" rIns="0" bIns="0" rtlCol="0" anchor="ctr"/>
          <a:lstStyle/>
          <a:p>
            <a:pPr algn="ctr" indent="0" marL="0">
              <a:buNone/>
            </a:pPr>
            <a:r>
              <a:rPr lang="en-US" sz="1300" dirty="0">
                <a:solidFill>
                  <a:schemeClr val="tx1"/>
                </a:solidFill>
              </a:rPr>
              <a:t>Posiciones y características</a:t>
            </a:r>
            <a:endParaRPr lang="en-US" sz="1300" dirty="0"/>
          </a:p>
        </p:txBody>
      </p:sp>
      <p:sp>
        <p:nvSpPr>
          <p:cNvPr id="10" name="dato-fondo-181"/>
          <p:cNvSpPr/>
          <p:nvPr/>
        </p:nvSpPr>
        <p:spPr>
          <a:xfrm>
            <a:off x="548640" y="5561142"/>
            <a:ext cx="2296973" cy="329184"/>
          </a:xfrm>
          <a:prstGeom prst="roundRect">
            <a:avLst>
              <a:gd name="adj" fmla="val 50000"/>
            </a:avLst>
          </a:prstGeom>
          <a:solidFill>
            <a:schemeClr val="bg1"/>
          </a:solidFill>
          <a:ln w="9525">
            <a:solidFill>
              <a:srgbClr val="E3E3DD"/>
            </a:solidFill>
            <a:prstDash val="solid"/>
          </a:ln>
        </p:spPr>
      </p:sp>
      <p:sp>
        <p:nvSpPr>
          <p:cNvPr id="11" name="texto-182"/>
          <p:cNvSpPr txBox="1"/>
          <p:nvPr/>
        </p:nvSpPr>
        <p:spPr>
          <a:xfrm>
            <a:off x="548640" y="5561142"/>
            <a:ext cx="2296973" cy="329184"/>
          </a:xfrm>
          <a:prstGeom prst="rect">
            <a:avLst/>
          </a:prstGeom>
          <a:noFill/>
          <a:ln/>
        </p:spPr>
        <p:txBody>
          <a:bodyPr wrap="square" lIns="0" tIns="0" rIns="0" bIns="0" rtlCol="0" anchor="ctr"/>
          <a:lstStyle/>
          <a:p>
            <a:pPr algn="ctr" indent="0" marL="0">
              <a:buNone/>
            </a:pPr>
            <a:r>
              <a:rPr lang="en-US" sz="1300" dirty="0">
                <a:solidFill>
                  <a:schemeClr val="tx1"/>
                </a:solidFill>
              </a:rPr>
              <a:t>Estadísticas disponibles</a:t>
            </a:r>
            <a:endParaRPr lang="en-US" sz="1300" dirty="0"/>
          </a:p>
        </p:txBody>
      </p:sp>
      <p:sp>
        <p:nvSpPr>
          <p:cNvPr id="12" name="dato-fondo-183"/>
          <p:cNvSpPr/>
          <p:nvPr/>
        </p:nvSpPr>
        <p:spPr>
          <a:xfrm>
            <a:off x="2955341" y="5561142"/>
            <a:ext cx="1733702" cy="329184"/>
          </a:xfrm>
          <a:prstGeom prst="roundRect">
            <a:avLst>
              <a:gd name="adj" fmla="val 50000"/>
            </a:avLst>
          </a:prstGeom>
          <a:solidFill>
            <a:schemeClr val="bg1"/>
          </a:solidFill>
          <a:ln w="9525">
            <a:solidFill>
              <a:srgbClr val="E3E3DD"/>
            </a:solidFill>
            <a:prstDash val="solid"/>
          </a:ln>
        </p:spPr>
      </p:sp>
      <p:sp>
        <p:nvSpPr>
          <p:cNvPr id="13" name="texto-184"/>
          <p:cNvSpPr txBox="1"/>
          <p:nvPr/>
        </p:nvSpPr>
        <p:spPr>
          <a:xfrm>
            <a:off x="2955341" y="5561142"/>
            <a:ext cx="1733702" cy="329184"/>
          </a:xfrm>
          <a:prstGeom prst="rect">
            <a:avLst/>
          </a:prstGeom>
          <a:noFill/>
          <a:ln/>
        </p:spPr>
        <p:txBody>
          <a:bodyPr wrap="square" lIns="0" tIns="0" rIns="0" bIns="0" rtlCol="0" anchor="ctr"/>
          <a:lstStyle/>
          <a:p>
            <a:pPr algn="ctr" indent="0" marL="0">
              <a:buNone/>
            </a:pPr>
            <a:r>
              <a:rPr lang="en-US" sz="1300" dirty="0">
                <a:solidFill>
                  <a:schemeClr val="tx1"/>
                </a:solidFill>
              </a:rPr>
              <a:t>Vídeos destacados</a:t>
            </a:r>
            <a:endParaRPr lang="en-US" sz="1300" dirty="0"/>
          </a:p>
        </p:txBody>
      </p:sp>
      <p:sp>
        <p:nvSpPr>
          <p:cNvPr id="14" name="dato-fondo-185"/>
          <p:cNvSpPr/>
          <p:nvPr/>
        </p:nvSpPr>
        <p:spPr>
          <a:xfrm>
            <a:off x="4798771" y="5561142"/>
            <a:ext cx="2377440" cy="329184"/>
          </a:xfrm>
          <a:prstGeom prst="roundRect">
            <a:avLst>
              <a:gd name="adj" fmla="val 50000"/>
            </a:avLst>
          </a:prstGeom>
          <a:solidFill>
            <a:schemeClr val="bg1"/>
          </a:solidFill>
          <a:ln w="9525">
            <a:solidFill>
              <a:srgbClr val="E3E3DD"/>
            </a:solidFill>
            <a:prstDash val="solid"/>
          </a:ln>
        </p:spPr>
      </p:sp>
      <p:sp>
        <p:nvSpPr>
          <p:cNvPr id="15" name="texto-186"/>
          <p:cNvSpPr txBox="1"/>
          <p:nvPr/>
        </p:nvSpPr>
        <p:spPr>
          <a:xfrm>
            <a:off x="4798771" y="5561142"/>
            <a:ext cx="2377440" cy="329184"/>
          </a:xfrm>
          <a:prstGeom prst="rect">
            <a:avLst/>
          </a:prstGeom>
          <a:noFill/>
          <a:ln/>
        </p:spPr>
        <p:txBody>
          <a:bodyPr wrap="square" lIns="0" tIns="0" rIns="0" bIns="0" rtlCol="0" anchor="ctr"/>
          <a:lstStyle/>
          <a:p>
            <a:pPr algn="ctr" indent="0" marL="0">
              <a:buNone/>
            </a:pPr>
            <a:r>
              <a:rPr lang="en-US" sz="1300" dirty="0">
                <a:solidFill>
                  <a:schemeClr val="tx1"/>
                </a:solidFill>
              </a:rPr>
              <a:t>Encaje con la oportunidad</a:t>
            </a:r>
            <a:endParaRPr lang="en-US" sz="1300" dirty="0"/>
          </a:p>
        </p:txBody>
      </p:sp>
      <p:sp>
        <p:nvSpPr>
          <p:cNvPr id="16" name="texto-187"/>
          <p:cNvSpPr txBox="1"/>
          <p:nvPr/>
        </p:nvSpPr>
        <p:spPr>
          <a:xfrm>
            <a:off x="7863840" y="1508760"/>
            <a:ext cx="3779215" cy="365760"/>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No todos los datos valen lo mismo</a:t>
            </a:r>
            <a:endParaRPr lang="en-US" sz="1800" dirty="0"/>
          </a:p>
        </p:txBody>
      </p:sp>
      <p:sp>
        <p:nvSpPr>
          <p:cNvPr id="17" name="icono-fondo-188"/>
          <p:cNvSpPr/>
          <p:nvPr/>
        </p:nvSpPr>
        <p:spPr>
          <a:xfrm>
            <a:off x="7863840" y="2011680"/>
            <a:ext cx="502920" cy="502920"/>
          </a:xfrm>
          <a:prstGeom prst="ellipse">
            <a:avLst/>
          </a:prstGeom>
          <a:solidFill>
            <a:schemeClr val="accent1">
              <a:alpha val="15000"/>
            </a:schemeClr>
          </a:solidFill>
          <a:ln/>
        </p:spPr>
      </p:sp>
      <p:pic>
        <p:nvPicPr>
          <p:cNvPr id="18" name="icono-verified-189" descr="/tmp/claude-0/-home-user-Scoutup/a47adca6-2afe-5531-9b19-f69196bacfbf/scratchpad/deck/img/i_verified.png">    </p:cNvPr>
          <p:cNvPicPr>
            <a:picLocks noChangeAspect="1"/>
          </p:cNvPicPr>
          <p:nvPr/>
        </p:nvPicPr>
        <p:blipFill>
          <a:blip r:embed="rId2"/>
          <a:stretch>
            <a:fillRect/>
          </a:stretch>
        </p:blipFill>
        <p:spPr>
          <a:xfrm>
            <a:off x="7989570" y="2137410"/>
            <a:ext cx="251460" cy="251460"/>
          </a:xfrm>
          <a:prstGeom prst="rect">
            <a:avLst/>
          </a:prstGeom>
        </p:spPr>
      </p:pic>
      <p:sp>
        <p:nvSpPr>
          <p:cNvPr id="19" name="texto-190"/>
          <p:cNvSpPr txBox="1"/>
          <p:nvPr/>
        </p:nvSpPr>
        <p:spPr>
          <a:xfrm>
            <a:off x="8522208" y="2011680"/>
            <a:ext cx="3120847" cy="292608"/>
          </a:xfrm>
          <a:prstGeom prst="rect">
            <a:avLst/>
          </a:prstGeom>
          <a:noFill/>
          <a:ln/>
        </p:spPr>
        <p:txBody>
          <a:bodyPr wrap="square" lIns="0" tIns="0" rIns="0" bIns="0" rtlCol="0" anchor="t"/>
          <a:lstStyle/>
          <a:p>
            <a:pPr indent="0" marL="0">
              <a:buNone/>
            </a:pPr>
            <a:r>
              <a:rPr lang="en-US" sz="1500" b="1" dirty="0">
                <a:solidFill>
                  <a:schemeClr val="tx1"/>
                </a:solidFill>
              </a:rPr>
              <a:t>Verificado</a:t>
            </a:r>
            <a:endParaRPr lang="en-US" sz="1500" dirty="0"/>
          </a:p>
        </p:txBody>
      </p:sp>
      <p:sp>
        <p:nvSpPr>
          <p:cNvPr id="20" name="texto-191"/>
          <p:cNvSpPr txBox="1"/>
          <p:nvPr/>
        </p:nvSpPr>
        <p:spPr>
          <a:xfrm>
            <a:off x="8522208" y="2304288"/>
            <a:ext cx="3120847" cy="685800"/>
          </a:xfrm>
          <a:prstGeom prst="rect">
            <a:avLst/>
          </a:prstGeom>
          <a:noFill/>
          <a:ln/>
        </p:spPr>
        <p:txBody>
          <a:bodyPr wrap="square" lIns="0" tIns="0" rIns="0" bIns="0" rtlCol="0" anchor="t"/>
          <a:lstStyle/>
          <a:p>
            <a:pPr indent="0" marL="0">
              <a:buNone/>
            </a:pPr>
            <a:r>
              <a:rPr lang="en-US" sz="1400" dirty="0">
                <a:solidFill>
                  <a:schemeClr val="accent6"/>
                </a:solidFill>
              </a:rPr>
              <a:t>Confirmado por el club de origen (en la demo, simulado; no es oficial).</a:t>
            </a:r>
            <a:endParaRPr lang="en-US" sz="1400" dirty="0"/>
          </a:p>
        </p:txBody>
      </p:sp>
      <p:sp>
        <p:nvSpPr>
          <p:cNvPr id="21" name="icono-fondo-192"/>
          <p:cNvSpPr/>
          <p:nvPr/>
        </p:nvSpPr>
        <p:spPr>
          <a:xfrm>
            <a:off x="7863840" y="2999232"/>
            <a:ext cx="502920" cy="502920"/>
          </a:xfrm>
          <a:prstGeom prst="ellipse">
            <a:avLst/>
          </a:prstGeom>
          <a:solidFill>
            <a:schemeClr val="accent3">
              <a:alpha val="15000"/>
            </a:schemeClr>
          </a:solidFill>
          <a:ln/>
        </p:spPr>
      </p:sp>
      <p:pic>
        <p:nvPicPr>
          <p:cNvPr id="22" name="icono-declared-193" descr="/tmp/claude-0/-home-user-Scoutup/a47adca6-2afe-5531-9b19-f69196bacfbf/scratchpad/deck/img/i_declared.png">    </p:cNvPr>
          <p:cNvPicPr>
            <a:picLocks noChangeAspect="1"/>
          </p:cNvPicPr>
          <p:nvPr/>
        </p:nvPicPr>
        <p:blipFill>
          <a:blip r:embed="rId3"/>
          <a:stretch>
            <a:fillRect/>
          </a:stretch>
        </p:blipFill>
        <p:spPr>
          <a:xfrm>
            <a:off x="7989570" y="3124962"/>
            <a:ext cx="251460" cy="251460"/>
          </a:xfrm>
          <a:prstGeom prst="rect">
            <a:avLst/>
          </a:prstGeom>
        </p:spPr>
      </p:pic>
      <p:sp>
        <p:nvSpPr>
          <p:cNvPr id="23" name="texto-194"/>
          <p:cNvSpPr txBox="1"/>
          <p:nvPr/>
        </p:nvSpPr>
        <p:spPr>
          <a:xfrm>
            <a:off x="8522208" y="2999232"/>
            <a:ext cx="3120847" cy="292608"/>
          </a:xfrm>
          <a:prstGeom prst="rect">
            <a:avLst/>
          </a:prstGeom>
          <a:noFill/>
          <a:ln/>
        </p:spPr>
        <p:txBody>
          <a:bodyPr wrap="square" lIns="0" tIns="0" rIns="0" bIns="0" rtlCol="0" anchor="t"/>
          <a:lstStyle/>
          <a:p>
            <a:pPr indent="0" marL="0">
              <a:buNone/>
            </a:pPr>
            <a:r>
              <a:rPr lang="en-US" sz="1500" b="1" dirty="0">
                <a:solidFill>
                  <a:schemeClr val="tx1"/>
                </a:solidFill>
              </a:rPr>
              <a:t>Declarado por el jugador</a:t>
            </a:r>
            <a:endParaRPr lang="en-US" sz="1500" dirty="0"/>
          </a:p>
        </p:txBody>
      </p:sp>
      <p:sp>
        <p:nvSpPr>
          <p:cNvPr id="24" name="texto-195"/>
          <p:cNvSpPr txBox="1"/>
          <p:nvPr/>
        </p:nvSpPr>
        <p:spPr>
          <a:xfrm>
            <a:off x="8522208" y="3291840"/>
            <a:ext cx="3120847" cy="685800"/>
          </a:xfrm>
          <a:prstGeom prst="rect">
            <a:avLst/>
          </a:prstGeom>
          <a:noFill/>
          <a:ln/>
        </p:spPr>
        <p:txBody>
          <a:bodyPr wrap="square" lIns="0" tIns="0" rIns="0" bIns="0" rtlCol="0" anchor="t"/>
          <a:lstStyle/>
          <a:p>
            <a:pPr indent="0" marL="0">
              <a:buNone/>
            </a:pPr>
            <a:r>
              <a:rPr lang="en-US" sz="1400" dirty="0">
                <a:solidFill>
                  <a:schemeClr val="accent6"/>
                </a:solidFill>
              </a:rPr>
              <a:t>Lo aporta el propio jugador o su familia.</a:t>
            </a:r>
            <a:endParaRPr lang="en-US" sz="1400" dirty="0"/>
          </a:p>
        </p:txBody>
      </p:sp>
      <p:sp>
        <p:nvSpPr>
          <p:cNvPr id="25" name="icono-fondo-196"/>
          <p:cNvSpPr/>
          <p:nvPr/>
        </p:nvSpPr>
        <p:spPr>
          <a:xfrm>
            <a:off x="7863840" y="3986784"/>
            <a:ext cx="502920" cy="502920"/>
          </a:xfrm>
          <a:prstGeom prst="ellipse">
            <a:avLst/>
          </a:prstGeom>
          <a:solidFill>
            <a:schemeClr val="accent4">
              <a:alpha val="15000"/>
            </a:schemeClr>
          </a:solidFill>
          <a:ln/>
        </p:spPr>
      </p:sp>
      <p:pic>
        <p:nvPicPr>
          <p:cNvPr id="26" name="icono-clubeval-197" descr="/tmp/claude-0/-home-user-Scoutup/a47adca6-2afe-5531-9b19-f69196bacfbf/scratchpad/deck/img/i_clubeval.png">    </p:cNvPr>
          <p:cNvPicPr>
            <a:picLocks noChangeAspect="1"/>
          </p:cNvPicPr>
          <p:nvPr/>
        </p:nvPicPr>
        <p:blipFill>
          <a:blip r:embed="rId4"/>
          <a:stretch>
            <a:fillRect/>
          </a:stretch>
        </p:blipFill>
        <p:spPr>
          <a:xfrm>
            <a:off x="7989570" y="4112514"/>
            <a:ext cx="251460" cy="251460"/>
          </a:xfrm>
          <a:prstGeom prst="rect">
            <a:avLst/>
          </a:prstGeom>
        </p:spPr>
      </p:pic>
      <p:sp>
        <p:nvSpPr>
          <p:cNvPr id="27" name="texto-198"/>
          <p:cNvSpPr txBox="1"/>
          <p:nvPr/>
        </p:nvSpPr>
        <p:spPr>
          <a:xfrm>
            <a:off x="8522208" y="3986784"/>
            <a:ext cx="3120847" cy="292608"/>
          </a:xfrm>
          <a:prstGeom prst="rect">
            <a:avLst/>
          </a:prstGeom>
          <a:noFill/>
          <a:ln/>
        </p:spPr>
        <p:txBody>
          <a:bodyPr wrap="square" lIns="0" tIns="0" rIns="0" bIns="0" rtlCol="0" anchor="t"/>
          <a:lstStyle/>
          <a:p>
            <a:pPr indent="0" marL="0">
              <a:buNone/>
            </a:pPr>
            <a:r>
              <a:rPr lang="en-US" sz="1500" b="1" dirty="0">
                <a:solidFill>
                  <a:schemeClr val="tx1"/>
                </a:solidFill>
              </a:rPr>
              <a:t>Evaluación del club</a:t>
            </a:r>
            <a:endParaRPr lang="en-US" sz="1500" dirty="0"/>
          </a:p>
        </p:txBody>
      </p:sp>
      <p:sp>
        <p:nvSpPr>
          <p:cNvPr id="28" name="texto-199"/>
          <p:cNvSpPr txBox="1"/>
          <p:nvPr/>
        </p:nvSpPr>
        <p:spPr>
          <a:xfrm>
            <a:off x="8522208" y="4279392"/>
            <a:ext cx="3120847" cy="685800"/>
          </a:xfrm>
          <a:prstGeom prst="rect">
            <a:avLst/>
          </a:prstGeom>
          <a:noFill/>
          <a:ln/>
        </p:spPr>
        <p:txBody>
          <a:bodyPr wrap="square" lIns="0" tIns="0" rIns="0" bIns="0" rtlCol="0" anchor="t"/>
          <a:lstStyle/>
          <a:p>
            <a:pPr indent="0" marL="0">
              <a:buNone/>
            </a:pPr>
            <a:r>
              <a:rPr lang="en-US" sz="1400" dirty="0">
                <a:solidFill>
                  <a:schemeClr val="accent6"/>
                </a:solidFill>
              </a:rPr>
              <a:t>Valoraciones privadas de vuestro staff. El jugador nunca las ve.</a:t>
            </a:r>
            <a:endParaRPr lang="en-US" sz="1400" dirty="0"/>
          </a:p>
        </p:txBody>
      </p:sp>
      <p:sp>
        <p:nvSpPr>
          <p:cNvPr id="29" name="tarjeta-200"/>
          <p:cNvSpPr/>
          <p:nvPr/>
        </p:nvSpPr>
        <p:spPr>
          <a:xfrm>
            <a:off x="7863840" y="5120640"/>
            <a:ext cx="3779215" cy="1051560"/>
          </a:xfrm>
          <a:prstGeom prst="roundRect">
            <a:avLst>
              <a:gd name="adj" fmla="val 12174"/>
            </a:avLst>
          </a:prstGeom>
          <a:solidFill>
            <a:schemeClr val="accent5">
              <a:alpha val="8000"/>
            </a:schemeClr>
          </a:solidFill>
          <a:ln/>
        </p:spPr>
      </p:sp>
      <p:sp>
        <p:nvSpPr>
          <p:cNvPr id="30" name="texto-201"/>
          <p:cNvSpPr txBox="1"/>
          <p:nvPr/>
        </p:nvSpPr>
        <p:spPr>
          <a:xfrm>
            <a:off x="8046720" y="5212080"/>
            <a:ext cx="3413455" cy="868680"/>
          </a:xfrm>
          <a:prstGeom prst="rect">
            <a:avLst/>
          </a:prstGeom>
          <a:noFill/>
          <a:ln/>
        </p:spPr>
        <p:txBody>
          <a:bodyPr wrap="square" lIns="0" tIns="0" rIns="0" bIns="0" rtlCol="0" anchor="ctr"/>
          <a:lstStyle/>
          <a:p>
            <a:pPr indent="0" marL="0">
              <a:buNone/>
            </a:pPr>
            <a:r>
              <a:rPr lang="en-US" sz="1400" b="1" dirty="0">
                <a:solidFill>
                  <a:schemeClr val="tx1"/>
                </a:solidFill>
              </a:rPr>
              <a:t>Resultados y clasificaciones oficiales: </a:t>
            </a:r>
            <a:pPr indent="0" marL="0">
              <a:buNone/>
            </a:pPr>
            <a:r>
              <a:rPr lang="en-US" sz="1400" dirty="0">
                <a:solidFill>
                  <a:schemeClr val="tx1"/>
                </a:solidFill>
              </a:rPr>
              <a:t>la idea es enlazar a la FCF, no copiarlos. Pendiente de validar con la FCF.</a:t>
            </a:r>
            <a:endParaRPr lang="en-US" sz="1400" dirty="0"/>
          </a:p>
        </p:txBody>
      </p:sp>
      <p:sp>
        <p:nvSpPr>
          <p:cNvPr id="25" name="Slide Number Placeholder 0"/>
          <p:cNvSpPr>
            <a:spLocks noGrp="1"/>
          </p:cNvSpPr>
          <p:nvPr>
            <p:ph type="sldNum" sz="quarter" idx="4294967295"/>
          </p:nvPr>
        </p:nvSpPr>
        <p:spPr>
          <a:xfrm>
            <a:off x="11185855" y="6382512"/>
            <a:ext cx="457200" cy="237744"/>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686800" cy="274320"/>
          </a:xfrm>
          <a:prstGeom prst="rect">
            <a:avLst/>
          </a:prstGeom>
          <a:noFill/>
          <a:ln/>
        </p:spPr>
        <p:txBody>
          <a:bodyPr wrap="square" lIns="0" tIns="0" rIns="0" bIns="0" rtlCol="0" anchor="ctr"/>
          <a:lstStyle/>
          <a:p>
            <a:pPr indent="0" marL="0">
              <a:buNone/>
            </a:pPr>
            <a:r>
              <a:rPr lang="en-US" sz="1200" b="1" spc="150" kern="0" dirty="0">
                <a:solidFill>
                  <a:schemeClr val="accent2"/>
                </a:solidFill>
              </a:rPr>
              <a:t>ESTRUCTURA Y PERMISOS</a:t>
            </a:r>
            <a:endParaRPr lang="en-US" sz="1200" dirty="0"/>
          </a:p>
        </p:txBody>
      </p:sp>
      <p:sp>
        <p:nvSpPr>
          <p:cNvPr id="3" name="Text 0"/>
          <p:cNvSpPr/>
          <p:nvPr>
            <p:ph idx="101" type="title" hasCustomPrompt="1"/>
          </p:nvPr>
        </p:nvSpPr>
        <p:spPr>
          <a:xfrm>
            <a:off x="548640" y="640080"/>
            <a:ext cx="11094415" cy="685800"/>
          </a:xfrm>
          <a:prstGeom prst="rect">
            <a:avLst/>
          </a:prstGeom>
          <a:noFill/>
          <a:ln/>
        </p:spPr>
        <p:txBody>
          <a:bodyPr wrap="square" lIns="0" tIns="0" rIns="0" bIns="0" rtlCol="0" anchor="t"/>
          <a:lstStyle/>
          <a:p>
            <a:pPr algn="l" indent="0" marL="0">
              <a:buNone/>
            </a:pPr>
            <a:r>
              <a:rPr lang="en-US" sz="3200" b="1" dirty="0">
                <a:solidFill>
                  <a:schemeClr val="tx1"/>
                </a:solidFill>
              </a:rPr>
              <a:t>Adaptada a cómo se organiza cada club</a:t>
            </a:r>
            <a:endParaRPr lang="en-US" sz="3200" dirty="0"/>
          </a:p>
        </p:txBody>
      </p:sp>
      <p:sp>
        <p:nvSpPr>
          <p:cNvPr id="4" name="tarjeta-202"/>
          <p:cNvSpPr/>
          <p:nvPr/>
        </p:nvSpPr>
        <p:spPr>
          <a:xfrm>
            <a:off x="548640" y="1600200"/>
            <a:ext cx="2179320" cy="2926080"/>
          </a:xfrm>
          <a:prstGeom prst="roundRect">
            <a:avLst>
              <a:gd name="adj" fmla="val 5874"/>
            </a:avLst>
          </a:prstGeom>
          <a:solidFill>
            <a:schemeClr val="bg1"/>
          </a:solidFill>
          <a:ln w="9525">
            <a:solidFill>
              <a:srgbClr val="E3E3DD"/>
            </a:solidFill>
            <a:prstDash val="solid"/>
          </a:ln>
          <a:effectLst>
            <a:outerShdw sx="100000" sy="100000" kx="0" ky="0" algn="bl" rotWithShape="0" blurRad="177800" dist="38100" dir="5400000">
              <a:srgbClr val="0E1116">
                <a:alpha val="13000"/>
              </a:srgbClr>
            </a:outerShdw>
          </a:effectLst>
        </p:spPr>
      </p:sp>
      <p:sp>
        <p:nvSpPr>
          <p:cNvPr id="5" name="icono-fondo-203"/>
          <p:cNvSpPr/>
          <p:nvPr/>
        </p:nvSpPr>
        <p:spPr>
          <a:xfrm>
            <a:off x="777240" y="1828800"/>
            <a:ext cx="566928" cy="566928"/>
          </a:xfrm>
          <a:prstGeom prst="ellipse">
            <a:avLst/>
          </a:prstGeom>
          <a:solidFill>
            <a:schemeClr val="accent1">
              <a:alpha val="15000"/>
            </a:schemeClr>
          </a:solidFill>
          <a:ln/>
        </p:spPr>
      </p:sp>
      <p:pic>
        <p:nvPicPr>
          <p:cNvPr id="6" name="icono-director-204" descr="/tmp/claude-0/-home-user-Scoutup/a47adca6-2afe-5531-9b19-f69196bacfbf/scratchpad/deck/img/i_director.png">    </p:cNvPr>
          <p:cNvPicPr>
            <a:picLocks noChangeAspect="1"/>
          </p:cNvPicPr>
          <p:nvPr/>
        </p:nvPicPr>
        <p:blipFill>
          <a:blip r:embed="rId1"/>
          <a:stretch>
            <a:fillRect/>
          </a:stretch>
        </p:blipFill>
        <p:spPr>
          <a:xfrm>
            <a:off x="918972" y="1970532"/>
            <a:ext cx="283464" cy="283464"/>
          </a:xfrm>
          <a:prstGeom prst="rect">
            <a:avLst/>
          </a:prstGeom>
        </p:spPr>
      </p:pic>
      <p:sp>
        <p:nvSpPr>
          <p:cNvPr id="7" name="texto-205"/>
          <p:cNvSpPr txBox="1"/>
          <p:nvPr/>
        </p:nvSpPr>
        <p:spPr>
          <a:xfrm>
            <a:off x="777240" y="2514600"/>
            <a:ext cx="1813560" cy="548640"/>
          </a:xfrm>
          <a:prstGeom prst="rect">
            <a:avLst/>
          </a:prstGeom>
          <a:noFill/>
          <a:ln/>
        </p:spPr>
        <p:txBody>
          <a:bodyPr wrap="square" lIns="0" tIns="0" rIns="0" bIns="0" rtlCol="0" anchor="b"/>
          <a:lstStyle/>
          <a:p>
            <a:pPr indent="0" marL="0">
              <a:buNone/>
            </a:pPr>
            <a:r>
              <a:rPr lang="en-US" sz="1600" b="1" dirty="0">
                <a:solidFill>
                  <a:schemeClr val="tx1"/>
                </a:solidFill>
                <a:latin typeface="Arial" pitchFamily="34" charset="0"/>
                <a:ea typeface="Arial" pitchFamily="34" charset="-122"/>
                <a:cs typeface="Arial" pitchFamily="34" charset="-120"/>
              </a:rPr>
              <a:t>Dirección deportiva</a:t>
            </a:r>
            <a:endParaRPr lang="en-US" sz="1600" dirty="0"/>
          </a:p>
        </p:txBody>
      </p:sp>
      <p:sp>
        <p:nvSpPr>
          <p:cNvPr id="8" name="permisos-206"/>
          <p:cNvSpPr txBox="1"/>
          <p:nvPr/>
        </p:nvSpPr>
        <p:spPr>
          <a:xfrm>
            <a:off x="731520" y="3200400"/>
            <a:ext cx="1859280" cy="1234440"/>
          </a:xfrm>
          <a:prstGeom prst="rect">
            <a:avLst/>
          </a:prstGeom>
          <a:noFill/>
          <a:ln/>
        </p:spPr>
        <p:txBody>
          <a:bodyPr wrap="square" lIns="0" tIns="0" rIns="0" bIns="0" rtlCol="0" anchor="t"/>
          <a:lstStyle/>
          <a:p>
            <a:pPr marL="152400" indent="-152400">
              <a:spcAft>
                <a:spcPts val="400"/>
              </a:spcAft>
              <a:buSzPct val="100000"/>
              <a:buChar char="•"/>
            </a:pPr>
            <a:r>
              <a:rPr lang="en-US" sz="1400" dirty="0">
                <a:solidFill>
                  <a:schemeClr val="accent6"/>
                </a:solidFill>
              </a:rPr>
              <a:t>Visión global del club</a:t>
            </a:r>
            <a:endParaRPr lang="en-US" sz="1400" dirty="0"/>
          </a:p>
          <a:p>
            <a:pPr marL="152400" indent="-152400">
              <a:spcAft>
                <a:spcPts val="400"/>
              </a:spcAft>
              <a:buSzPct val="100000"/>
              <a:buChar char="•"/>
            </a:pPr>
            <a:r>
              <a:rPr lang="en-US" sz="1400" dirty="0">
                <a:solidFill>
                  <a:schemeClr val="accent6"/>
                </a:solidFill>
              </a:rPr>
              <a:t>Usuarios y permisos</a:t>
            </a:r>
            <a:endParaRPr lang="en-US" sz="1400" dirty="0"/>
          </a:p>
          <a:p>
            <a:pPr marL="152400" indent="-152400">
              <a:spcAft>
                <a:spcPts val="400"/>
              </a:spcAft>
              <a:buSzPct val="100000"/>
              <a:buChar char="•"/>
            </a:pPr>
            <a:r>
              <a:rPr lang="en-US" sz="1400" dirty="0">
                <a:solidFill>
                  <a:schemeClr val="accent6"/>
                </a:solidFill>
              </a:rPr>
              <a:t>Todas las oportunidades</a:t>
            </a:r>
            <a:endParaRPr lang="en-US" sz="1400" dirty="0"/>
          </a:p>
        </p:txBody>
      </p:sp>
      <p:sp>
        <p:nvSpPr>
          <p:cNvPr id="9" name="tarjeta-207"/>
          <p:cNvSpPr/>
          <p:nvPr/>
        </p:nvSpPr>
        <p:spPr>
          <a:xfrm>
            <a:off x="3002280" y="1600200"/>
            <a:ext cx="2179320" cy="2926080"/>
          </a:xfrm>
          <a:prstGeom prst="roundRect">
            <a:avLst>
              <a:gd name="adj" fmla="val 5874"/>
            </a:avLst>
          </a:prstGeom>
          <a:solidFill>
            <a:schemeClr val="bg1"/>
          </a:solidFill>
          <a:ln w="9525">
            <a:solidFill>
              <a:srgbClr val="E3E3DD"/>
            </a:solidFill>
            <a:prstDash val="solid"/>
          </a:ln>
          <a:effectLst>
            <a:outerShdw sx="100000" sy="100000" kx="0" ky="0" algn="bl" rotWithShape="0" blurRad="177800" dist="38100" dir="5400000">
              <a:srgbClr val="0E1116">
                <a:alpha val="13000"/>
              </a:srgbClr>
            </a:outerShdw>
          </a:effectLst>
        </p:spPr>
      </p:sp>
      <p:sp>
        <p:nvSpPr>
          <p:cNvPr id="10" name="icono-fondo-208"/>
          <p:cNvSpPr/>
          <p:nvPr/>
        </p:nvSpPr>
        <p:spPr>
          <a:xfrm>
            <a:off x="3230880" y="1828800"/>
            <a:ext cx="566928" cy="566928"/>
          </a:xfrm>
          <a:prstGeom prst="ellipse">
            <a:avLst/>
          </a:prstGeom>
          <a:solidFill>
            <a:schemeClr val="accent1">
              <a:alpha val="15000"/>
            </a:schemeClr>
          </a:solidFill>
          <a:ln/>
        </p:spPr>
      </p:sp>
      <p:pic>
        <p:nvPicPr>
          <p:cNvPr id="11" name="icono-coord-209" descr="/tmp/claude-0/-home-user-Scoutup/a47adca6-2afe-5531-9b19-f69196bacfbf/scratchpad/deck/img/i_coord.png">    </p:cNvPr>
          <p:cNvPicPr>
            <a:picLocks noChangeAspect="1"/>
          </p:cNvPicPr>
          <p:nvPr/>
        </p:nvPicPr>
        <p:blipFill>
          <a:blip r:embed="rId2"/>
          <a:stretch>
            <a:fillRect/>
          </a:stretch>
        </p:blipFill>
        <p:spPr>
          <a:xfrm>
            <a:off x="3372612" y="1970532"/>
            <a:ext cx="283464" cy="283464"/>
          </a:xfrm>
          <a:prstGeom prst="rect">
            <a:avLst/>
          </a:prstGeom>
        </p:spPr>
      </p:pic>
      <p:sp>
        <p:nvSpPr>
          <p:cNvPr id="12" name="texto-210"/>
          <p:cNvSpPr txBox="1"/>
          <p:nvPr/>
        </p:nvSpPr>
        <p:spPr>
          <a:xfrm>
            <a:off x="3230880" y="2514600"/>
            <a:ext cx="1813560" cy="548640"/>
          </a:xfrm>
          <a:prstGeom prst="rect">
            <a:avLst/>
          </a:prstGeom>
          <a:noFill/>
          <a:ln/>
        </p:spPr>
        <p:txBody>
          <a:bodyPr wrap="square" lIns="0" tIns="0" rIns="0" bIns="0" rtlCol="0" anchor="b"/>
          <a:lstStyle/>
          <a:p>
            <a:pPr indent="0" marL="0">
              <a:buNone/>
            </a:pPr>
            <a:r>
              <a:rPr lang="en-US" sz="1600" b="1" dirty="0">
                <a:solidFill>
                  <a:schemeClr val="tx1"/>
                </a:solidFill>
                <a:latin typeface="Arial" pitchFamily="34" charset="0"/>
                <a:ea typeface="Arial" pitchFamily="34" charset="-122"/>
                <a:cs typeface="Arial" pitchFamily="34" charset="-120"/>
              </a:rPr>
              <a:t>Coordinación</a:t>
            </a:r>
            <a:endParaRPr lang="en-US" sz="1600" dirty="0"/>
          </a:p>
        </p:txBody>
      </p:sp>
      <p:sp>
        <p:nvSpPr>
          <p:cNvPr id="13" name="permisos-211"/>
          <p:cNvSpPr txBox="1"/>
          <p:nvPr/>
        </p:nvSpPr>
        <p:spPr>
          <a:xfrm>
            <a:off x="3185160" y="3200400"/>
            <a:ext cx="1859280" cy="1234440"/>
          </a:xfrm>
          <a:prstGeom prst="rect">
            <a:avLst/>
          </a:prstGeom>
          <a:noFill/>
          <a:ln/>
        </p:spPr>
        <p:txBody>
          <a:bodyPr wrap="square" lIns="0" tIns="0" rIns="0" bIns="0" rtlCol="0" anchor="t"/>
          <a:lstStyle/>
          <a:p>
            <a:pPr marL="152400" indent="-152400">
              <a:spcAft>
                <a:spcPts val="400"/>
              </a:spcAft>
              <a:buSzPct val="100000"/>
              <a:buChar char="•"/>
            </a:pPr>
            <a:r>
              <a:rPr lang="en-US" sz="1400" dirty="0">
                <a:solidFill>
                  <a:schemeClr val="accent6"/>
                </a:solidFill>
              </a:rPr>
              <a:t>Todos los equipos</a:t>
            </a:r>
            <a:endParaRPr lang="en-US" sz="1400" dirty="0"/>
          </a:p>
          <a:p>
            <a:pPr marL="152400" indent="-152400">
              <a:spcAft>
                <a:spcPts val="400"/>
              </a:spcAft>
              <a:buSzPct val="100000"/>
              <a:buChar char="•"/>
            </a:pPr>
            <a:r>
              <a:rPr lang="en-US" sz="1400" dirty="0">
                <a:solidFill>
                  <a:schemeClr val="accent6"/>
                </a:solidFill>
              </a:rPr>
              <a:t>Gestiona oportunidades</a:t>
            </a:r>
            <a:endParaRPr lang="en-US" sz="1400" dirty="0"/>
          </a:p>
          <a:p>
            <a:pPr marL="152400" indent="-152400">
              <a:spcAft>
                <a:spcPts val="400"/>
              </a:spcAft>
              <a:buSzPct val="100000"/>
              <a:buChar char="•"/>
            </a:pPr>
            <a:r>
              <a:rPr lang="en-US" sz="1400" dirty="0">
                <a:solidFill>
                  <a:schemeClr val="accent6"/>
                </a:solidFill>
              </a:rPr>
              <a:t>No administra el club</a:t>
            </a:r>
            <a:endParaRPr lang="en-US" sz="1400" dirty="0"/>
          </a:p>
        </p:txBody>
      </p:sp>
      <p:sp>
        <p:nvSpPr>
          <p:cNvPr id="14" name="tarjeta-212"/>
          <p:cNvSpPr/>
          <p:nvPr/>
        </p:nvSpPr>
        <p:spPr>
          <a:xfrm>
            <a:off x="5455920" y="1600200"/>
            <a:ext cx="2179320" cy="2926080"/>
          </a:xfrm>
          <a:prstGeom prst="roundRect">
            <a:avLst>
              <a:gd name="adj" fmla="val 5874"/>
            </a:avLst>
          </a:prstGeom>
          <a:solidFill>
            <a:schemeClr val="bg1"/>
          </a:solidFill>
          <a:ln w="9525">
            <a:solidFill>
              <a:srgbClr val="E3E3DD"/>
            </a:solidFill>
            <a:prstDash val="solid"/>
          </a:ln>
          <a:effectLst>
            <a:outerShdw sx="100000" sy="100000" kx="0" ky="0" algn="bl" rotWithShape="0" blurRad="177800" dist="38100" dir="5400000">
              <a:srgbClr val="0E1116">
                <a:alpha val="13000"/>
              </a:srgbClr>
            </a:outerShdw>
          </a:effectLst>
        </p:spPr>
      </p:sp>
      <p:sp>
        <p:nvSpPr>
          <p:cNvPr id="15" name="icono-fondo-213"/>
          <p:cNvSpPr/>
          <p:nvPr/>
        </p:nvSpPr>
        <p:spPr>
          <a:xfrm>
            <a:off x="5684520" y="1828800"/>
            <a:ext cx="566928" cy="566928"/>
          </a:xfrm>
          <a:prstGeom prst="ellipse">
            <a:avLst/>
          </a:prstGeom>
          <a:solidFill>
            <a:schemeClr val="accent1">
              <a:alpha val="15000"/>
            </a:schemeClr>
          </a:solidFill>
          <a:ln/>
        </p:spPr>
      </p:sp>
      <p:pic>
        <p:nvPicPr>
          <p:cNvPr id="16" name="icono-coach-214" descr="/tmp/claude-0/-home-user-Scoutup/a47adca6-2afe-5531-9b19-f69196bacfbf/scratchpad/deck/img/i_coach.png">    </p:cNvPr>
          <p:cNvPicPr>
            <a:picLocks noChangeAspect="1"/>
          </p:cNvPicPr>
          <p:nvPr/>
        </p:nvPicPr>
        <p:blipFill>
          <a:blip r:embed="rId3"/>
          <a:stretch>
            <a:fillRect/>
          </a:stretch>
        </p:blipFill>
        <p:spPr>
          <a:xfrm>
            <a:off x="5826252" y="1970532"/>
            <a:ext cx="283464" cy="283464"/>
          </a:xfrm>
          <a:prstGeom prst="rect">
            <a:avLst/>
          </a:prstGeom>
        </p:spPr>
      </p:pic>
      <p:sp>
        <p:nvSpPr>
          <p:cNvPr id="17" name="texto-215"/>
          <p:cNvSpPr txBox="1"/>
          <p:nvPr/>
        </p:nvSpPr>
        <p:spPr>
          <a:xfrm>
            <a:off x="5684520" y="2514600"/>
            <a:ext cx="1813560" cy="548640"/>
          </a:xfrm>
          <a:prstGeom prst="rect">
            <a:avLst/>
          </a:prstGeom>
          <a:noFill/>
          <a:ln/>
        </p:spPr>
        <p:txBody>
          <a:bodyPr wrap="square" lIns="0" tIns="0" rIns="0" bIns="0" rtlCol="0" anchor="b"/>
          <a:lstStyle/>
          <a:p>
            <a:pPr indent="0" marL="0">
              <a:buNone/>
            </a:pPr>
            <a:r>
              <a:rPr lang="en-US" sz="1600" b="1" dirty="0">
                <a:solidFill>
                  <a:schemeClr val="tx1"/>
                </a:solidFill>
                <a:latin typeface="Arial" pitchFamily="34" charset="0"/>
                <a:ea typeface="Arial" pitchFamily="34" charset="-122"/>
                <a:cs typeface="Arial" pitchFamily="34" charset="-120"/>
              </a:rPr>
              <a:t>Entrenador</a:t>
            </a:r>
            <a:endParaRPr lang="en-US" sz="1600" dirty="0"/>
          </a:p>
        </p:txBody>
      </p:sp>
      <p:sp>
        <p:nvSpPr>
          <p:cNvPr id="18" name="permisos-216"/>
          <p:cNvSpPr txBox="1"/>
          <p:nvPr/>
        </p:nvSpPr>
        <p:spPr>
          <a:xfrm>
            <a:off x="5638800" y="3200400"/>
            <a:ext cx="1859280" cy="1234440"/>
          </a:xfrm>
          <a:prstGeom prst="rect">
            <a:avLst/>
          </a:prstGeom>
          <a:noFill/>
          <a:ln/>
        </p:spPr>
        <p:txBody>
          <a:bodyPr wrap="square" lIns="0" tIns="0" rIns="0" bIns="0" rtlCol="0" anchor="t"/>
          <a:lstStyle/>
          <a:p>
            <a:pPr marL="152400" indent="-152400">
              <a:spcAft>
                <a:spcPts val="400"/>
              </a:spcAft>
              <a:buSzPct val="100000"/>
              <a:buChar char="•"/>
            </a:pPr>
            <a:r>
              <a:rPr lang="en-US" sz="1400" dirty="0">
                <a:solidFill>
                  <a:schemeClr val="accent6"/>
                </a:solidFill>
              </a:rPr>
              <a:t>Su equipo</a:t>
            </a:r>
            <a:endParaRPr lang="en-US" sz="1400" dirty="0"/>
          </a:p>
          <a:p>
            <a:pPr marL="152400" indent="-152400">
              <a:spcAft>
                <a:spcPts val="400"/>
              </a:spcAft>
              <a:buSzPct val="100000"/>
              <a:buChar char="•"/>
            </a:pPr>
            <a:r>
              <a:rPr lang="en-US" sz="1400" dirty="0">
                <a:solidFill>
                  <a:schemeClr val="accent6"/>
                </a:solidFill>
              </a:rPr>
              <a:t>Seguimiento de su equipo</a:t>
            </a:r>
            <a:endParaRPr lang="en-US" sz="1400" dirty="0"/>
          </a:p>
          <a:p>
            <a:pPr marL="152400" indent="-152400">
              <a:spcAft>
                <a:spcPts val="400"/>
              </a:spcAft>
              <a:buSzPct val="100000"/>
              <a:buChar char="•"/>
            </a:pPr>
            <a:r>
              <a:rPr lang="en-US" sz="1400" dirty="0">
                <a:solidFill>
                  <a:schemeClr val="accent6"/>
                </a:solidFill>
              </a:rPr>
              <a:t>Consulta perfiles</a:t>
            </a:r>
            <a:endParaRPr lang="en-US" sz="1400" dirty="0"/>
          </a:p>
        </p:txBody>
      </p:sp>
      <p:sp>
        <p:nvSpPr>
          <p:cNvPr id="19" name="tarjeta-217"/>
          <p:cNvSpPr/>
          <p:nvPr/>
        </p:nvSpPr>
        <p:spPr>
          <a:xfrm>
            <a:off x="548640" y="4800600"/>
            <a:ext cx="7086600" cy="1234440"/>
          </a:xfrm>
          <a:prstGeom prst="roundRect">
            <a:avLst>
              <a:gd name="adj" fmla="val 10370"/>
            </a:avLst>
          </a:prstGeom>
          <a:solidFill>
            <a:schemeClr val="bg1"/>
          </a:solidFill>
          <a:ln w="9525">
            <a:solidFill>
              <a:srgbClr val="E3E3DD"/>
            </a:solidFill>
            <a:prstDash val="solid"/>
          </a:ln>
          <a:effectLst>
            <a:outerShdw sx="100000" sy="100000" kx="0" ky="0" algn="bl" rotWithShape="0" blurRad="177800" dist="38100" dir="5400000">
              <a:srgbClr val="0E1116">
                <a:alpha val="13000"/>
              </a:srgbClr>
            </a:outerShdw>
          </a:effectLst>
        </p:spPr>
      </p:sp>
      <p:sp>
        <p:nvSpPr>
          <p:cNvPr id="20" name="icono-fondo-218"/>
          <p:cNvSpPr/>
          <p:nvPr/>
        </p:nvSpPr>
        <p:spPr>
          <a:xfrm>
            <a:off x="777240" y="5029200"/>
            <a:ext cx="566928" cy="566928"/>
          </a:xfrm>
          <a:prstGeom prst="ellipse">
            <a:avLst/>
          </a:prstGeom>
          <a:solidFill>
            <a:schemeClr val="accent1">
              <a:alpha val="15000"/>
            </a:schemeClr>
          </a:solidFill>
          <a:ln/>
        </p:spPr>
      </p:sp>
      <p:pic>
        <p:nvPicPr>
          <p:cNvPr id="21" name="icono-teams-219" descr="/tmp/claude-0/-home-user-Scoutup/a47adca6-2afe-5531-9b19-f69196bacfbf/scratchpad/deck/img/i_teams.png">    </p:cNvPr>
          <p:cNvPicPr>
            <a:picLocks noChangeAspect="1"/>
          </p:cNvPicPr>
          <p:nvPr/>
        </p:nvPicPr>
        <p:blipFill>
          <a:blip r:embed="rId4"/>
          <a:stretch>
            <a:fillRect/>
          </a:stretch>
        </p:blipFill>
        <p:spPr>
          <a:xfrm>
            <a:off x="918972" y="5170932"/>
            <a:ext cx="283464" cy="283464"/>
          </a:xfrm>
          <a:prstGeom prst="rect">
            <a:avLst/>
          </a:prstGeom>
        </p:spPr>
      </p:pic>
      <p:sp>
        <p:nvSpPr>
          <p:cNvPr id="22" name="texto-220"/>
          <p:cNvSpPr txBox="1"/>
          <p:nvPr/>
        </p:nvSpPr>
        <p:spPr>
          <a:xfrm>
            <a:off x="1508760" y="5001768"/>
            <a:ext cx="5897880" cy="329184"/>
          </a:xfrm>
          <a:prstGeom prst="rect">
            <a:avLst/>
          </a:prstGeom>
          <a:noFill/>
          <a:ln/>
        </p:spPr>
        <p:txBody>
          <a:bodyPr wrap="square" lIns="0" tIns="0" rIns="0" bIns="0" rtlCol="0" anchor="t"/>
          <a:lstStyle/>
          <a:p>
            <a:pPr indent="0" marL="0">
              <a:buNone/>
            </a:pPr>
            <a:r>
              <a:rPr lang="en-US" sz="1600" b="1" dirty="0">
                <a:solidFill>
                  <a:schemeClr val="tx1"/>
                </a:solidFill>
                <a:latin typeface="Arial" pitchFamily="34" charset="0"/>
                <a:ea typeface="Arial" pitchFamily="34" charset="-122"/>
                <a:cs typeface="Arial" pitchFamily="34" charset="-120"/>
              </a:rPr>
              <a:t>Equipos, categorías y temporadas</a:t>
            </a:r>
            <a:endParaRPr lang="en-US" sz="1600" dirty="0"/>
          </a:p>
        </p:txBody>
      </p:sp>
      <p:sp>
        <p:nvSpPr>
          <p:cNvPr id="23" name="texto-221"/>
          <p:cNvSpPr txBox="1"/>
          <p:nvPr/>
        </p:nvSpPr>
        <p:spPr>
          <a:xfrm>
            <a:off x="1508760" y="5349240"/>
            <a:ext cx="5897880" cy="731520"/>
          </a:xfrm>
          <a:prstGeom prst="rect">
            <a:avLst/>
          </a:prstGeom>
          <a:noFill/>
          <a:ln/>
        </p:spPr>
        <p:txBody>
          <a:bodyPr wrap="square" lIns="0" tIns="0" rIns="0" bIns="0" rtlCol="0" anchor="t"/>
          <a:lstStyle/>
          <a:p>
            <a:pPr indent="0" marL="0">
              <a:buNone/>
            </a:pPr>
            <a:r>
              <a:rPr lang="en-US" sz="1400" dirty="0">
                <a:solidFill>
                  <a:schemeClr val="accent6"/>
                </a:solidFill>
              </a:rPr>
              <a:t>Cada equipo con su plantilla por temporada. El historial sigue en el club aunque cambie el responsable.</a:t>
            </a:r>
            <a:endParaRPr lang="en-US" sz="1400" dirty="0"/>
          </a:p>
        </p:txBody>
      </p:sp>
      <p:sp>
        <p:nvSpPr>
          <p:cNvPr id="24" name="marco-captura-222"/>
          <p:cNvSpPr/>
          <p:nvPr/>
        </p:nvSpPr>
        <p:spPr>
          <a:xfrm>
            <a:off x="8001000" y="1600200"/>
            <a:ext cx="3642055" cy="3395970"/>
          </a:xfrm>
          <a:prstGeom prst="roundRect">
            <a:avLst>
              <a:gd name="adj" fmla="val 2693"/>
            </a:avLst>
          </a:prstGeom>
          <a:solidFill>
            <a:schemeClr val="bg1"/>
          </a:solidFill>
          <a:ln w="9525">
            <a:solidFill>
              <a:srgbClr val="E3E3DD"/>
            </a:solidFill>
            <a:prstDash val="solid"/>
          </a:ln>
          <a:effectLst>
            <a:outerShdw sx="100000" sy="100000" kx="0" ky="0" algn="bl" rotWithShape="0" blurRad="177800" dist="38100" dir="5400000">
              <a:srgbClr val="0E1116">
                <a:alpha val="13000"/>
              </a:srgbClr>
            </a:outerShdw>
          </a:effectLst>
        </p:spPr>
      </p:sp>
      <p:pic>
        <p:nvPicPr>
          <p:cNvPr id="25" name="captura-c_config-223" descr="Usuarios y permisos: roles por persona y matriz de permisos">    </p:cNvPr>
          <p:cNvPicPr>
            <a:picLocks noChangeAspect="1"/>
          </p:cNvPicPr>
          <p:nvPr/>
        </p:nvPicPr>
        <p:blipFill>
          <a:blip r:embed="rId5"/>
          <a:stretch>
            <a:fillRect/>
          </a:stretch>
        </p:blipFill>
        <p:spPr>
          <a:xfrm>
            <a:off x="8001000" y="1600200"/>
            <a:ext cx="3642055" cy="3395970"/>
          </a:xfrm>
          <a:prstGeom prst="rect">
            <a:avLst/>
          </a:prstGeom>
        </p:spPr>
      </p:pic>
      <p:sp>
        <p:nvSpPr>
          <p:cNvPr id="26" name="etiqueta-fondo-224"/>
          <p:cNvSpPr/>
          <p:nvPr/>
        </p:nvSpPr>
        <p:spPr>
          <a:xfrm>
            <a:off x="8001000" y="5179050"/>
            <a:ext cx="1906524" cy="274320"/>
          </a:xfrm>
          <a:prstGeom prst="roundRect">
            <a:avLst>
              <a:gd name="adj" fmla="val 50000"/>
            </a:avLst>
          </a:prstGeom>
          <a:solidFill>
            <a:schemeClr val="accent1">
              <a:alpha val="14000"/>
            </a:schemeClr>
          </a:solidFill>
          <a:ln/>
        </p:spPr>
      </p:sp>
      <p:sp>
        <p:nvSpPr>
          <p:cNvPr id="27" name="etiqueta-225"/>
          <p:cNvSpPr txBox="1"/>
          <p:nvPr/>
        </p:nvSpPr>
        <p:spPr>
          <a:xfrm>
            <a:off x="8001000" y="5179050"/>
            <a:ext cx="1906524" cy="274320"/>
          </a:xfrm>
          <a:prstGeom prst="rect">
            <a:avLst/>
          </a:prstGeom>
          <a:noFill/>
          <a:ln/>
        </p:spPr>
        <p:txBody>
          <a:bodyPr wrap="square" lIns="0" tIns="0" rIns="0" bIns="0" rtlCol="0" anchor="ctr"/>
          <a:lstStyle/>
          <a:p>
            <a:pPr algn="ctr" indent="0" marL="0">
              <a:buNone/>
            </a:pPr>
            <a:r>
              <a:rPr lang="en-US" sz="1100" b="1" dirty="0">
                <a:solidFill>
                  <a:schemeClr val="accent2"/>
                </a:solidFill>
              </a:rPr>
              <a:t>Disponible en la demo</a:t>
            </a:r>
            <a:endParaRPr lang="en-US" sz="1100" dirty="0"/>
          </a:p>
        </p:txBody>
      </p:sp>
      <p:sp>
        <p:nvSpPr>
          <p:cNvPr id="28" name="texto-226"/>
          <p:cNvSpPr txBox="1"/>
          <p:nvPr/>
        </p:nvSpPr>
        <p:spPr>
          <a:xfrm>
            <a:off x="8001000" y="5544810"/>
            <a:ext cx="3642055" cy="548640"/>
          </a:xfrm>
          <a:prstGeom prst="rect">
            <a:avLst/>
          </a:prstGeom>
          <a:noFill/>
          <a:ln/>
        </p:spPr>
        <p:txBody>
          <a:bodyPr wrap="square" lIns="0" tIns="0" rIns="0" bIns="0" rtlCol="0" anchor="t"/>
          <a:lstStyle/>
          <a:p>
            <a:pPr indent="0" marL="0">
              <a:buNone/>
            </a:pPr>
            <a:r>
              <a:rPr lang="en-US" sz="1300" dirty="0">
                <a:solidFill>
                  <a:schemeClr val="accent6"/>
                </a:solidFill>
              </a:rPr>
              <a:t>Los roles son una propuesta: queremos ajustarlos a cómo os organizáis.</a:t>
            </a:r>
            <a:endParaRPr lang="en-US" sz="1300" dirty="0"/>
          </a:p>
        </p:txBody>
      </p:sp>
      <p:sp>
        <p:nvSpPr>
          <p:cNvPr id="25" name="Slide Number Placeholder 0"/>
          <p:cNvSpPr>
            <a:spLocks noGrp="1"/>
          </p:cNvSpPr>
          <p:nvPr>
            <p:ph type="sldNum" sz="quarter" idx="4294967295"/>
          </p:nvPr>
        </p:nvSpPr>
        <p:spPr>
          <a:xfrm>
            <a:off x="11185855" y="6382512"/>
            <a:ext cx="457200" cy="237744"/>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686800" cy="274320"/>
          </a:xfrm>
          <a:prstGeom prst="rect">
            <a:avLst/>
          </a:prstGeom>
          <a:noFill/>
          <a:ln/>
        </p:spPr>
        <p:txBody>
          <a:bodyPr wrap="square" lIns="0" tIns="0" rIns="0" bIns="0" rtlCol="0" anchor="ctr"/>
          <a:lstStyle/>
          <a:p>
            <a:pPr indent="0" marL="0">
              <a:buNone/>
            </a:pPr>
            <a:r>
              <a:rPr lang="en-US" sz="1200" b="1" spc="150" kern="0" dirty="0">
                <a:solidFill>
                  <a:schemeClr val="accent2"/>
                </a:solidFill>
              </a:rPr>
              <a:t>INTELIGENCIA ARTIFICIAL</a:t>
            </a:r>
            <a:endParaRPr lang="en-US" sz="1200" dirty="0"/>
          </a:p>
        </p:txBody>
      </p:sp>
      <p:sp>
        <p:nvSpPr>
          <p:cNvPr id="3" name="Text 0"/>
          <p:cNvSpPr/>
          <p:nvPr>
            <p:ph idx="101" type="title" hasCustomPrompt="1"/>
          </p:nvPr>
        </p:nvSpPr>
        <p:spPr>
          <a:xfrm>
            <a:off x="548640" y="640080"/>
            <a:ext cx="11094415" cy="685800"/>
          </a:xfrm>
          <a:prstGeom prst="rect">
            <a:avLst/>
          </a:prstGeom>
          <a:noFill/>
          <a:ln/>
        </p:spPr>
        <p:txBody>
          <a:bodyPr wrap="square" lIns="0" tIns="0" rIns="0" bIns="0" rtlCol="0" anchor="t"/>
          <a:lstStyle/>
          <a:p>
            <a:pPr algn="l" indent="0" marL="0">
              <a:buNone/>
            </a:pPr>
            <a:r>
              <a:rPr lang="en-US" sz="3200" b="1" dirty="0">
                <a:solidFill>
                  <a:schemeClr val="tx1"/>
                </a:solidFill>
              </a:rPr>
              <a:t>La IA ordena la información. Decide el club</a:t>
            </a:r>
            <a:endParaRPr lang="en-US" sz="3200" dirty="0"/>
          </a:p>
        </p:txBody>
      </p:sp>
      <p:sp>
        <p:nvSpPr>
          <p:cNvPr id="4" name="marco-captura-227"/>
          <p:cNvSpPr/>
          <p:nvPr/>
        </p:nvSpPr>
        <p:spPr>
          <a:xfrm>
            <a:off x="548640" y="1554480"/>
            <a:ext cx="6400800" cy="3169920"/>
          </a:xfrm>
          <a:prstGeom prst="roundRect">
            <a:avLst>
              <a:gd name="adj" fmla="val 2885"/>
            </a:avLst>
          </a:prstGeom>
          <a:solidFill>
            <a:schemeClr val="bg1"/>
          </a:solidFill>
          <a:ln w="9525">
            <a:solidFill>
              <a:srgbClr val="E3E3DD"/>
            </a:solidFill>
            <a:prstDash val="solid"/>
          </a:ln>
          <a:effectLst>
            <a:outerShdw sx="100000" sy="100000" kx="0" ky="0" algn="bl" rotWithShape="0" blurRad="177800" dist="38100" dir="5400000">
              <a:srgbClr val="0E1116">
                <a:alpha val="13000"/>
              </a:srgbClr>
            </a:outerShdw>
          </a:effectLst>
        </p:spPr>
      </p:sp>
      <p:pic>
        <p:nvPicPr>
          <p:cNvPr id="5" name="captura-c_ia-228" descr="ScoutUp Intelligence: una petición en lenguaje natural convertida en criterios y en una lista explicada">    </p:cNvPr>
          <p:cNvPicPr>
            <a:picLocks noChangeAspect="1"/>
          </p:cNvPicPr>
          <p:nvPr/>
        </p:nvPicPr>
        <p:blipFill>
          <a:blip r:embed="rId1"/>
          <a:stretch>
            <a:fillRect/>
          </a:stretch>
        </p:blipFill>
        <p:spPr>
          <a:xfrm>
            <a:off x="548640" y="1554480"/>
            <a:ext cx="6400800" cy="3169920"/>
          </a:xfrm>
          <a:prstGeom prst="rect">
            <a:avLst/>
          </a:prstGeom>
        </p:spPr>
      </p:pic>
      <p:sp>
        <p:nvSpPr>
          <p:cNvPr id="6" name="tarjeta-229"/>
          <p:cNvSpPr/>
          <p:nvPr/>
        </p:nvSpPr>
        <p:spPr>
          <a:xfrm>
            <a:off x="548640" y="4998720"/>
            <a:ext cx="6400800" cy="1188720"/>
          </a:xfrm>
          <a:prstGeom prst="roundRect">
            <a:avLst>
              <a:gd name="adj" fmla="val 10769"/>
            </a:avLst>
          </a:prstGeom>
          <a:solidFill>
            <a:schemeClr val="tx2"/>
          </a:solidFill>
          <a:ln/>
          <a:effectLst>
            <a:outerShdw sx="100000" sy="100000" kx="0" ky="0" algn="bl" rotWithShape="0" blurRad="177800" dist="38100" dir="5400000">
              <a:srgbClr val="0E1116">
                <a:alpha val="13000"/>
              </a:srgbClr>
            </a:outerShdw>
          </a:effectLst>
        </p:spPr>
      </p:sp>
      <p:sp>
        <p:nvSpPr>
          <p:cNvPr id="7" name="icono-fondo-230"/>
          <p:cNvSpPr/>
          <p:nvPr/>
        </p:nvSpPr>
        <p:spPr>
          <a:xfrm>
            <a:off x="822960" y="5227320"/>
            <a:ext cx="685800" cy="685800"/>
          </a:xfrm>
          <a:prstGeom prst="ellipse">
            <a:avLst/>
          </a:prstGeom>
          <a:solidFill>
            <a:schemeClr val="accent1">
              <a:alpha val="20000"/>
            </a:schemeClr>
          </a:solidFill>
          <a:ln/>
        </p:spPr>
      </p:sp>
      <p:pic>
        <p:nvPicPr>
          <p:cNvPr id="8" name="icono-spark-231" descr="/tmp/claude-0/-home-user-Scoutup/a47adca6-2afe-5531-9b19-f69196bacfbf/scratchpad/deck/img/i_spark.png">    </p:cNvPr>
          <p:cNvPicPr>
            <a:picLocks noChangeAspect="1"/>
          </p:cNvPicPr>
          <p:nvPr/>
        </p:nvPicPr>
        <p:blipFill>
          <a:blip r:embed="rId2"/>
          <a:stretch>
            <a:fillRect/>
          </a:stretch>
        </p:blipFill>
        <p:spPr>
          <a:xfrm>
            <a:off x="994410" y="5398770"/>
            <a:ext cx="342900" cy="342900"/>
          </a:xfrm>
          <a:prstGeom prst="rect">
            <a:avLst/>
          </a:prstGeom>
        </p:spPr>
      </p:pic>
      <p:sp>
        <p:nvSpPr>
          <p:cNvPr id="9" name="texto-232"/>
          <p:cNvSpPr txBox="1"/>
          <p:nvPr/>
        </p:nvSpPr>
        <p:spPr>
          <a:xfrm>
            <a:off x="1737360" y="5090160"/>
            <a:ext cx="4937760" cy="1005840"/>
          </a:xfrm>
          <a:prstGeom prst="rect">
            <a:avLst/>
          </a:prstGeom>
          <a:noFill/>
          <a:ln/>
        </p:spPr>
        <p:txBody>
          <a:bodyPr wrap="square" lIns="0" tIns="0" rIns="0" bIns="0" rtlCol="0" anchor="ctr"/>
          <a:lstStyle/>
          <a:p>
            <a:pPr indent="0" marL="0">
              <a:buNone/>
            </a:pPr>
            <a:r>
              <a:rPr lang="en-US" sz="1500" dirty="0">
                <a:solidFill>
                  <a:schemeClr val="bg1"/>
                </a:solidFill>
              </a:rPr>
              <a:t>En la demo, la IA es un motor determinista y explicable: no inventa datos ni usa servicios externos.</a:t>
            </a:r>
            <a:endParaRPr lang="en-US" sz="1500" dirty="0"/>
          </a:p>
        </p:txBody>
      </p:sp>
      <p:sp>
        <p:nvSpPr>
          <p:cNvPr id="10" name="tarjeta-233"/>
          <p:cNvSpPr/>
          <p:nvPr/>
        </p:nvSpPr>
        <p:spPr>
          <a:xfrm>
            <a:off x="7315200" y="1554480"/>
            <a:ext cx="4327855" cy="786384"/>
          </a:xfrm>
          <a:prstGeom prst="roundRect">
            <a:avLst>
              <a:gd name="adj" fmla="val 16279"/>
            </a:avLst>
          </a:prstGeom>
          <a:solidFill>
            <a:schemeClr val="bg1"/>
          </a:solidFill>
          <a:ln w="9525">
            <a:solidFill>
              <a:srgbClr val="E3E3DD"/>
            </a:solidFill>
            <a:prstDash val="solid"/>
          </a:ln>
        </p:spPr>
      </p:sp>
      <p:sp>
        <p:nvSpPr>
          <p:cNvPr id="11" name="texto-234"/>
          <p:cNvSpPr txBox="1"/>
          <p:nvPr/>
        </p:nvSpPr>
        <p:spPr>
          <a:xfrm>
            <a:off x="7498080" y="1645920"/>
            <a:ext cx="2590495" cy="310896"/>
          </a:xfrm>
          <a:prstGeom prst="rect">
            <a:avLst/>
          </a:prstGeom>
          <a:noFill/>
          <a:ln/>
        </p:spPr>
        <p:txBody>
          <a:bodyPr wrap="square" lIns="0" tIns="0" rIns="0" bIns="0" rtlCol="0" anchor="ctr"/>
          <a:lstStyle/>
          <a:p>
            <a:pPr indent="0" marL="0">
              <a:buNone/>
            </a:pPr>
            <a:r>
              <a:rPr lang="en-US" sz="1500" b="1" dirty="0">
                <a:solidFill>
                  <a:schemeClr val="tx1"/>
                </a:solidFill>
              </a:rPr>
              <a:t>Encontrar coincidencias</a:t>
            </a:r>
            <a:endParaRPr lang="en-US" sz="1500" dirty="0"/>
          </a:p>
        </p:txBody>
      </p:sp>
      <p:sp>
        <p:nvSpPr>
          <p:cNvPr id="12" name="etiqueta-fondo-235"/>
          <p:cNvSpPr/>
          <p:nvPr/>
        </p:nvSpPr>
        <p:spPr>
          <a:xfrm>
            <a:off x="10180015" y="1664208"/>
            <a:ext cx="1325880" cy="274320"/>
          </a:xfrm>
          <a:prstGeom prst="roundRect">
            <a:avLst>
              <a:gd name="adj" fmla="val 50000"/>
            </a:avLst>
          </a:prstGeom>
          <a:solidFill>
            <a:schemeClr val="accent1">
              <a:alpha val="14000"/>
            </a:schemeClr>
          </a:solidFill>
          <a:ln/>
        </p:spPr>
      </p:sp>
      <p:sp>
        <p:nvSpPr>
          <p:cNvPr id="13" name="etiqueta-236"/>
          <p:cNvSpPr txBox="1"/>
          <p:nvPr/>
        </p:nvSpPr>
        <p:spPr>
          <a:xfrm>
            <a:off x="10180015" y="1664208"/>
            <a:ext cx="1325880" cy="274320"/>
          </a:xfrm>
          <a:prstGeom prst="rect">
            <a:avLst/>
          </a:prstGeom>
          <a:noFill/>
          <a:ln/>
        </p:spPr>
        <p:txBody>
          <a:bodyPr wrap="square" lIns="0" tIns="0" rIns="0" bIns="0" rtlCol="0" anchor="ctr"/>
          <a:lstStyle/>
          <a:p>
            <a:pPr algn="ctr" indent="0" marL="0">
              <a:buNone/>
            </a:pPr>
            <a:r>
              <a:rPr lang="en-US" sz="1100" b="1" dirty="0">
                <a:solidFill>
                  <a:schemeClr val="accent2"/>
                </a:solidFill>
              </a:rPr>
              <a:t>En la demo</a:t>
            </a:r>
            <a:endParaRPr lang="en-US" sz="1100" dirty="0"/>
          </a:p>
        </p:txBody>
      </p:sp>
      <p:sp>
        <p:nvSpPr>
          <p:cNvPr id="14" name="texto-237"/>
          <p:cNvSpPr txBox="1"/>
          <p:nvPr/>
        </p:nvSpPr>
        <p:spPr>
          <a:xfrm>
            <a:off x="7498080" y="1984248"/>
            <a:ext cx="3962095" cy="274320"/>
          </a:xfrm>
          <a:prstGeom prst="rect">
            <a:avLst/>
          </a:prstGeom>
          <a:noFill/>
          <a:ln/>
        </p:spPr>
        <p:txBody>
          <a:bodyPr wrap="square" lIns="0" tIns="0" rIns="0" bIns="0" rtlCol="0" anchor="t"/>
          <a:lstStyle/>
          <a:p>
            <a:pPr indent="0" marL="0">
              <a:buNone/>
            </a:pPr>
            <a:r>
              <a:rPr lang="en-US" sz="1300" dirty="0">
                <a:solidFill>
                  <a:schemeClr val="accent6"/>
                </a:solidFill>
              </a:rPr>
              <a:t>De una frase a criterios y una lista explicada</a:t>
            </a:r>
            <a:endParaRPr lang="en-US" sz="1300" dirty="0"/>
          </a:p>
        </p:txBody>
      </p:sp>
      <p:sp>
        <p:nvSpPr>
          <p:cNvPr id="15" name="tarjeta-238"/>
          <p:cNvSpPr/>
          <p:nvPr/>
        </p:nvSpPr>
        <p:spPr>
          <a:xfrm>
            <a:off x="7315200" y="2441448"/>
            <a:ext cx="4327855" cy="786384"/>
          </a:xfrm>
          <a:prstGeom prst="roundRect">
            <a:avLst>
              <a:gd name="adj" fmla="val 16279"/>
            </a:avLst>
          </a:prstGeom>
          <a:solidFill>
            <a:schemeClr val="bg1"/>
          </a:solidFill>
          <a:ln w="9525">
            <a:solidFill>
              <a:srgbClr val="E3E3DD"/>
            </a:solidFill>
            <a:prstDash val="solid"/>
          </a:ln>
        </p:spPr>
      </p:sp>
      <p:sp>
        <p:nvSpPr>
          <p:cNvPr id="16" name="texto-239"/>
          <p:cNvSpPr txBox="1"/>
          <p:nvPr/>
        </p:nvSpPr>
        <p:spPr>
          <a:xfrm>
            <a:off x="7498080" y="2532888"/>
            <a:ext cx="2590495" cy="310896"/>
          </a:xfrm>
          <a:prstGeom prst="rect">
            <a:avLst/>
          </a:prstGeom>
          <a:noFill/>
          <a:ln/>
        </p:spPr>
        <p:txBody>
          <a:bodyPr wrap="square" lIns="0" tIns="0" rIns="0" bIns="0" rtlCol="0" anchor="ctr"/>
          <a:lstStyle/>
          <a:p>
            <a:pPr indent="0" marL="0">
              <a:buNone/>
            </a:pPr>
            <a:r>
              <a:rPr lang="en-US" sz="1500" b="1" dirty="0">
                <a:solidFill>
                  <a:schemeClr val="tx1"/>
                </a:solidFill>
              </a:rPr>
              <a:t>Resumir perfiles</a:t>
            </a:r>
            <a:endParaRPr lang="en-US" sz="1500" dirty="0"/>
          </a:p>
        </p:txBody>
      </p:sp>
      <p:sp>
        <p:nvSpPr>
          <p:cNvPr id="17" name="etiqueta-fondo-240"/>
          <p:cNvSpPr/>
          <p:nvPr/>
        </p:nvSpPr>
        <p:spPr>
          <a:xfrm>
            <a:off x="10180015" y="2551176"/>
            <a:ext cx="1325880" cy="274320"/>
          </a:xfrm>
          <a:prstGeom prst="roundRect">
            <a:avLst>
              <a:gd name="adj" fmla="val 50000"/>
            </a:avLst>
          </a:prstGeom>
          <a:solidFill>
            <a:schemeClr val="accent1">
              <a:alpha val="14000"/>
            </a:schemeClr>
          </a:solidFill>
          <a:ln/>
        </p:spPr>
      </p:sp>
      <p:sp>
        <p:nvSpPr>
          <p:cNvPr id="18" name="etiqueta-241"/>
          <p:cNvSpPr txBox="1"/>
          <p:nvPr/>
        </p:nvSpPr>
        <p:spPr>
          <a:xfrm>
            <a:off x="10180015" y="2551176"/>
            <a:ext cx="1325880" cy="274320"/>
          </a:xfrm>
          <a:prstGeom prst="rect">
            <a:avLst/>
          </a:prstGeom>
          <a:noFill/>
          <a:ln/>
        </p:spPr>
        <p:txBody>
          <a:bodyPr wrap="square" lIns="0" tIns="0" rIns="0" bIns="0" rtlCol="0" anchor="ctr"/>
          <a:lstStyle/>
          <a:p>
            <a:pPr algn="ctr" indent="0" marL="0">
              <a:buNone/>
            </a:pPr>
            <a:r>
              <a:rPr lang="en-US" sz="1100" b="1" dirty="0">
                <a:solidFill>
                  <a:schemeClr val="accent2"/>
                </a:solidFill>
              </a:rPr>
              <a:t>En la demo</a:t>
            </a:r>
            <a:endParaRPr lang="en-US" sz="1100" dirty="0"/>
          </a:p>
        </p:txBody>
      </p:sp>
      <p:sp>
        <p:nvSpPr>
          <p:cNvPr id="19" name="texto-242"/>
          <p:cNvSpPr txBox="1"/>
          <p:nvPr/>
        </p:nvSpPr>
        <p:spPr>
          <a:xfrm>
            <a:off x="7498080" y="2871216"/>
            <a:ext cx="3962095" cy="274320"/>
          </a:xfrm>
          <a:prstGeom prst="rect">
            <a:avLst/>
          </a:prstGeom>
          <a:noFill/>
          <a:ln/>
        </p:spPr>
        <p:txBody>
          <a:bodyPr wrap="square" lIns="0" tIns="0" rIns="0" bIns="0" rtlCol="0" anchor="t"/>
          <a:lstStyle/>
          <a:p>
            <a:pPr indent="0" marL="0">
              <a:buNone/>
            </a:pPr>
            <a:r>
              <a:rPr lang="en-US" sz="1300" dirty="0">
                <a:solidFill>
                  <a:schemeClr val="accent6"/>
                </a:solidFill>
              </a:rPr>
              <a:t>Resumen automático en cada perfil</a:t>
            </a:r>
            <a:endParaRPr lang="en-US" sz="1300" dirty="0"/>
          </a:p>
        </p:txBody>
      </p:sp>
      <p:sp>
        <p:nvSpPr>
          <p:cNvPr id="20" name="tarjeta-243"/>
          <p:cNvSpPr/>
          <p:nvPr/>
        </p:nvSpPr>
        <p:spPr>
          <a:xfrm>
            <a:off x="7315200" y="3328416"/>
            <a:ext cx="4327855" cy="786384"/>
          </a:xfrm>
          <a:prstGeom prst="roundRect">
            <a:avLst>
              <a:gd name="adj" fmla="val 16279"/>
            </a:avLst>
          </a:prstGeom>
          <a:solidFill>
            <a:schemeClr val="bg1"/>
          </a:solidFill>
          <a:ln w="9525">
            <a:solidFill>
              <a:srgbClr val="E3E3DD"/>
            </a:solidFill>
            <a:prstDash val="solid"/>
          </a:ln>
        </p:spPr>
      </p:sp>
      <p:sp>
        <p:nvSpPr>
          <p:cNvPr id="21" name="texto-244"/>
          <p:cNvSpPr txBox="1"/>
          <p:nvPr/>
        </p:nvSpPr>
        <p:spPr>
          <a:xfrm>
            <a:off x="7498080" y="3419856"/>
            <a:ext cx="2590495" cy="310896"/>
          </a:xfrm>
          <a:prstGeom prst="rect">
            <a:avLst/>
          </a:prstGeom>
          <a:noFill/>
          <a:ln/>
        </p:spPr>
        <p:txBody>
          <a:bodyPr wrap="square" lIns="0" tIns="0" rIns="0" bIns="0" rtlCol="0" anchor="ctr"/>
          <a:lstStyle/>
          <a:p>
            <a:pPr indent="0" marL="0">
              <a:buNone/>
            </a:pPr>
            <a:r>
              <a:rPr lang="en-US" sz="1500" b="1" dirty="0">
                <a:solidFill>
                  <a:schemeClr val="tx1"/>
                </a:solidFill>
              </a:rPr>
              <a:t>Ayudar a comparar</a:t>
            </a:r>
            <a:endParaRPr lang="en-US" sz="1500" dirty="0"/>
          </a:p>
        </p:txBody>
      </p:sp>
      <p:sp>
        <p:nvSpPr>
          <p:cNvPr id="22" name="etiqueta-fondo-245"/>
          <p:cNvSpPr/>
          <p:nvPr/>
        </p:nvSpPr>
        <p:spPr>
          <a:xfrm>
            <a:off x="10180015" y="3438144"/>
            <a:ext cx="1325880" cy="274320"/>
          </a:xfrm>
          <a:prstGeom prst="roundRect">
            <a:avLst>
              <a:gd name="adj" fmla="val 50000"/>
            </a:avLst>
          </a:prstGeom>
          <a:solidFill>
            <a:schemeClr val="accent1">
              <a:alpha val="14000"/>
            </a:schemeClr>
          </a:solidFill>
          <a:ln/>
        </p:spPr>
      </p:sp>
      <p:sp>
        <p:nvSpPr>
          <p:cNvPr id="23" name="etiqueta-246"/>
          <p:cNvSpPr txBox="1"/>
          <p:nvPr/>
        </p:nvSpPr>
        <p:spPr>
          <a:xfrm>
            <a:off x="10180015" y="3438144"/>
            <a:ext cx="1325880" cy="274320"/>
          </a:xfrm>
          <a:prstGeom prst="rect">
            <a:avLst/>
          </a:prstGeom>
          <a:noFill/>
          <a:ln/>
        </p:spPr>
        <p:txBody>
          <a:bodyPr wrap="square" lIns="0" tIns="0" rIns="0" bIns="0" rtlCol="0" anchor="ctr"/>
          <a:lstStyle/>
          <a:p>
            <a:pPr algn="ctr" indent="0" marL="0">
              <a:buNone/>
            </a:pPr>
            <a:r>
              <a:rPr lang="en-US" sz="1100" b="1" dirty="0">
                <a:solidFill>
                  <a:schemeClr val="accent2"/>
                </a:solidFill>
              </a:rPr>
              <a:t>En la demo</a:t>
            </a:r>
            <a:endParaRPr lang="en-US" sz="1100" dirty="0"/>
          </a:p>
        </p:txBody>
      </p:sp>
      <p:sp>
        <p:nvSpPr>
          <p:cNvPr id="24" name="texto-247"/>
          <p:cNvSpPr txBox="1"/>
          <p:nvPr/>
        </p:nvSpPr>
        <p:spPr>
          <a:xfrm>
            <a:off x="7498080" y="3758184"/>
            <a:ext cx="3962095" cy="274320"/>
          </a:xfrm>
          <a:prstGeom prst="rect">
            <a:avLst/>
          </a:prstGeom>
          <a:noFill/>
          <a:ln/>
        </p:spPr>
        <p:txBody>
          <a:bodyPr wrap="square" lIns="0" tIns="0" rIns="0" bIns="0" rtlCol="0" anchor="t"/>
          <a:lstStyle/>
          <a:p>
            <a:pPr indent="0" marL="0">
              <a:buNone/>
            </a:pPr>
            <a:r>
              <a:rPr lang="en-US" sz="1300" dirty="0">
                <a:solidFill>
                  <a:schemeClr val="accent6"/>
                </a:solidFill>
              </a:rPr>
              <a:t>Lectura rápida de diferencias entre candidatos</a:t>
            </a:r>
            <a:endParaRPr lang="en-US" sz="1300" dirty="0"/>
          </a:p>
        </p:txBody>
      </p:sp>
      <p:sp>
        <p:nvSpPr>
          <p:cNvPr id="25" name="tarjeta-248"/>
          <p:cNvSpPr/>
          <p:nvPr/>
        </p:nvSpPr>
        <p:spPr>
          <a:xfrm>
            <a:off x="7315200" y="4215384"/>
            <a:ext cx="4327855" cy="786384"/>
          </a:xfrm>
          <a:prstGeom prst="roundRect">
            <a:avLst>
              <a:gd name="adj" fmla="val 16279"/>
            </a:avLst>
          </a:prstGeom>
          <a:solidFill>
            <a:schemeClr val="bg1"/>
          </a:solidFill>
          <a:ln w="9525">
            <a:solidFill>
              <a:srgbClr val="E3E3DD"/>
            </a:solidFill>
            <a:prstDash val="solid"/>
          </a:ln>
        </p:spPr>
      </p:sp>
      <p:sp>
        <p:nvSpPr>
          <p:cNvPr id="26" name="texto-249"/>
          <p:cNvSpPr txBox="1"/>
          <p:nvPr/>
        </p:nvSpPr>
        <p:spPr>
          <a:xfrm>
            <a:off x="7498080" y="4306824"/>
            <a:ext cx="2590495" cy="310896"/>
          </a:xfrm>
          <a:prstGeom prst="rect">
            <a:avLst/>
          </a:prstGeom>
          <a:noFill/>
          <a:ln/>
        </p:spPr>
        <p:txBody>
          <a:bodyPr wrap="square" lIns="0" tIns="0" rIns="0" bIns="0" rtlCol="0" anchor="ctr"/>
          <a:lstStyle/>
          <a:p>
            <a:pPr indent="0" marL="0">
              <a:buNone/>
            </a:pPr>
            <a:r>
              <a:rPr lang="en-US" sz="1500" b="1" dirty="0">
                <a:solidFill>
                  <a:schemeClr val="tx1"/>
                </a:solidFill>
              </a:rPr>
              <a:t>Organizar información</a:t>
            </a:r>
            <a:endParaRPr lang="en-US" sz="1500" dirty="0"/>
          </a:p>
        </p:txBody>
      </p:sp>
      <p:sp>
        <p:nvSpPr>
          <p:cNvPr id="27" name="etiqueta-fondo-250"/>
          <p:cNvSpPr/>
          <p:nvPr/>
        </p:nvSpPr>
        <p:spPr>
          <a:xfrm>
            <a:off x="10180015" y="4325112"/>
            <a:ext cx="1325880" cy="274320"/>
          </a:xfrm>
          <a:prstGeom prst="roundRect">
            <a:avLst>
              <a:gd name="adj" fmla="val 50000"/>
            </a:avLst>
          </a:prstGeom>
          <a:solidFill>
            <a:schemeClr val="accent1">
              <a:alpha val="14000"/>
            </a:schemeClr>
          </a:solidFill>
          <a:ln/>
        </p:spPr>
      </p:sp>
      <p:sp>
        <p:nvSpPr>
          <p:cNvPr id="28" name="etiqueta-251"/>
          <p:cNvSpPr txBox="1"/>
          <p:nvPr/>
        </p:nvSpPr>
        <p:spPr>
          <a:xfrm>
            <a:off x="10180015" y="4325112"/>
            <a:ext cx="1325880" cy="274320"/>
          </a:xfrm>
          <a:prstGeom prst="rect">
            <a:avLst/>
          </a:prstGeom>
          <a:noFill/>
          <a:ln/>
        </p:spPr>
        <p:txBody>
          <a:bodyPr wrap="square" lIns="0" tIns="0" rIns="0" bIns="0" rtlCol="0" anchor="ctr"/>
          <a:lstStyle/>
          <a:p>
            <a:pPr algn="ctr" indent="0" marL="0">
              <a:buNone/>
            </a:pPr>
            <a:r>
              <a:rPr lang="en-US" sz="1100" b="1" dirty="0">
                <a:solidFill>
                  <a:schemeClr val="accent2"/>
                </a:solidFill>
              </a:rPr>
              <a:t>En la demo</a:t>
            </a:r>
            <a:endParaRPr lang="en-US" sz="1100" dirty="0"/>
          </a:p>
        </p:txBody>
      </p:sp>
      <p:sp>
        <p:nvSpPr>
          <p:cNvPr id="29" name="texto-252"/>
          <p:cNvSpPr txBox="1"/>
          <p:nvPr/>
        </p:nvSpPr>
        <p:spPr>
          <a:xfrm>
            <a:off x="7498080" y="4645152"/>
            <a:ext cx="3962095" cy="274320"/>
          </a:xfrm>
          <a:prstGeom prst="rect">
            <a:avLst/>
          </a:prstGeom>
          <a:noFill/>
          <a:ln/>
        </p:spPr>
        <p:txBody>
          <a:bodyPr wrap="square" lIns="0" tIns="0" rIns="0" bIns="0" rtlCol="0" anchor="t"/>
          <a:lstStyle/>
          <a:p>
            <a:pPr indent="0" marL="0">
              <a:buNone/>
            </a:pPr>
            <a:r>
              <a:rPr lang="en-US" sz="1300" dirty="0">
                <a:solidFill>
                  <a:schemeClr val="accent6"/>
                </a:solidFill>
              </a:rPr>
              <a:t>Convertir una búsqueda en oportunidad</a:t>
            </a:r>
            <a:endParaRPr lang="en-US" sz="1300" dirty="0"/>
          </a:p>
        </p:txBody>
      </p:sp>
      <p:sp>
        <p:nvSpPr>
          <p:cNvPr id="30" name="tarjeta-253"/>
          <p:cNvSpPr/>
          <p:nvPr/>
        </p:nvSpPr>
        <p:spPr>
          <a:xfrm>
            <a:off x="7315200" y="5102352"/>
            <a:ext cx="4327855" cy="786384"/>
          </a:xfrm>
          <a:prstGeom prst="roundRect">
            <a:avLst>
              <a:gd name="adj" fmla="val 16279"/>
            </a:avLst>
          </a:prstGeom>
          <a:solidFill>
            <a:schemeClr val="bg1"/>
          </a:solidFill>
          <a:ln w="9525">
            <a:solidFill>
              <a:srgbClr val="E3E3DD"/>
            </a:solidFill>
            <a:prstDash val="solid"/>
          </a:ln>
        </p:spPr>
      </p:sp>
      <p:sp>
        <p:nvSpPr>
          <p:cNvPr id="31" name="texto-254"/>
          <p:cNvSpPr txBox="1"/>
          <p:nvPr/>
        </p:nvSpPr>
        <p:spPr>
          <a:xfrm>
            <a:off x="7498080" y="5193792"/>
            <a:ext cx="2590495" cy="310896"/>
          </a:xfrm>
          <a:prstGeom prst="rect">
            <a:avLst/>
          </a:prstGeom>
          <a:noFill/>
          <a:ln/>
        </p:spPr>
        <p:txBody>
          <a:bodyPr wrap="square" lIns="0" tIns="0" rIns="0" bIns="0" rtlCol="0" anchor="ctr"/>
          <a:lstStyle/>
          <a:p>
            <a:pPr indent="0" marL="0">
              <a:buNone/>
            </a:pPr>
            <a:r>
              <a:rPr lang="en-US" sz="1500" b="1" dirty="0">
                <a:solidFill>
                  <a:schemeClr val="tx1"/>
                </a:solidFill>
              </a:rPr>
              <a:t>Informes de apoyo</a:t>
            </a:r>
            <a:endParaRPr lang="en-US" sz="1500" dirty="0"/>
          </a:p>
        </p:txBody>
      </p:sp>
      <p:sp>
        <p:nvSpPr>
          <p:cNvPr id="32" name="etiqueta-fondo-255"/>
          <p:cNvSpPr/>
          <p:nvPr/>
        </p:nvSpPr>
        <p:spPr>
          <a:xfrm>
            <a:off x="10180015" y="5212080"/>
            <a:ext cx="1325880" cy="274320"/>
          </a:xfrm>
          <a:prstGeom prst="roundRect">
            <a:avLst>
              <a:gd name="adj" fmla="val 50000"/>
            </a:avLst>
          </a:prstGeom>
          <a:solidFill>
            <a:schemeClr val="accent4">
              <a:alpha val="14000"/>
            </a:schemeClr>
          </a:solidFill>
          <a:ln/>
        </p:spPr>
      </p:sp>
      <p:sp>
        <p:nvSpPr>
          <p:cNvPr id="33" name="etiqueta-256"/>
          <p:cNvSpPr txBox="1"/>
          <p:nvPr/>
        </p:nvSpPr>
        <p:spPr>
          <a:xfrm>
            <a:off x="10180015" y="5212080"/>
            <a:ext cx="1325880" cy="274320"/>
          </a:xfrm>
          <a:prstGeom prst="rect">
            <a:avLst/>
          </a:prstGeom>
          <a:noFill/>
          <a:ln/>
        </p:spPr>
        <p:txBody>
          <a:bodyPr wrap="square" lIns="0" tIns="0" rIns="0" bIns="0" rtlCol="0" anchor="ctr"/>
          <a:lstStyle/>
          <a:p>
            <a:pPr algn="ctr" indent="0" marL="0">
              <a:buNone/>
            </a:pPr>
            <a:r>
              <a:rPr lang="en-US" sz="1100" b="1" dirty="0">
                <a:solidFill>
                  <a:schemeClr val="accent4"/>
                </a:solidFill>
              </a:rPr>
              <a:t>Por validar</a:t>
            </a:r>
            <a:endParaRPr lang="en-US" sz="1100" dirty="0"/>
          </a:p>
        </p:txBody>
      </p:sp>
      <p:sp>
        <p:nvSpPr>
          <p:cNvPr id="34" name="texto-257"/>
          <p:cNvSpPr txBox="1"/>
          <p:nvPr/>
        </p:nvSpPr>
        <p:spPr>
          <a:xfrm>
            <a:off x="7498080" y="5532120"/>
            <a:ext cx="3962095" cy="274320"/>
          </a:xfrm>
          <a:prstGeom prst="rect">
            <a:avLst/>
          </a:prstGeom>
          <a:noFill/>
          <a:ln/>
        </p:spPr>
        <p:txBody>
          <a:bodyPr wrap="square" lIns="0" tIns="0" rIns="0" bIns="0" rtlCol="0" anchor="t"/>
          <a:lstStyle/>
          <a:p>
            <a:pPr indent="0" marL="0">
              <a:buNone/>
            </a:pPr>
            <a:r>
              <a:rPr lang="en-US" sz="1300" dirty="0">
                <a:solidFill>
                  <a:schemeClr val="accent6"/>
                </a:solidFill>
              </a:rPr>
              <a:t>Preparar un informe para la decisión del staff</a:t>
            </a:r>
            <a:endParaRPr lang="en-US" sz="1300" dirty="0"/>
          </a:p>
        </p:txBody>
      </p:sp>
      <p:sp>
        <p:nvSpPr>
          <p:cNvPr id="25" name="Slide Number Placeholder 0"/>
          <p:cNvSpPr>
            <a:spLocks noGrp="1"/>
          </p:cNvSpPr>
          <p:nvPr>
            <p:ph type="sldNum" sz="quarter" idx="4294967295"/>
          </p:nvPr>
        </p:nvSpPr>
        <p:spPr>
          <a:xfrm>
            <a:off x="11185855" y="6382512"/>
            <a:ext cx="457200" cy="237744"/>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686800" cy="274320"/>
          </a:xfrm>
          <a:prstGeom prst="rect">
            <a:avLst/>
          </a:prstGeom>
          <a:noFill/>
          <a:ln/>
        </p:spPr>
        <p:txBody>
          <a:bodyPr wrap="square" lIns="0" tIns="0" rIns="0" bIns="0" rtlCol="0" anchor="ctr"/>
          <a:lstStyle/>
          <a:p>
            <a:pPr indent="0" marL="0">
              <a:buNone/>
            </a:pPr>
            <a:r>
              <a:rPr lang="en-US" sz="1200" b="1" spc="150" kern="0" dirty="0">
                <a:solidFill>
                  <a:schemeClr val="accent2"/>
                </a:solidFill>
              </a:rPr>
              <a:t>LO QUE QUEREMOS COMPROBAR</a:t>
            </a:r>
            <a:endParaRPr lang="en-US" sz="1200" dirty="0"/>
          </a:p>
        </p:txBody>
      </p:sp>
      <p:sp>
        <p:nvSpPr>
          <p:cNvPr id="3" name="Text 0"/>
          <p:cNvSpPr/>
          <p:nvPr>
            <p:ph idx="101" type="title" hasCustomPrompt="1"/>
          </p:nvPr>
        </p:nvSpPr>
        <p:spPr>
          <a:xfrm>
            <a:off x="548640" y="640080"/>
            <a:ext cx="11094415" cy="685800"/>
          </a:xfrm>
          <a:prstGeom prst="rect">
            <a:avLst/>
          </a:prstGeom>
          <a:noFill/>
          <a:ln/>
        </p:spPr>
        <p:txBody>
          <a:bodyPr wrap="square" lIns="0" tIns="0" rIns="0" bIns="0" rtlCol="0" anchor="t"/>
          <a:lstStyle/>
          <a:p>
            <a:pPr algn="l" indent="0" marL="0">
              <a:buNone/>
            </a:pPr>
            <a:r>
              <a:rPr lang="en-US" sz="3200" b="1" dirty="0">
                <a:solidFill>
                  <a:schemeClr val="tx1"/>
                </a:solidFill>
              </a:rPr>
              <a:t>El valor que creemos que puede aportar</a:t>
            </a:r>
            <a:endParaRPr lang="en-US" sz="3200" dirty="0"/>
          </a:p>
        </p:txBody>
      </p:sp>
      <p:sp>
        <p:nvSpPr>
          <p:cNvPr id="4" name="tarjeta-258"/>
          <p:cNvSpPr/>
          <p:nvPr/>
        </p:nvSpPr>
        <p:spPr>
          <a:xfrm>
            <a:off x="548640" y="1554480"/>
            <a:ext cx="3515258" cy="1874520"/>
          </a:xfrm>
          <a:prstGeom prst="roundRect">
            <a:avLst>
              <a:gd name="adj" fmla="val 6829"/>
            </a:avLst>
          </a:prstGeom>
          <a:solidFill>
            <a:schemeClr val="bg1"/>
          </a:solidFill>
          <a:ln w="9525">
            <a:solidFill>
              <a:srgbClr val="E3E3DD"/>
            </a:solidFill>
            <a:prstDash val="solid"/>
          </a:ln>
          <a:effectLst>
            <a:outerShdw sx="100000" sy="100000" kx="0" ky="0" algn="bl" rotWithShape="0" blurRad="177800" dist="38100" dir="5400000">
              <a:srgbClr val="0E1116">
                <a:alpha val="13000"/>
              </a:srgbClr>
            </a:outerShdw>
          </a:effectLst>
        </p:spPr>
      </p:sp>
      <p:sp>
        <p:nvSpPr>
          <p:cNvPr id="5" name="icono-fondo-259"/>
          <p:cNvSpPr/>
          <p:nvPr/>
        </p:nvSpPr>
        <p:spPr>
          <a:xfrm>
            <a:off x="822960" y="1828800"/>
            <a:ext cx="566928" cy="566928"/>
          </a:xfrm>
          <a:prstGeom prst="ellipse">
            <a:avLst/>
          </a:prstGeom>
          <a:solidFill>
            <a:schemeClr val="accent1">
              <a:alpha val="15000"/>
            </a:schemeClr>
          </a:solidFill>
          <a:ln/>
        </p:spPr>
      </p:sp>
      <p:pic>
        <p:nvPicPr>
          <p:cNvPr id="6" name="icono-clock-260" descr="/tmp/claude-0/-home-user-Scoutup/a47adca6-2afe-5531-9b19-f69196bacfbf/scratchpad/deck/img/i_clock.png">    </p:cNvPr>
          <p:cNvPicPr>
            <a:picLocks noChangeAspect="1"/>
          </p:cNvPicPr>
          <p:nvPr/>
        </p:nvPicPr>
        <p:blipFill>
          <a:blip r:embed="rId1"/>
          <a:stretch>
            <a:fillRect/>
          </a:stretch>
        </p:blipFill>
        <p:spPr>
          <a:xfrm>
            <a:off x="964692" y="1970532"/>
            <a:ext cx="283464" cy="283464"/>
          </a:xfrm>
          <a:prstGeom prst="rect">
            <a:avLst/>
          </a:prstGeom>
        </p:spPr>
      </p:pic>
      <p:sp>
        <p:nvSpPr>
          <p:cNvPr id="7" name="texto-261"/>
          <p:cNvSpPr txBox="1"/>
          <p:nvPr/>
        </p:nvSpPr>
        <p:spPr>
          <a:xfrm>
            <a:off x="822960" y="2514600"/>
            <a:ext cx="2966618" cy="347472"/>
          </a:xfrm>
          <a:prstGeom prst="rect">
            <a:avLst/>
          </a:prstGeom>
          <a:noFill/>
          <a:ln/>
        </p:spPr>
        <p:txBody>
          <a:bodyPr wrap="square" lIns="0" tIns="0" rIns="0" bIns="0" rtlCol="0" anchor="t"/>
          <a:lstStyle/>
          <a:p>
            <a:pPr indent="0" marL="0">
              <a:buNone/>
            </a:pPr>
            <a:r>
              <a:rPr lang="en-US" sz="1700" b="1" dirty="0">
                <a:solidFill>
                  <a:schemeClr val="tx1"/>
                </a:solidFill>
                <a:latin typeface="Arial" pitchFamily="34" charset="0"/>
                <a:ea typeface="Arial" pitchFamily="34" charset="-122"/>
                <a:cs typeface="Arial" pitchFamily="34" charset="-120"/>
              </a:rPr>
              <a:t>Menos tiempo buscando</a:t>
            </a:r>
            <a:endParaRPr lang="en-US" sz="1700" dirty="0"/>
          </a:p>
        </p:txBody>
      </p:sp>
      <p:sp>
        <p:nvSpPr>
          <p:cNvPr id="8" name="texto-262"/>
          <p:cNvSpPr txBox="1"/>
          <p:nvPr/>
        </p:nvSpPr>
        <p:spPr>
          <a:xfrm>
            <a:off x="822960" y="2862072"/>
            <a:ext cx="2966618" cy="502920"/>
          </a:xfrm>
          <a:prstGeom prst="rect">
            <a:avLst/>
          </a:prstGeom>
          <a:noFill/>
          <a:ln/>
        </p:spPr>
        <p:txBody>
          <a:bodyPr wrap="square" lIns="0" tIns="0" rIns="0" bIns="0" rtlCol="0" anchor="t"/>
          <a:lstStyle/>
          <a:p>
            <a:pPr indent="0" marL="0">
              <a:buNone/>
            </a:pPr>
            <a:r>
              <a:rPr lang="en-US" sz="1400" dirty="0">
                <a:solidFill>
                  <a:schemeClr val="accent6"/>
                </a:solidFill>
              </a:rPr>
              <a:t>Partir de candidatos que ya encajan con la necesidad.</a:t>
            </a:r>
            <a:endParaRPr lang="en-US" sz="1400" dirty="0"/>
          </a:p>
        </p:txBody>
      </p:sp>
      <p:sp>
        <p:nvSpPr>
          <p:cNvPr id="9" name="tarjeta-263"/>
          <p:cNvSpPr/>
          <p:nvPr/>
        </p:nvSpPr>
        <p:spPr>
          <a:xfrm>
            <a:off x="4338218" y="1554480"/>
            <a:ext cx="3515258" cy="1874520"/>
          </a:xfrm>
          <a:prstGeom prst="roundRect">
            <a:avLst>
              <a:gd name="adj" fmla="val 6829"/>
            </a:avLst>
          </a:prstGeom>
          <a:solidFill>
            <a:schemeClr val="bg1"/>
          </a:solidFill>
          <a:ln w="9525">
            <a:solidFill>
              <a:srgbClr val="E3E3DD"/>
            </a:solidFill>
            <a:prstDash val="solid"/>
          </a:ln>
          <a:effectLst>
            <a:outerShdw sx="100000" sy="100000" kx="0" ky="0" algn="bl" rotWithShape="0" blurRad="177800" dist="38100" dir="5400000">
              <a:srgbClr val="0E1116">
                <a:alpha val="13000"/>
              </a:srgbClr>
            </a:outerShdw>
          </a:effectLst>
        </p:spPr>
      </p:sp>
      <p:sp>
        <p:nvSpPr>
          <p:cNvPr id="10" name="icono-fondo-264"/>
          <p:cNvSpPr/>
          <p:nvPr/>
        </p:nvSpPr>
        <p:spPr>
          <a:xfrm>
            <a:off x="4612538" y="1828800"/>
            <a:ext cx="566928" cy="566928"/>
          </a:xfrm>
          <a:prstGeom prst="ellipse">
            <a:avLst/>
          </a:prstGeom>
          <a:solidFill>
            <a:schemeClr val="accent1">
              <a:alpha val="15000"/>
            </a:schemeClr>
          </a:solidFill>
          <a:ln/>
        </p:spPr>
      </p:sp>
      <p:pic>
        <p:nvPicPr>
          <p:cNvPr id="11" name="icono-eye-265" descr="/tmp/claude-0/-home-user-Scoutup/a47adca6-2afe-5531-9b19-f69196bacfbf/scratchpad/deck/img/i_eye.png">    </p:cNvPr>
          <p:cNvPicPr>
            <a:picLocks noChangeAspect="1"/>
          </p:cNvPicPr>
          <p:nvPr/>
        </p:nvPicPr>
        <p:blipFill>
          <a:blip r:embed="rId2"/>
          <a:stretch>
            <a:fillRect/>
          </a:stretch>
        </p:blipFill>
        <p:spPr>
          <a:xfrm>
            <a:off x="4754270" y="1970532"/>
            <a:ext cx="283464" cy="283464"/>
          </a:xfrm>
          <a:prstGeom prst="rect">
            <a:avLst/>
          </a:prstGeom>
        </p:spPr>
      </p:pic>
      <p:sp>
        <p:nvSpPr>
          <p:cNvPr id="12" name="texto-266"/>
          <p:cNvSpPr txBox="1"/>
          <p:nvPr/>
        </p:nvSpPr>
        <p:spPr>
          <a:xfrm>
            <a:off x="4612538" y="2514600"/>
            <a:ext cx="2966618" cy="347472"/>
          </a:xfrm>
          <a:prstGeom prst="rect">
            <a:avLst/>
          </a:prstGeom>
          <a:noFill/>
          <a:ln/>
        </p:spPr>
        <p:txBody>
          <a:bodyPr wrap="square" lIns="0" tIns="0" rIns="0" bIns="0" rtlCol="0" anchor="t"/>
          <a:lstStyle/>
          <a:p>
            <a:pPr indent="0" marL="0">
              <a:buNone/>
            </a:pPr>
            <a:r>
              <a:rPr lang="en-US" sz="1700" b="1" dirty="0">
                <a:solidFill>
                  <a:schemeClr val="tx1"/>
                </a:solidFill>
                <a:latin typeface="Arial" pitchFamily="34" charset="0"/>
                <a:ea typeface="Arial" pitchFamily="34" charset="-122"/>
                <a:cs typeface="Arial" pitchFamily="34" charset="-120"/>
              </a:rPr>
              <a:t>Más visibilidad</a:t>
            </a:r>
            <a:endParaRPr lang="en-US" sz="1700" dirty="0"/>
          </a:p>
        </p:txBody>
      </p:sp>
      <p:sp>
        <p:nvSpPr>
          <p:cNvPr id="13" name="texto-267"/>
          <p:cNvSpPr txBox="1"/>
          <p:nvPr/>
        </p:nvSpPr>
        <p:spPr>
          <a:xfrm>
            <a:off x="4612538" y="2862072"/>
            <a:ext cx="2966618" cy="502920"/>
          </a:xfrm>
          <a:prstGeom prst="rect">
            <a:avLst/>
          </a:prstGeom>
          <a:noFill/>
          <a:ln/>
        </p:spPr>
        <p:txBody>
          <a:bodyPr wrap="square" lIns="0" tIns="0" rIns="0" bIns="0" rtlCol="0" anchor="t"/>
          <a:lstStyle/>
          <a:p>
            <a:pPr indent="0" marL="0">
              <a:buNone/>
            </a:pPr>
            <a:r>
              <a:rPr lang="en-US" sz="1400" dirty="0">
                <a:solidFill>
                  <a:schemeClr val="accent6"/>
                </a:solidFill>
              </a:rPr>
              <a:t>Jugadores que podrían encajar fuera del círculo habitual.</a:t>
            </a:r>
            <a:endParaRPr lang="en-US" sz="1400" dirty="0"/>
          </a:p>
        </p:txBody>
      </p:sp>
      <p:sp>
        <p:nvSpPr>
          <p:cNvPr id="14" name="tarjeta-268"/>
          <p:cNvSpPr/>
          <p:nvPr/>
        </p:nvSpPr>
        <p:spPr>
          <a:xfrm>
            <a:off x="8127797" y="1554480"/>
            <a:ext cx="3515258" cy="1874520"/>
          </a:xfrm>
          <a:prstGeom prst="roundRect">
            <a:avLst>
              <a:gd name="adj" fmla="val 6829"/>
            </a:avLst>
          </a:prstGeom>
          <a:solidFill>
            <a:schemeClr val="bg1"/>
          </a:solidFill>
          <a:ln w="9525">
            <a:solidFill>
              <a:srgbClr val="E3E3DD"/>
            </a:solidFill>
            <a:prstDash val="solid"/>
          </a:ln>
          <a:effectLst>
            <a:outerShdw sx="100000" sy="100000" kx="0" ky="0" algn="bl" rotWithShape="0" blurRad="177800" dist="38100" dir="5400000">
              <a:srgbClr val="0E1116">
                <a:alpha val="13000"/>
              </a:srgbClr>
            </a:outerShdw>
          </a:effectLst>
        </p:spPr>
      </p:sp>
      <p:sp>
        <p:nvSpPr>
          <p:cNvPr id="15" name="icono-fondo-269"/>
          <p:cNvSpPr/>
          <p:nvPr/>
        </p:nvSpPr>
        <p:spPr>
          <a:xfrm>
            <a:off x="8402117" y="1828800"/>
            <a:ext cx="566928" cy="566928"/>
          </a:xfrm>
          <a:prstGeom prst="ellipse">
            <a:avLst/>
          </a:prstGeom>
          <a:solidFill>
            <a:schemeClr val="accent1">
              <a:alpha val="15000"/>
            </a:schemeClr>
          </a:solidFill>
          <a:ln/>
        </p:spPr>
      </p:sp>
      <p:pic>
        <p:nvPicPr>
          <p:cNvPr id="16" name="icono-route-270" descr="/tmp/claude-0/-home-user-Scoutup/a47adca6-2afe-5531-9b19-f69196bacfbf/scratchpad/deck/img/i_route.png">    </p:cNvPr>
          <p:cNvPicPr>
            <a:picLocks noChangeAspect="1"/>
          </p:cNvPicPr>
          <p:nvPr/>
        </p:nvPicPr>
        <p:blipFill>
          <a:blip r:embed="rId3"/>
          <a:stretch>
            <a:fillRect/>
          </a:stretch>
        </p:blipFill>
        <p:spPr>
          <a:xfrm>
            <a:off x="8543849" y="1970532"/>
            <a:ext cx="283464" cy="283464"/>
          </a:xfrm>
          <a:prstGeom prst="rect">
            <a:avLst/>
          </a:prstGeom>
        </p:spPr>
      </p:pic>
      <p:sp>
        <p:nvSpPr>
          <p:cNvPr id="17" name="texto-271"/>
          <p:cNvSpPr txBox="1"/>
          <p:nvPr/>
        </p:nvSpPr>
        <p:spPr>
          <a:xfrm>
            <a:off x="8402117" y="2514600"/>
            <a:ext cx="2966618" cy="347472"/>
          </a:xfrm>
          <a:prstGeom prst="rect">
            <a:avLst/>
          </a:prstGeom>
          <a:noFill/>
          <a:ln/>
        </p:spPr>
        <p:txBody>
          <a:bodyPr wrap="square" lIns="0" tIns="0" rIns="0" bIns="0" rtlCol="0" anchor="t"/>
          <a:lstStyle/>
          <a:p>
            <a:pPr indent="0" marL="0">
              <a:buNone/>
            </a:pPr>
            <a:r>
              <a:rPr lang="en-US" sz="1700" b="1" dirty="0">
                <a:solidFill>
                  <a:schemeClr val="tx1"/>
                </a:solidFill>
                <a:latin typeface="Arial" pitchFamily="34" charset="0"/>
                <a:ea typeface="Arial" pitchFamily="34" charset="-122"/>
                <a:cs typeface="Arial" pitchFamily="34" charset="-120"/>
              </a:rPr>
              <a:t>Seguimiento ordenado</a:t>
            </a:r>
            <a:endParaRPr lang="en-US" sz="1700" dirty="0"/>
          </a:p>
        </p:txBody>
      </p:sp>
      <p:sp>
        <p:nvSpPr>
          <p:cNvPr id="18" name="texto-272"/>
          <p:cNvSpPr txBox="1"/>
          <p:nvPr/>
        </p:nvSpPr>
        <p:spPr>
          <a:xfrm>
            <a:off x="8402117" y="2862072"/>
            <a:ext cx="2966618" cy="502920"/>
          </a:xfrm>
          <a:prstGeom prst="rect">
            <a:avLst/>
          </a:prstGeom>
          <a:noFill/>
          <a:ln/>
        </p:spPr>
        <p:txBody>
          <a:bodyPr wrap="square" lIns="0" tIns="0" rIns="0" bIns="0" rtlCol="0" anchor="t"/>
          <a:lstStyle/>
          <a:p>
            <a:pPr indent="0" marL="0">
              <a:buNone/>
            </a:pPr>
            <a:r>
              <a:rPr lang="en-US" sz="1400" dirty="0">
                <a:solidFill>
                  <a:schemeClr val="accent6"/>
                </a:solidFill>
              </a:rPr>
              <a:t>Saber en qué punto está cada candidato.</a:t>
            </a:r>
            <a:endParaRPr lang="en-US" sz="1400" dirty="0"/>
          </a:p>
        </p:txBody>
      </p:sp>
      <p:sp>
        <p:nvSpPr>
          <p:cNvPr id="19" name="tarjeta-273"/>
          <p:cNvSpPr/>
          <p:nvPr/>
        </p:nvSpPr>
        <p:spPr>
          <a:xfrm>
            <a:off x="548640" y="3703320"/>
            <a:ext cx="3515258" cy="1874520"/>
          </a:xfrm>
          <a:prstGeom prst="roundRect">
            <a:avLst>
              <a:gd name="adj" fmla="val 6829"/>
            </a:avLst>
          </a:prstGeom>
          <a:solidFill>
            <a:schemeClr val="bg1"/>
          </a:solidFill>
          <a:ln w="9525">
            <a:solidFill>
              <a:srgbClr val="E3E3DD"/>
            </a:solidFill>
            <a:prstDash val="solid"/>
          </a:ln>
          <a:effectLst>
            <a:outerShdw sx="100000" sy="100000" kx="0" ky="0" algn="bl" rotWithShape="0" blurRad="177800" dist="38100" dir="5400000">
              <a:srgbClr val="0E1116">
                <a:alpha val="13000"/>
              </a:srgbClr>
            </a:outerShdw>
          </a:effectLst>
        </p:spPr>
      </p:sp>
      <p:sp>
        <p:nvSpPr>
          <p:cNvPr id="20" name="icono-fondo-274"/>
          <p:cNvSpPr/>
          <p:nvPr/>
        </p:nvSpPr>
        <p:spPr>
          <a:xfrm>
            <a:off x="822960" y="3977640"/>
            <a:ext cx="566928" cy="566928"/>
          </a:xfrm>
          <a:prstGeom prst="ellipse">
            <a:avLst/>
          </a:prstGeom>
          <a:solidFill>
            <a:schemeClr val="accent1">
              <a:alpha val="15000"/>
            </a:schemeClr>
          </a:solidFill>
          <a:ln/>
        </p:spPr>
      </p:sp>
      <p:pic>
        <p:nvPicPr>
          <p:cNvPr id="21" name="icono-scale-275" descr="/tmp/claude-0/-home-user-Scoutup/a47adca6-2afe-5531-9b19-f69196bacfbf/scratchpad/deck/img/i_scale.png">    </p:cNvPr>
          <p:cNvPicPr>
            <a:picLocks noChangeAspect="1"/>
          </p:cNvPicPr>
          <p:nvPr/>
        </p:nvPicPr>
        <p:blipFill>
          <a:blip r:embed="rId4"/>
          <a:stretch>
            <a:fillRect/>
          </a:stretch>
        </p:blipFill>
        <p:spPr>
          <a:xfrm>
            <a:off x="964692" y="4119372"/>
            <a:ext cx="283464" cy="283464"/>
          </a:xfrm>
          <a:prstGeom prst="rect">
            <a:avLst/>
          </a:prstGeom>
        </p:spPr>
      </p:pic>
      <p:sp>
        <p:nvSpPr>
          <p:cNvPr id="22" name="texto-276"/>
          <p:cNvSpPr txBox="1"/>
          <p:nvPr/>
        </p:nvSpPr>
        <p:spPr>
          <a:xfrm>
            <a:off x="822960" y="4663440"/>
            <a:ext cx="2966618" cy="347472"/>
          </a:xfrm>
          <a:prstGeom prst="rect">
            <a:avLst/>
          </a:prstGeom>
          <a:noFill/>
          <a:ln/>
        </p:spPr>
        <p:txBody>
          <a:bodyPr wrap="square" lIns="0" tIns="0" rIns="0" bIns="0" rtlCol="0" anchor="t"/>
          <a:lstStyle/>
          <a:p>
            <a:pPr indent="0" marL="0">
              <a:buNone/>
            </a:pPr>
            <a:r>
              <a:rPr lang="en-US" sz="1700" b="1" dirty="0">
                <a:solidFill>
                  <a:schemeClr val="tx1"/>
                </a:solidFill>
                <a:latin typeface="Arial" pitchFamily="34" charset="0"/>
                <a:ea typeface="Arial" pitchFamily="34" charset="-122"/>
                <a:cs typeface="Arial" pitchFamily="34" charset="-120"/>
              </a:rPr>
              <a:t>Comparar con contexto</a:t>
            </a:r>
            <a:endParaRPr lang="en-US" sz="1700" dirty="0"/>
          </a:p>
        </p:txBody>
      </p:sp>
      <p:sp>
        <p:nvSpPr>
          <p:cNvPr id="23" name="texto-277"/>
          <p:cNvSpPr txBox="1"/>
          <p:nvPr/>
        </p:nvSpPr>
        <p:spPr>
          <a:xfrm>
            <a:off x="822960" y="5010912"/>
            <a:ext cx="2966618" cy="502920"/>
          </a:xfrm>
          <a:prstGeom prst="rect">
            <a:avLst/>
          </a:prstGeom>
          <a:noFill/>
          <a:ln/>
        </p:spPr>
        <p:txBody>
          <a:bodyPr wrap="square" lIns="0" tIns="0" rIns="0" bIns="0" rtlCol="0" anchor="t"/>
          <a:lstStyle/>
          <a:p>
            <a:pPr indent="0" marL="0">
              <a:buNone/>
            </a:pPr>
            <a:r>
              <a:rPr lang="en-US" sz="1400" dirty="0">
                <a:solidFill>
                  <a:schemeClr val="accent6"/>
                </a:solidFill>
              </a:rPr>
              <a:t>Los mismos criterios para todos los perfiles.</a:t>
            </a:r>
            <a:endParaRPr lang="en-US" sz="1400" dirty="0"/>
          </a:p>
        </p:txBody>
      </p:sp>
      <p:sp>
        <p:nvSpPr>
          <p:cNvPr id="24" name="tarjeta-278"/>
          <p:cNvSpPr/>
          <p:nvPr/>
        </p:nvSpPr>
        <p:spPr>
          <a:xfrm>
            <a:off x="4338218" y="3703320"/>
            <a:ext cx="3515258" cy="1874520"/>
          </a:xfrm>
          <a:prstGeom prst="roundRect">
            <a:avLst>
              <a:gd name="adj" fmla="val 6829"/>
            </a:avLst>
          </a:prstGeom>
          <a:solidFill>
            <a:schemeClr val="bg1"/>
          </a:solidFill>
          <a:ln w="9525">
            <a:solidFill>
              <a:srgbClr val="E3E3DD"/>
            </a:solidFill>
            <a:prstDash val="solid"/>
          </a:ln>
          <a:effectLst>
            <a:outerShdw sx="100000" sy="100000" kx="0" ky="0" algn="bl" rotWithShape="0" blurRad="177800" dist="38100" dir="5400000">
              <a:srgbClr val="0E1116">
                <a:alpha val="13000"/>
              </a:srgbClr>
            </a:outerShdw>
          </a:effectLst>
        </p:spPr>
      </p:sp>
      <p:sp>
        <p:nvSpPr>
          <p:cNvPr id="25" name="icono-fondo-279"/>
          <p:cNvSpPr/>
          <p:nvPr/>
        </p:nvSpPr>
        <p:spPr>
          <a:xfrm>
            <a:off x="4612538" y="3977640"/>
            <a:ext cx="566928" cy="566928"/>
          </a:xfrm>
          <a:prstGeom prst="ellipse">
            <a:avLst/>
          </a:prstGeom>
          <a:solidFill>
            <a:schemeClr val="accent1">
              <a:alpha val="15000"/>
            </a:schemeClr>
          </a:solidFill>
          <a:ln/>
        </p:spPr>
      </p:sp>
      <p:pic>
        <p:nvPicPr>
          <p:cNvPr id="26" name="icono-refresh-280" descr="/tmp/claude-0/-home-user-Scoutup/a47adca6-2afe-5531-9b19-f69196bacfbf/scratchpad/deck/img/i_refresh.png">    </p:cNvPr>
          <p:cNvPicPr>
            <a:picLocks noChangeAspect="1"/>
          </p:cNvPicPr>
          <p:nvPr/>
        </p:nvPicPr>
        <p:blipFill>
          <a:blip r:embed="rId5"/>
          <a:stretch>
            <a:fillRect/>
          </a:stretch>
        </p:blipFill>
        <p:spPr>
          <a:xfrm>
            <a:off x="4754270" y="4119372"/>
            <a:ext cx="283464" cy="283464"/>
          </a:xfrm>
          <a:prstGeom prst="rect">
            <a:avLst/>
          </a:prstGeom>
        </p:spPr>
      </p:pic>
      <p:sp>
        <p:nvSpPr>
          <p:cNvPr id="27" name="texto-281"/>
          <p:cNvSpPr txBox="1"/>
          <p:nvPr/>
        </p:nvSpPr>
        <p:spPr>
          <a:xfrm>
            <a:off x="4612538" y="4663440"/>
            <a:ext cx="2966618" cy="347472"/>
          </a:xfrm>
          <a:prstGeom prst="rect">
            <a:avLst/>
          </a:prstGeom>
          <a:noFill/>
          <a:ln/>
        </p:spPr>
        <p:txBody>
          <a:bodyPr wrap="square" lIns="0" tIns="0" rIns="0" bIns="0" rtlCol="0" anchor="t"/>
          <a:lstStyle/>
          <a:p>
            <a:pPr indent="0" marL="0">
              <a:buNone/>
            </a:pPr>
            <a:r>
              <a:rPr lang="en-US" sz="1700" b="1" dirty="0">
                <a:solidFill>
                  <a:schemeClr val="tx1"/>
                </a:solidFill>
                <a:latin typeface="Arial" pitchFamily="34" charset="0"/>
                <a:ea typeface="Arial" pitchFamily="34" charset="-122"/>
                <a:cs typeface="Arial" pitchFamily="34" charset="-120"/>
              </a:rPr>
              <a:t>Continuidad</a:t>
            </a:r>
            <a:endParaRPr lang="en-US" sz="1700" dirty="0"/>
          </a:p>
        </p:txBody>
      </p:sp>
      <p:sp>
        <p:nvSpPr>
          <p:cNvPr id="28" name="texto-282"/>
          <p:cNvSpPr txBox="1"/>
          <p:nvPr/>
        </p:nvSpPr>
        <p:spPr>
          <a:xfrm>
            <a:off x="4612538" y="5010912"/>
            <a:ext cx="2966618" cy="502920"/>
          </a:xfrm>
          <a:prstGeom prst="rect">
            <a:avLst/>
          </a:prstGeom>
          <a:noFill/>
          <a:ln/>
        </p:spPr>
        <p:txBody>
          <a:bodyPr wrap="square" lIns="0" tIns="0" rIns="0" bIns="0" rtlCol="0" anchor="t"/>
          <a:lstStyle/>
          <a:p>
            <a:pPr indent="0" marL="0">
              <a:buNone/>
            </a:pPr>
            <a:r>
              <a:rPr lang="en-US" sz="1400" dirty="0">
                <a:solidFill>
                  <a:schemeClr val="accent6"/>
                </a:solidFill>
              </a:rPr>
              <a:t>La información se queda en el club entre temporadas y responsables.</a:t>
            </a:r>
            <a:endParaRPr lang="en-US" sz="1400" dirty="0"/>
          </a:p>
        </p:txBody>
      </p:sp>
      <p:sp>
        <p:nvSpPr>
          <p:cNvPr id="29" name="tarjeta-283"/>
          <p:cNvSpPr/>
          <p:nvPr/>
        </p:nvSpPr>
        <p:spPr>
          <a:xfrm>
            <a:off x="8127797" y="3703320"/>
            <a:ext cx="3515258" cy="1874520"/>
          </a:xfrm>
          <a:prstGeom prst="roundRect">
            <a:avLst>
              <a:gd name="adj" fmla="val 6829"/>
            </a:avLst>
          </a:prstGeom>
          <a:solidFill>
            <a:schemeClr val="bg1"/>
          </a:solidFill>
          <a:ln w="9525">
            <a:solidFill>
              <a:srgbClr val="E3E3DD"/>
            </a:solidFill>
            <a:prstDash val="solid"/>
          </a:ln>
          <a:effectLst>
            <a:outerShdw sx="100000" sy="100000" kx="0" ky="0" algn="bl" rotWithShape="0" blurRad="177800" dist="38100" dir="5400000">
              <a:srgbClr val="0E1116">
                <a:alpha val="13000"/>
              </a:srgbClr>
            </a:outerShdw>
          </a:effectLst>
        </p:spPr>
      </p:sp>
      <p:sp>
        <p:nvSpPr>
          <p:cNvPr id="30" name="icono-fondo-284"/>
          <p:cNvSpPr/>
          <p:nvPr/>
        </p:nvSpPr>
        <p:spPr>
          <a:xfrm>
            <a:off x="8402117" y="3977640"/>
            <a:ext cx="566928" cy="566928"/>
          </a:xfrm>
          <a:prstGeom prst="ellipse">
            <a:avLst/>
          </a:prstGeom>
          <a:solidFill>
            <a:schemeClr val="accent1">
              <a:alpha val="15000"/>
            </a:schemeClr>
          </a:solidFill>
          <a:ln/>
        </p:spPr>
      </p:sp>
      <p:pic>
        <p:nvPicPr>
          <p:cNvPr id="31" name="icono-connect-285" descr="/tmp/claude-0/-home-user-Scoutup/a47adca6-2afe-5531-9b19-f69196bacfbf/scratchpad/deck/img/i_connect.png">    </p:cNvPr>
          <p:cNvPicPr>
            <a:picLocks noChangeAspect="1"/>
          </p:cNvPicPr>
          <p:nvPr/>
        </p:nvPicPr>
        <p:blipFill>
          <a:blip r:embed="rId6"/>
          <a:stretch>
            <a:fillRect/>
          </a:stretch>
        </p:blipFill>
        <p:spPr>
          <a:xfrm>
            <a:off x="8543849" y="4119372"/>
            <a:ext cx="283464" cy="283464"/>
          </a:xfrm>
          <a:prstGeom prst="rect">
            <a:avLst/>
          </a:prstGeom>
        </p:spPr>
      </p:pic>
      <p:sp>
        <p:nvSpPr>
          <p:cNvPr id="32" name="texto-286"/>
          <p:cNvSpPr txBox="1"/>
          <p:nvPr/>
        </p:nvSpPr>
        <p:spPr>
          <a:xfrm>
            <a:off x="8402117" y="4663440"/>
            <a:ext cx="2966618" cy="347472"/>
          </a:xfrm>
          <a:prstGeom prst="rect">
            <a:avLst/>
          </a:prstGeom>
          <a:noFill/>
          <a:ln/>
        </p:spPr>
        <p:txBody>
          <a:bodyPr wrap="square" lIns="0" tIns="0" rIns="0" bIns="0" rtlCol="0" anchor="t"/>
          <a:lstStyle/>
          <a:p>
            <a:pPr indent="0" marL="0">
              <a:buNone/>
            </a:pPr>
            <a:r>
              <a:rPr lang="en-US" sz="1700" b="1" dirty="0">
                <a:solidFill>
                  <a:schemeClr val="tx1"/>
                </a:solidFill>
                <a:latin typeface="Arial" pitchFamily="34" charset="0"/>
                <a:ea typeface="Arial" pitchFamily="34" charset="-122"/>
                <a:cs typeface="Arial" pitchFamily="34" charset="-120"/>
              </a:rPr>
              <a:t>Conexión más directa</a:t>
            </a:r>
            <a:endParaRPr lang="en-US" sz="1700" dirty="0"/>
          </a:p>
        </p:txBody>
      </p:sp>
      <p:sp>
        <p:nvSpPr>
          <p:cNvPr id="33" name="texto-287"/>
          <p:cNvSpPr txBox="1"/>
          <p:nvPr/>
        </p:nvSpPr>
        <p:spPr>
          <a:xfrm>
            <a:off x="8402117" y="5010912"/>
            <a:ext cx="2966618" cy="502920"/>
          </a:xfrm>
          <a:prstGeom prst="rect">
            <a:avLst/>
          </a:prstGeom>
          <a:noFill/>
          <a:ln/>
        </p:spPr>
        <p:txBody>
          <a:bodyPr wrap="square" lIns="0" tIns="0" rIns="0" bIns="0" rtlCol="0" anchor="t"/>
          <a:lstStyle/>
          <a:p>
            <a:pPr indent="0" marL="0">
              <a:buNone/>
            </a:pPr>
            <a:r>
              <a:rPr lang="en-US" sz="1400" dirty="0">
                <a:solidFill>
                  <a:schemeClr val="accent6"/>
                </a:solidFill>
              </a:rPr>
              <a:t>Necesidades publicadas que los jugadores pueden ver y responder.</a:t>
            </a:r>
            <a:endParaRPr lang="en-US" sz="1400" dirty="0"/>
          </a:p>
        </p:txBody>
      </p:sp>
      <p:sp>
        <p:nvSpPr>
          <p:cNvPr id="34" name="texto-288"/>
          <p:cNvSpPr txBox="1"/>
          <p:nvPr/>
        </p:nvSpPr>
        <p:spPr>
          <a:xfrm>
            <a:off x="548640" y="5806440"/>
            <a:ext cx="11094415" cy="320040"/>
          </a:xfrm>
          <a:prstGeom prst="rect">
            <a:avLst/>
          </a:prstGeom>
          <a:noFill/>
          <a:ln/>
        </p:spPr>
        <p:txBody>
          <a:bodyPr wrap="square" lIns="0" tIns="0" rIns="0" bIns="0" rtlCol="0" anchor="t"/>
          <a:lstStyle/>
          <a:p>
            <a:pPr indent="0" marL="0">
              <a:buNone/>
            </a:pPr>
            <a:r>
              <a:rPr lang="en-US" sz="1400" i="1" dirty="0">
                <a:solidFill>
                  <a:schemeClr val="accent6"/>
                </a:solidFill>
              </a:rPr>
              <a:t>Sin cifras a propósito: todavía no tenemos datos reales para medirlo y no queremos inventarlos.</a:t>
            </a:r>
            <a:endParaRPr lang="en-US" sz="1400" dirty="0"/>
          </a:p>
        </p:txBody>
      </p:sp>
      <p:sp>
        <p:nvSpPr>
          <p:cNvPr id="25" name="Slide Number Placeholder 0"/>
          <p:cNvSpPr>
            <a:spLocks noGrp="1"/>
          </p:cNvSpPr>
          <p:nvPr>
            <p:ph type="sldNum" sz="quarter" idx="4294967295"/>
          </p:nvPr>
        </p:nvSpPr>
        <p:spPr>
          <a:xfrm>
            <a:off x="11185855" y="6382512"/>
            <a:ext cx="457200" cy="237744"/>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686800" cy="274320"/>
          </a:xfrm>
          <a:prstGeom prst="rect">
            <a:avLst/>
          </a:prstGeom>
          <a:noFill/>
          <a:ln/>
        </p:spPr>
        <p:txBody>
          <a:bodyPr wrap="square" lIns="0" tIns="0" rIns="0" bIns="0" rtlCol="0" anchor="ctr"/>
          <a:lstStyle/>
          <a:p>
            <a:pPr indent="0" marL="0">
              <a:buNone/>
            </a:pPr>
            <a:r>
              <a:rPr lang="en-US" sz="1200" b="1" spc="150" kern="0" dirty="0">
                <a:solidFill>
                  <a:schemeClr val="accent2"/>
                </a:solidFill>
              </a:rPr>
              <a:t>POR QUÉ ESTAMOS AQUÍ</a:t>
            </a:r>
            <a:endParaRPr lang="en-US" sz="1200" dirty="0"/>
          </a:p>
        </p:txBody>
      </p:sp>
      <p:sp>
        <p:nvSpPr>
          <p:cNvPr id="3" name="Text 0"/>
          <p:cNvSpPr/>
          <p:nvPr>
            <p:ph idx="101" type="title" hasCustomPrompt="1"/>
          </p:nvPr>
        </p:nvSpPr>
        <p:spPr>
          <a:xfrm>
            <a:off x="548640" y="640080"/>
            <a:ext cx="11094415" cy="685800"/>
          </a:xfrm>
          <a:prstGeom prst="rect">
            <a:avLst/>
          </a:prstGeom>
          <a:noFill/>
          <a:ln/>
        </p:spPr>
        <p:txBody>
          <a:bodyPr wrap="square" lIns="0" tIns="0" rIns="0" bIns="0" rtlCol="0" anchor="t"/>
          <a:lstStyle/>
          <a:p>
            <a:pPr algn="l" indent="0" marL="0">
              <a:buNone/>
            </a:pPr>
            <a:r>
              <a:rPr lang="en-US" sz="3200" b="1" dirty="0">
                <a:solidFill>
                  <a:schemeClr val="tx1"/>
                </a:solidFill>
              </a:rPr>
              <a:t>No queremos construirlo sin los clubes</a:t>
            </a:r>
            <a:endParaRPr lang="en-US" sz="3200" dirty="0"/>
          </a:p>
        </p:txBody>
      </p:sp>
      <p:sp>
        <p:nvSpPr>
          <p:cNvPr id="4" name="tarjeta-289"/>
          <p:cNvSpPr/>
          <p:nvPr/>
        </p:nvSpPr>
        <p:spPr>
          <a:xfrm>
            <a:off x="548640" y="1600200"/>
            <a:ext cx="3291840" cy="4434840"/>
          </a:xfrm>
          <a:prstGeom prst="roundRect">
            <a:avLst>
              <a:gd name="adj" fmla="val 3889"/>
            </a:avLst>
          </a:prstGeom>
          <a:solidFill>
            <a:schemeClr val="tx2"/>
          </a:solidFill>
          <a:ln/>
          <a:effectLst>
            <a:outerShdw sx="100000" sy="100000" kx="0" ky="0" algn="bl" rotWithShape="0" blurRad="177800" dist="38100" dir="5400000">
              <a:srgbClr val="0E1116">
                <a:alpha val="13000"/>
              </a:srgbClr>
            </a:outerShdw>
          </a:effectLst>
        </p:spPr>
      </p:sp>
      <p:sp>
        <p:nvSpPr>
          <p:cNvPr id="5" name="texto-290"/>
          <p:cNvSpPr txBox="1"/>
          <p:nvPr/>
        </p:nvSpPr>
        <p:spPr>
          <a:xfrm>
            <a:off x="868680" y="1874520"/>
            <a:ext cx="2651760" cy="1371600"/>
          </a:xfrm>
          <a:prstGeom prst="rect">
            <a:avLst/>
          </a:prstGeom>
          <a:noFill/>
          <a:ln/>
        </p:spPr>
        <p:txBody>
          <a:bodyPr wrap="square" lIns="0" tIns="0" rIns="0" bIns="0" rtlCol="0" anchor="t"/>
          <a:lstStyle/>
          <a:p>
            <a:pPr indent="0" marL="0">
              <a:buNone/>
            </a:pPr>
            <a:r>
              <a:rPr lang="en-US" sz="9600" b="1" dirty="0">
                <a:solidFill>
                  <a:schemeClr val="accent1"/>
                </a:solidFill>
                <a:latin typeface="Arial" pitchFamily="34" charset="0"/>
                <a:ea typeface="Arial" pitchFamily="34" charset="-122"/>
                <a:cs typeface="Arial" pitchFamily="34" charset="-120"/>
              </a:rPr>
              <a:t>10</a:t>
            </a:r>
            <a:endParaRPr lang="en-US" sz="9600" dirty="0"/>
          </a:p>
        </p:txBody>
      </p:sp>
      <p:sp>
        <p:nvSpPr>
          <p:cNvPr id="6" name="texto-291"/>
          <p:cNvSpPr txBox="1"/>
          <p:nvPr/>
        </p:nvSpPr>
        <p:spPr>
          <a:xfrm>
            <a:off x="868680" y="3291840"/>
            <a:ext cx="2651760" cy="411480"/>
          </a:xfrm>
          <a:prstGeom prst="rect">
            <a:avLst/>
          </a:prstGeom>
          <a:noFill/>
          <a:ln/>
        </p:spPr>
        <p:txBody>
          <a:bodyPr wrap="square" lIns="0" tIns="0" rIns="0" bIns="0" rtlCol="0" anchor="t"/>
          <a:lstStyle/>
          <a:p>
            <a:pPr indent="0" marL="0">
              <a:buNone/>
            </a:pPr>
            <a:r>
              <a:rPr lang="en-US" sz="1800" b="1" dirty="0">
                <a:solidFill>
                  <a:schemeClr val="bg1"/>
                </a:solidFill>
              </a:rPr>
              <a:t>clubes que vamos a visitar</a:t>
            </a:r>
            <a:endParaRPr lang="en-US" sz="1800" dirty="0"/>
          </a:p>
        </p:txBody>
      </p:sp>
      <p:sp>
        <p:nvSpPr>
          <p:cNvPr id="7" name="texto-292"/>
          <p:cNvSpPr txBox="1"/>
          <p:nvPr/>
        </p:nvSpPr>
        <p:spPr>
          <a:xfrm>
            <a:off x="868680" y="3794760"/>
            <a:ext cx="2651760" cy="1097280"/>
          </a:xfrm>
          <a:prstGeom prst="rect">
            <a:avLst/>
          </a:prstGeom>
          <a:noFill/>
          <a:ln/>
        </p:spPr>
        <p:txBody>
          <a:bodyPr wrap="square" lIns="0" tIns="0" rIns="0" bIns="0" rtlCol="0" anchor="t"/>
          <a:lstStyle/>
          <a:p>
            <a:pPr indent="0" marL="0">
              <a:buNone/>
            </a:pPr>
            <a:r>
              <a:rPr lang="en-US" sz="1500" dirty="0">
                <a:solidFill>
                  <a:srgbClr val="C9CDD8"/>
                </a:solidFill>
              </a:rPr>
              <a:t>para entender cómo trabajáis antes de decidir qué construimos y en qué orden.</a:t>
            </a:r>
            <a:endParaRPr lang="en-US" sz="1500" dirty="0"/>
          </a:p>
        </p:txBody>
      </p:sp>
      <p:sp>
        <p:nvSpPr>
          <p:cNvPr id="8" name="icono-fondo-293"/>
          <p:cNvSpPr/>
          <p:nvPr/>
        </p:nvSpPr>
        <p:spPr>
          <a:xfrm>
            <a:off x="868680" y="5074920"/>
            <a:ext cx="640080" cy="640080"/>
          </a:xfrm>
          <a:prstGeom prst="ellipse">
            <a:avLst/>
          </a:prstGeom>
          <a:solidFill>
            <a:schemeClr val="accent1">
              <a:alpha val="20000"/>
            </a:schemeClr>
          </a:solidFill>
          <a:ln/>
        </p:spPr>
      </p:sp>
      <p:pic>
        <p:nvPicPr>
          <p:cNvPr id="9" name="icono-ear-294" descr="/tmp/claude-0/-home-user-Scoutup/a47adca6-2afe-5531-9b19-f69196bacfbf/scratchpad/deck/img/i_ear.png">    </p:cNvPr>
          <p:cNvPicPr>
            <a:picLocks noChangeAspect="1"/>
          </p:cNvPicPr>
          <p:nvPr/>
        </p:nvPicPr>
        <p:blipFill>
          <a:blip r:embed="rId1"/>
          <a:stretch>
            <a:fillRect/>
          </a:stretch>
        </p:blipFill>
        <p:spPr>
          <a:xfrm>
            <a:off x="1028700" y="5234940"/>
            <a:ext cx="320040" cy="320040"/>
          </a:xfrm>
          <a:prstGeom prst="rect">
            <a:avLst/>
          </a:prstGeom>
        </p:spPr>
      </p:pic>
      <p:sp>
        <p:nvSpPr>
          <p:cNvPr id="10" name="texto-295"/>
          <p:cNvSpPr txBox="1"/>
          <p:nvPr/>
        </p:nvSpPr>
        <p:spPr>
          <a:xfrm>
            <a:off x="4206240" y="1600200"/>
            <a:ext cx="7436815" cy="320040"/>
          </a:xfrm>
          <a:prstGeom prst="rect">
            <a:avLst/>
          </a:prstGeom>
          <a:noFill/>
          <a:ln/>
        </p:spPr>
        <p:txBody>
          <a:bodyPr wrap="square" lIns="0" tIns="0" rIns="0" bIns="0" rtlCol="0" anchor="t"/>
          <a:lstStyle/>
          <a:p>
            <a:pPr indent="0" marL="0">
              <a:buNone/>
            </a:pPr>
            <a:r>
              <a:rPr lang="en-US" sz="1600" b="1" dirty="0">
                <a:solidFill>
                  <a:schemeClr val="accent2"/>
                </a:solidFill>
              </a:rPr>
              <a:t>Queremos descubrir</a:t>
            </a:r>
            <a:endParaRPr lang="en-US" sz="1600" dirty="0"/>
          </a:p>
        </p:txBody>
      </p:sp>
      <p:sp>
        <p:nvSpPr>
          <p:cNvPr id="11" name="tarjeta-296"/>
          <p:cNvSpPr/>
          <p:nvPr/>
        </p:nvSpPr>
        <p:spPr>
          <a:xfrm>
            <a:off x="4206240" y="2057400"/>
            <a:ext cx="3604108" cy="1005840"/>
          </a:xfrm>
          <a:prstGeom prst="roundRect">
            <a:avLst>
              <a:gd name="adj" fmla="val 12727"/>
            </a:avLst>
          </a:prstGeom>
          <a:solidFill>
            <a:schemeClr val="bg1"/>
          </a:solidFill>
          <a:ln w="9525">
            <a:solidFill>
              <a:srgbClr val="E3E3DD"/>
            </a:solidFill>
            <a:prstDash val="solid"/>
          </a:ln>
        </p:spPr>
      </p:sp>
      <p:sp>
        <p:nvSpPr>
          <p:cNvPr id="12" name="numero-fondo-297"/>
          <p:cNvSpPr/>
          <p:nvPr/>
        </p:nvSpPr>
        <p:spPr>
          <a:xfrm>
            <a:off x="4434840" y="2331720"/>
            <a:ext cx="457200" cy="457200"/>
          </a:xfrm>
          <a:prstGeom prst="ellipse">
            <a:avLst/>
          </a:prstGeom>
          <a:solidFill>
            <a:schemeClr val="accent1">
              <a:alpha val="15000"/>
            </a:schemeClr>
          </a:solidFill>
          <a:ln/>
        </p:spPr>
      </p:sp>
      <p:sp>
        <p:nvSpPr>
          <p:cNvPr id="13" name="texto-298"/>
          <p:cNvSpPr txBox="1"/>
          <p:nvPr/>
        </p:nvSpPr>
        <p:spPr>
          <a:xfrm>
            <a:off x="4434840" y="2331720"/>
            <a:ext cx="457200" cy="457200"/>
          </a:xfrm>
          <a:prstGeom prst="rect">
            <a:avLst/>
          </a:prstGeom>
          <a:noFill/>
          <a:ln/>
        </p:spPr>
        <p:txBody>
          <a:bodyPr wrap="square" lIns="0" tIns="0" rIns="0" bIns="0" rtlCol="0" anchor="ctr"/>
          <a:lstStyle/>
          <a:p>
            <a:pPr algn="ctr" indent="0" marL="0">
              <a:buNone/>
            </a:pPr>
            <a:r>
              <a:rPr lang="en-US" sz="1500" b="1" dirty="0">
                <a:solidFill>
                  <a:schemeClr val="accent2"/>
                </a:solidFill>
              </a:rPr>
              <a:t>1</a:t>
            </a:r>
            <a:endParaRPr lang="en-US" sz="1500" dirty="0"/>
          </a:p>
        </p:txBody>
      </p:sp>
      <p:sp>
        <p:nvSpPr>
          <p:cNvPr id="14" name="texto-299"/>
          <p:cNvSpPr txBox="1"/>
          <p:nvPr/>
        </p:nvSpPr>
        <p:spPr>
          <a:xfrm>
            <a:off x="5074920" y="2057400"/>
            <a:ext cx="2552548" cy="1005840"/>
          </a:xfrm>
          <a:prstGeom prst="rect">
            <a:avLst/>
          </a:prstGeom>
          <a:noFill/>
          <a:ln/>
        </p:spPr>
        <p:txBody>
          <a:bodyPr wrap="square" lIns="0" tIns="0" rIns="0" bIns="0" rtlCol="0" anchor="ctr"/>
          <a:lstStyle/>
          <a:p>
            <a:pPr indent="0" marL="0">
              <a:buNone/>
            </a:pPr>
            <a:r>
              <a:rPr lang="en-US" sz="1600" b="1" dirty="0">
                <a:solidFill>
                  <a:schemeClr val="tx1"/>
                </a:solidFill>
              </a:rPr>
              <a:t>Qué hacéis hoy</a:t>
            </a:r>
            <a:endParaRPr lang="en-US" sz="1600" dirty="0"/>
          </a:p>
        </p:txBody>
      </p:sp>
      <p:sp>
        <p:nvSpPr>
          <p:cNvPr id="15" name="tarjeta-300"/>
          <p:cNvSpPr/>
          <p:nvPr/>
        </p:nvSpPr>
        <p:spPr>
          <a:xfrm>
            <a:off x="8038948" y="2057400"/>
            <a:ext cx="3604108" cy="1005840"/>
          </a:xfrm>
          <a:prstGeom prst="roundRect">
            <a:avLst>
              <a:gd name="adj" fmla="val 12727"/>
            </a:avLst>
          </a:prstGeom>
          <a:solidFill>
            <a:schemeClr val="bg1"/>
          </a:solidFill>
          <a:ln w="9525">
            <a:solidFill>
              <a:srgbClr val="E3E3DD"/>
            </a:solidFill>
            <a:prstDash val="solid"/>
          </a:ln>
        </p:spPr>
      </p:sp>
      <p:sp>
        <p:nvSpPr>
          <p:cNvPr id="16" name="numero-fondo-301"/>
          <p:cNvSpPr/>
          <p:nvPr/>
        </p:nvSpPr>
        <p:spPr>
          <a:xfrm>
            <a:off x="8267548" y="2331720"/>
            <a:ext cx="457200" cy="457200"/>
          </a:xfrm>
          <a:prstGeom prst="ellipse">
            <a:avLst/>
          </a:prstGeom>
          <a:solidFill>
            <a:schemeClr val="accent1">
              <a:alpha val="15000"/>
            </a:schemeClr>
          </a:solidFill>
          <a:ln/>
        </p:spPr>
      </p:sp>
      <p:sp>
        <p:nvSpPr>
          <p:cNvPr id="17" name="texto-302"/>
          <p:cNvSpPr txBox="1"/>
          <p:nvPr/>
        </p:nvSpPr>
        <p:spPr>
          <a:xfrm>
            <a:off x="8267548" y="2331720"/>
            <a:ext cx="457200" cy="457200"/>
          </a:xfrm>
          <a:prstGeom prst="rect">
            <a:avLst/>
          </a:prstGeom>
          <a:noFill/>
          <a:ln/>
        </p:spPr>
        <p:txBody>
          <a:bodyPr wrap="square" lIns="0" tIns="0" rIns="0" bIns="0" rtlCol="0" anchor="ctr"/>
          <a:lstStyle/>
          <a:p>
            <a:pPr algn="ctr" indent="0" marL="0">
              <a:buNone/>
            </a:pPr>
            <a:r>
              <a:rPr lang="en-US" sz="1500" b="1" dirty="0">
                <a:solidFill>
                  <a:schemeClr val="accent2"/>
                </a:solidFill>
              </a:rPr>
              <a:t>2</a:t>
            </a:r>
            <a:endParaRPr lang="en-US" sz="1500" dirty="0"/>
          </a:p>
        </p:txBody>
      </p:sp>
      <p:sp>
        <p:nvSpPr>
          <p:cNvPr id="18" name="texto-303"/>
          <p:cNvSpPr txBox="1"/>
          <p:nvPr/>
        </p:nvSpPr>
        <p:spPr>
          <a:xfrm>
            <a:off x="8907628" y="2057400"/>
            <a:ext cx="2552548" cy="1005840"/>
          </a:xfrm>
          <a:prstGeom prst="rect">
            <a:avLst/>
          </a:prstGeom>
          <a:noFill/>
          <a:ln/>
        </p:spPr>
        <p:txBody>
          <a:bodyPr wrap="square" lIns="0" tIns="0" rIns="0" bIns="0" rtlCol="0" anchor="ctr"/>
          <a:lstStyle/>
          <a:p>
            <a:pPr indent="0" marL="0">
              <a:buNone/>
            </a:pPr>
            <a:r>
              <a:rPr lang="en-US" sz="1600" b="1" dirty="0">
                <a:solidFill>
                  <a:schemeClr val="tx1"/>
                </a:solidFill>
              </a:rPr>
              <a:t>Qué os resulta más difícil</a:t>
            </a:r>
            <a:endParaRPr lang="en-US" sz="1600" dirty="0"/>
          </a:p>
        </p:txBody>
      </p:sp>
      <p:sp>
        <p:nvSpPr>
          <p:cNvPr id="19" name="tarjeta-304"/>
          <p:cNvSpPr/>
          <p:nvPr/>
        </p:nvSpPr>
        <p:spPr>
          <a:xfrm>
            <a:off x="4206240" y="3246120"/>
            <a:ext cx="3604108" cy="1005840"/>
          </a:xfrm>
          <a:prstGeom prst="roundRect">
            <a:avLst>
              <a:gd name="adj" fmla="val 12727"/>
            </a:avLst>
          </a:prstGeom>
          <a:solidFill>
            <a:schemeClr val="bg1"/>
          </a:solidFill>
          <a:ln w="9525">
            <a:solidFill>
              <a:srgbClr val="E3E3DD"/>
            </a:solidFill>
            <a:prstDash val="solid"/>
          </a:ln>
        </p:spPr>
      </p:sp>
      <p:sp>
        <p:nvSpPr>
          <p:cNvPr id="20" name="numero-fondo-305"/>
          <p:cNvSpPr/>
          <p:nvPr/>
        </p:nvSpPr>
        <p:spPr>
          <a:xfrm>
            <a:off x="4434840" y="3520440"/>
            <a:ext cx="457200" cy="457200"/>
          </a:xfrm>
          <a:prstGeom prst="ellipse">
            <a:avLst/>
          </a:prstGeom>
          <a:solidFill>
            <a:schemeClr val="accent1">
              <a:alpha val="15000"/>
            </a:schemeClr>
          </a:solidFill>
          <a:ln/>
        </p:spPr>
      </p:sp>
      <p:sp>
        <p:nvSpPr>
          <p:cNvPr id="21" name="texto-306"/>
          <p:cNvSpPr txBox="1"/>
          <p:nvPr/>
        </p:nvSpPr>
        <p:spPr>
          <a:xfrm>
            <a:off x="4434840" y="3520440"/>
            <a:ext cx="457200" cy="457200"/>
          </a:xfrm>
          <a:prstGeom prst="rect">
            <a:avLst/>
          </a:prstGeom>
          <a:noFill/>
          <a:ln/>
        </p:spPr>
        <p:txBody>
          <a:bodyPr wrap="square" lIns="0" tIns="0" rIns="0" bIns="0" rtlCol="0" anchor="ctr"/>
          <a:lstStyle/>
          <a:p>
            <a:pPr algn="ctr" indent="0" marL="0">
              <a:buNone/>
            </a:pPr>
            <a:r>
              <a:rPr lang="en-US" sz="1500" b="1" dirty="0">
                <a:solidFill>
                  <a:schemeClr val="accent2"/>
                </a:solidFill>
              </a:rPr>
              <a:t>3</a:t>
            </a:r>
            <a:endParaRPr lang="en-US" sz="1500" dirty="0"/>
          </a:p>
        </p:txBody>
      </p:sp>
      <p:sp>
        <p:nvSpPr>
          <p:cNvPr id="22" name="texto-307"/>
          <p:cNvSpPr txBox="1"/>
          <p:nvPr/>
        </p:nvSpPr>
        <p:spPr>
          <a:xfrm>
            <a:off x="5074920" y="3246120"/>
            <a:ext cx="2552548" cy="1005840"/>
          </a:xfrm>
          <a:prstGeom prst="rect">
            <a:avLst/>
          </a:prstGeom>
          <a:noFill/>
          <a:ln/>
        </p:spPr>
        <p:txBody>
          <a:bodyPr wrap="square" lIns="0" tIns="0" rIns="0" bIns="0" rtlCol="0" anchor="ctr"/>
          <a:lstStyle/>
          <a:p>
            <a:pPr indent="0" marL="0">
              <a:buNone/>
            </a:pPr>
            <a:r>
              <a:rPr lang="en-US" sz="1600" b="1" dirty="0">
                <a:solidFill>
                  <a:schemeClr val="tx1"/>
                </a:solidFill>
              </a:rPr>
              <a:t>Qué herramientas usáis</a:t>
            </a:r>
            <a:endParaRPr lang="en-US" sz="1600" dirty="0"/>
          </a:p>
        </p:txBody>
      </p:sp>
      <p:sp>
        <p:nvSpPr>
          <p:cNvPr id="23" name="tarjeta-308"/>
          <p:cNvSpPr/>
          <p:nvPr/>
        </p:nvSpPr>
        <p:spPr>
          <a:xfrm>
            <a:off x="8038948" y="3246120"/>
            <a:ext cx="3604108" cy="1005840"/>
          </a:xfrm>
          <a:prstGeom prst="roundRect">
            <a:avLst>
              <a:gd name="adj" fmla="val 12727"/>
            </a:avLst>
          </a:prstGeom>
          <a:solidFill>
            <a:schemeClr val="bg1"/>
          </a:solidFill>
          <a:ln w="9525">
            <a:solidFill>
              <a:srgbClr val="E3E3DD"/>
            </a:solidFill>
            <a:prstDash val="solid"/>
          </a:ln>
        </p:spPr>
      </p:sp>
      <p:sp>
        <p:nvSpPr>
          <p:cNvPr id="24" name="numero-fondo-309"/>
          <p:cNvSpPr/>
          <p:nvPr/>
        </p:nvSpPr>
        <p:spPr>
          <a:xfrm>
            <a:off x="8267548" y="3520440"/>
            <a:ext cx="457200" cy="457200"/>
          </a:xfrm>
          <a:prstGeom prst="ellipse">
            <a:avLst/>
          </a:prstGeom>
          <a:solidFill>
            <a:schemeClr val="accent1">
              <a:alpha val="15000"/>
            </a:schemeClr>
          </a:solidFill>
          <a:ln/>
        </p:spPr>
      </p:sp>
      <p:sp>
        <p:nvSpPr>
          <p:cNvPr id="25" name="texto-310"/>
          <p:cNvSpPr txBox="1"/>
          <p:nvPr/>
        </p:nvSpPr>
        <p:spPr>
          <a:xfrm>
            <a:off x="8267548" y="3520440"/>
            <a:ext cx="457200" cy="457200"/>
          </a:xfrm>
          <a:prstGeom prst="rect">
            <a:avLst/>
          </a:prstGeom>
          <a:noFill/>
          <a:ln/>
        </p:spPr>
        <p:txBody>
          <a:bodyPr wrap="square" lIns="0" tIns="0" rIns="0" bIns="0" rtlCol="0" anchor="ctr"/>
          <a:lstStyle/>
          <a:p>
            <a:pPr algn="ctr" indent="0" marL="0">
              <a:buNone/>
            </a:pPr>
            <a:r>
              <a:rPr lang="en-US" sz="1500" b="1" dirty="0">
                <a:solidFill>
                  <a:schemeClr val="accent2"/>
                </a:solidFill>
              </a:rPr>
              <a:t>4</a:t>
            </a:r>
            <a:endParaRPr lang="en-US" sz="1500" dirty="0"/>
          </a:p>
        </p:txBody>
      </p:sp>
      <p:sp>
        <p:nvSpPr>
          <p:cNvPr id="26" name="texto-311"/>
          <p:cNvSpPr txBox="1"/>
          <p:nvPr/>
        </p:nvSpPr>
        <p:spPr>
          <a:xfrm>
            <a:off x="8907628" y="3246120"/>
            <a:ext cx="2552548" cy="1005840"/>
          </a:xfrm>
          <a:prstGeom prst="rect">
            <a:avLst/>
          </a:prstGeom>
          <a:noFill/>
          <a:ln/>
        </p:spPr>
        <p:txBody>
          <a:bodyPr wrap="square" lIns="0" tIns="0" rIns="0" bIns="0" rtlCol="0" anchor="ctr"/>
          <a:lstStyle/>
          <a:p>
            <a:pPr indent="0" marL="0">
              <a:buNone/>
            </a:pPr>
            <a:r>
              <a:rPr lang="en-US" sz="1600" b="1" dirty="0">
                <a:solidFill>
                  <a:schemeClr val="tx1"/>
                </a:solidFill>
              </a:rPr>
              <a:t>Qué funcionalidades os aportarían más</a:t>
            </a:r>
            <a:endParaRPr lang="en-US" sz="1600" dirty="0"/>
          </a:p>
        </p:txBody>
      </p:sp>
      <p:sp>
        <p:nvSpPr>
          <p:cNvPr id="27" name="tarjeta-312"/>
          <p:cNvSpPr/>
          <p:nvPr/>
        </p:nvSpPr>
        <p:spPr>
          <a:xfrm>
            <a:off x="4206240" y="4434840"/>
            <a:ext cx="3604108" cy="1005840"/>
          </a:xfrm>
          <a:prstGeom prst="roundRect">
            <a:avLst>
              <a:gd name="adj" fmla="val 12727"/>
            </a:avLst>
          </a:prstGeom>
          <a:solidFill>
            <a:schemeClr val="bg1"/>
          </a:solidFill>
          <a:ln w="9525">
            <a:solidFill>
              <a:srgbClr val="E3E3DD"/>
            </a:solidFill>
            <a:prstDash val="solid"/>
          </a:ln>
        </p:spPr>
      </p:sp>
      <p:sp>
        <p:nvSpPr>
          <p:cNvPr id="28" name="numero-fondo-313"/>
          <p:cNvSpPr/>
          <p:nvPr/>
        </p:nvSpPr>
        <p:spPr>
          <a:xfrm>
            <a:off x="4434840" y="4709160"/>
            <a:ext cx="457200" cy="457200"/>
          </a:xfrm>
          <a:prstGeom prst="ellipse">
            <a:avLst/>
          </a:prstGeom>
          <a:solidFill>
            <a:schemeClr val="accent1">
              <a:alpha val="15000"/>
            </a:schemeClr>
          </a:solidFill>
          <a:ln/>
        </p:spPr>
      </p:sp>
      <p:sp>
        <p:nvSpPr>
          <p:cNvPr id="29" name="texto-314"/>
          <p:cNvSpPr txBox="1"/>
          <p:nvPr/>
        </p:nvSpPr>
        <p:spPr>
          <a:xfrm>
            <a:off x="4434840" y="4709160"/>
            <a:ext cx="457200" cy="457200"/>
          </a:xfrm>
          <a:prstGeom prst="rect">
            <a:avLst/>
          </a:prstGeom>
          <a:noFill/>
          <a:ln/>
        </p:spPr>
        <p:txBody>
          <a:bodyPr wrap="square" lIns="0" tIns="0" rIns="0" bIns="0" rtlCol="0" anchor="ctr"/>
          <a:lstStyle/>
          <a:p>
            <a:pPr algn="ctr" indent="0" marL="0">
              <a:buNone/>
            </a:pPr>
            <a:r>
              <a:rPr lang="en-US" sz="1500" b="1" dirty="0">
                <a:solidFill>
                  <a:schemeClr val="accent2"/>
                </a:solidFill>
              </a:rPr>
              <a:t>5</a:t>
            </a:r>
            <a:endParaRPr lang="en-US" sz="1500" dirty="0"/>
          </a:p>
        </p:txBody>
      </p:sp>
      <p:sp>
        <p:nvSpPr>
          <p:cNvPr id="30" name="texto-315"/>
          <p:cNvSpPr txBox="1"/>
          <p:nvPr/>
        </p:nvSpPr>
        <p:spPr>
          <a:xfrm>
            <a:off x="5074920" y="4434840"/>
            <a:ext cx="2552548" cy="1005840"/>
          </a:xfrm>
          <a:prstGeom prst="rect">
            <a:avLst/>
          </a:prstGeom>
          <a:noFill/>
          <a:ln/>
        </p:spPr>
        <p:txBody>
          <a:bodyPr wrap="square" lIns="0" tIns="0" rIns="0" bIns="0" rtlCol="0" anchor="ctr"/>
          <a:lstStyle/>
          <a:p>
            <a:pPr indent="0" marL="0">
              <a:buNone/>
            </a:pPr>
            <a:r>
              <a:rPr lang="en-US" sz="1600" b="1" dirty="0">
                <a:solidFill>
                  <a:schemeClr val="tx1"/>
                </a:solidFill>
              </a:rPr>
              <a:t>Qué os impediría usar una plataforma así</a:t>
            </a:r>
            <a:endParaRPr lang="en-US" sz="1600" dirty="0"/>
          </a:p>
        </p:txBody>
      </p:sp>
      <p:sp>
        <p:nvSpPr>
          <p:cNvPr id="31" name="tarjeta-316"/>
          <p:cNvSpPr/>
          <p:nvPr/>
        </p:nvSpPr>
        <p:spPr>
          <a:xfrm>
            <a:off x="8038948" y="4434840"/>
            <a:ext cx="3604108" cy="1005840"/>
          </a:xfrm>
          <a:prstGeom prst="roundRect">
            <a:avLst>
              <a:gd name="adj" fmla="val 12727"/>
            </a:avLst>
          </a:prstGeom>
          <a:solidFill>
            <a:schemeClr val="bg1"/>
          </a:solidFill>
          <a:ln w="9525">
            <a:solidFill>
              <a:srgbClr val="E3E3DD"/>
            </a:solidFill>
            <a:prstDash val="solid"/>
          </a:ln>
        </p:spPr>
      </p:sp>
      <p:sp>
        <p:nvSpPr>
          <p:cNvPr id="32" name="numero-fondo-317"/>
          <p:cNvSpPr/>
          <p:nvPr/>
        </p:nvSpPr>
        <p:spPr>
          <a:xfrm>
            <a:off x="8267548" y="4709160"/>
            <a:ext cx="457200" cy="457200"/>
          </a:xfrm>
          <a:prstGeom prst="ellipse">
            <a:avLst/>
          </a:prstGeom>
          <a:solidFill>
            <a:schemeClr val="accent1">
              <a:alpha val="15000"/>
            </a:schemeClr>
          </a:solidFill>
          <a:ln/>
        </p:spPr>
      </p:sp>
      <p:sp>
        <p:nvSpPr>
          <p:cNvPr id="33" name="texto-318"/>
          <p:cNvSpPr txBox="1"/>
          <p:nvPr/>
        </p:nvSpPr>
        <p:spPr>
          <a:xfrm>
            <a:off x="8267548" y="4709160"/>
            <a:ext cx="457200" cy="457200"/>
          </a:xfrm>
          <a:prstGeom prst="rect">
            <a:avLst/>
          </a:prstGeom>
          <a:noFill/>
          <a:ln/>
        </p:spPr>
        <p:txBody>
          <a:bodyPr wrap="square" lIns="0" tIns="0" rIns="0" bIns="0" rtlCol="0" anchor="ctr"/>
          <a:lstStyle/>
          <a:p>
            <a:pPr algn="ctr" indent="0" marL="0">
              <a:buNone/>
            </a:pPr>
            <a:r>
              <a:rPr lang="en-US" sz="1500" b="1" dirty="0">
                <a:solidFill>
                  <a:schemeClr val="accent2"/>
                </a:solidFill>
              </a:rPr>
              <a:t>6</a:t>
            </a:r>
            <a:endParaRPr lang="en-US" sz="1500" dirty="0"/>
          </a:p>
        </p:txBody>
      </p:sp>
      <p:sp>
        <p:nvSpPr>
          <p:cNvPr id="34" name="texto-319"/>
          <p:cNvSpPr txBox="1"/>
          <p:nvPr/>
        </p:nvSpPr>
        <p:spPr>
          <a:xfrm>
            <a:off x="8907628" y="4434840"/>
            <a:ext cx="2552548" cy="1005840"/>
          </a:xfrm>
          <a:prstGeom prst="rect">
            <a:avLst/>
          </a:prstGeom>
          <a:noFill/>
          <a:ln/>
        </p:spPr>
        <p:txBody>
          <a:bodyPr wrap="square" lIns="0" tIns="0" rIns="0" bIns="0" rtlCol="0" anchor="ctr"/>
          <a:lstStyle/>
          <a:p>
            <a:pPr indent="0" marL="0">
              <a:buNone/>
            </a:pPr>
            <a:r>
              <a:rPr lang="en-US" sz="1600" b="1" dirty="0">
                <a:solidFill>
                  <a:schemeClr val="tx1"/>
                </a:solidFill>
              </a:rPr>
              <a:t>Qué necesitaríais ver para probarla</a:t>
            </a:r>
            <a:endParaRPr lang="en-US" sz="1600" dirty="0"/>
          </a:p>
        </p:txBody>
      </p:sp>
      <p:sp>
        <p:nvSpPr>
          <p:cNvPr id="35" name="texto-320"/>
          <p:cNvSpPr txBox="1"/>
          <p:nvPr/>
        </p:nvSpPr>
        <p:spPr>
          <a:xfrm>
            <a:off x="4206240" y="5669280"/>
            <a:ext cx="7436815" cy="640080"/>
          </a:xfrm>
          <a:prstGeom prst="rect">
            <a:avLst/>
          </a:prstGeom>
          <a:noFill/>
          <a:ln/>
        </p:spPr>
        <p:txBody>
          <a:bodyPr wrap="square" lIns="0" tIns="0" rIns="0" bIns="0" rtlCol="0" anchor="ctr"/>
          <a:lstStyle/>
          <a:p>
            <a:pPr indent="0" marL="0">
              <a:buNone/>
            </a:pPr>
            <a:r>
              <a:rPr lang="en-US" sz="1600" i="1" dirty="0">
                <a:solidFill>
                  <a:schemeClr val="tx1"/>
                </a:solidFill>
              </a:rPr>
              <a:t>No buscamos que nos digáis que la idea es buena: queremos saber qué cambiar, qué quitar y qué priorizar.</a:t>
            </a:r>
            <a:endParaRPr lang="en-US" sz="1600" dirty="0"/>
          </a:p>
        </p:txBody>
      </p:sp>
      <p:sp>
        <p:nvSpPr>
          <p:cNvPr id="25" name="Slide Number Placeholder 0"/>
          <p:cNvSpPr>
            <a:spLocks noGrp="1"/>
          </p:cNvSpPr>
          <p:nvPr>
            <p:ph type="sldNum" sz="quarter" idx="4294967295"/>
          </p:nvPr>
        </p:nvSpPr>
        <p:spPr>
          <a:xfrm>
            <a:off x="11185855" y="6382512"/>
            <a:ext cx="457200" cy="237744"/>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640080"/>
            <a:ext cx="8229600" cy="274320"/>
          </a:xfrm>
          <a:prstGeom prst="rect">
            <a:avLst/>
          </a:prstGeom>
          <a:noFill/>
          <a:ln/>
        </p:spPr>
        <p:txBody>
          <a:bodyPr wrap="square" lIns="0" tIns="0" rIns="0" bIns="0" rtlCol="0"/>
          <a:lstStyle/>
          <a:p>
            <a:pPr indent="0" marL="0">
              <a:buNone/>
            </a:pPr>
            <a:r>
              <a:rPr lang="en-US" sz="1200" b="1" spc="150" kern="0" dirty="0">
                <a:solidFill>
                  <a:schemeClr val="accent1"/>
                </a:solidFill>
              </a:rPr>
              <a:t>VUESTRO TURNO</a:t>
            </a:r>
            <a:endParaRPr lang="en-US" sz="1200" dirty="0"/>
          </a:p>
        </p:txBody>
      </p:sp>
      <p:sp>
        <p:nvSpPr>
          <p:cNvPr id="3" name="Text 0"/>
          <p:cNvSpPr/>
          <p:nvPr>
            <p:ph idx="101" type="title" hasCustomPrompt="1"/>
          </p:nvPr>
        </p:nvSpPr>
        <p:spPr>
          <a:xfrm>
            <a:off x="548640" y="960120"/>
            <a:ext cx="11094415" cy="868680"/>
          </a:xfrm>
          <a:prstGeom prst="rect">
            <a:avLst/>
          </a:prstGeom>
          <a:noFill/>
          <a:ln/>
        </p:spPr>
        <p:txBody>
          <a:bodyPr wrap="square" lIns="0" tIns="0" rIns="0" bIns="0" rtlCol="0" anchor="t"/>
          <a:lstStyle/>
          <a:p>
            <a:pPr algn="l" indent="0" marL="0">
              <a:buNone/>
            </a:pPr>
            <a:r>
              <a:rPr lang="en-US" sz="4400" b="1" dirty="0">
                <a:solidFill>
                  <a:schemeClr val="bg1"/>
                </a:solidFill>
              </a:rPr>
              <a:t>Queremos conocer vuestro club</a:t>
            </a:r>
            <a:endParaRPr lang="en-US" sz="4400" dirty="0"/>
          </a:p>
        </p:txBody>
      </p:sp>
      <p:sp>
        <p:nvSpPr>
          <p:cNvPr id="4" name="pregunta-fondo-321"/>
          <p:cNvSpPr/>
          <p:nvPr/>
        </p:nvSpPr>
        <p:spPr>
          <a:xfrm>
            <a:off x="548640" y="2240280"/>
            <a:ext cx="3515258" cy="2148840"/>
          </a:xfrm>
          <a:prstGeom prst="roundRect">
            <a:avLst>
              <a:gd name="adj" fmla="val 5957"/>
            </a:avLst>
          </a:prstGeom>
          <a:solidFill>
            <a:schemeClr val="bg1">
              <a:alpha val="7000"/>
            </a:schemeClr>
          </a:solidFill>
          <a:ln w="9525">
            <a:solidFill>
              <a:schemeClr val="bg1">
                <a:alpha val="15000"/>
              </a:schemeClr>
            </a:solidFill>
            <a:prstDash val="solid"/>
          </a:ln>
        </p:spPr>
      </p:sp>
      <p:sp>
        <p:nvSpPr>
          <p:cNvPr id="5" name="texto-322"/>
          <p:cNvSpPr txBox="1"/>
          <p:nvPr/>
        </p:nvSpPr>
        <p:spPr>
          <a:xfrm>
            <a:off x="868680" y="2514600"/>
            <a:ext cx="1097280" cy="548640"/>
          </a:xfrm>
          <a:prstGeom prst="rect">
            <a:avLst/>
          </a:prstGeom>
          <a:noFill/>
          <a:ln/>
        </p:spPr>
        <p:txBody>
          <a:bodyPr wrap="square" lIns="0" tIns="0" rIns="0" bIns="0" rtlCol="0" anchor="t"/>
          <a:lstStyle/>
          <a:p>
            <a:pPr indent="0" marL="0">
              <a:buNone/>
            </a:pPr>
            <a:r>
              <a:rPr lang="en-US" sz="3000" b="1" dirty="0">
                <a:solidFill>
                  <a:schemeClr val="accent1"/>
                </a:solidFill>
                <a:latin typeface="Arial" pitchFamily="34" charset="0"/>
                <a:ea typeface="Arial" pitchFamily="34" charset="-122"/>
                <a:cs typeface="Arial" pitchFamily="34" charset="-120"/>
              </a:rPr>
              <a:t>01</a:t>
            </a:r>
            <a:endParaRPr lang="en-US" sz="3000" dirty="0"/>
          </a:p>
        </p:txBody>
      </p:sp>
      <p:sp>
        <p:nvSpPr>
          <p:cNvPr id="6" name="texto-323"/>
          <p:cNvSpPr txBox="1"/>
          <p:nvPr/>
        </p:nvSpPr>
        <p:spPr>
          <a:xfrm>
            <a:off x="868680" y="3154680"/>
            <a:ext cx="2875178" cy="1097280"/>
          </a:xfrm>
          <a:prstGeom prst="rect">
            <a:avLst/>
          </a:prstGeom>
          <a:noFill/>
          <a:ln/>
        </p:spPr>
        <p:txBody>
          <a:bodyPr wrap="square" lIns="0" tIns="0" rIns="0" bIns="0" rtlCol="0" anchor="t"/>
          <a:lstStyle/>
          <a:p>
            <a:pPr indent="0" marL="0">
              <a:buNone/>
            </a:pPr>
            <a:r>
              <a:rPr lang="en-US" sz="2000" b="1" dirty="0">
                <a:solidFill>
                  <a:schemeClr val="bg1"/>
                </a:solidFill>
                <a:latin typeface="Arial" pitchFamily="34" charset="0"/>
                <a:ea typeface="Arial" pitchFamily="34" charset="-122"/>
                <a:cs typeface="Arial" pitchFamily="34" charset="-120"/>
              </a:rPr>
              <a:t>¿Cómo encontráis jugadores cuando surge una necesidad?</a:t>
            </a:r>
            <a:endParaRPr lang="en-US" sz="2000" dirty="0"/>
          </a:p>
        </p:txBody>
      </p:sp>
      <p:sp>
        <p:nvSpPr>
          <p:cNvPr id="7" name="pregunta-fondo-324"/>
          <p:cNvSpPr/>
          <p:nvPr/>
        </p:nvSpPr>
        <p:spPr>
          <a:xfrm>
            <a:off x="4338218" y="2240280"/>
            <a:ext cx="3515258" cy="2148840"/>
          </a:xfrm>
          <a:prstGeom prst="roundRect">
            <a:avLst>
              <a:gd name="adj" fmla="val 5957"/>
            </a:avLst>
          </a:prstGeom>
          <a:solidFill>
            <a:schemeClr val="bg1">
              <a:alpha val="7000"/>
            </a:schemeClr>
          </a:solidFill>
          <a:ln w="9525">
            <a:solidFill>
              <a:schemeClr val="bg1">
                <a:alpha val="15000"/>
              </a:schemeClr>
            </a:solidFill>
            <a:prstDash val="solid"/>
          </a:ln>
        </p:spPr>
      </p:sp>
      <p:sp>
        <p:nvSpPr>
          <p:cNvPr id="8" name="texto-325"/>
          <p:cNvSpPr txBox="1"/>
          <p:nvPr/>
        </p:nvSpPr>
        <p:spPr>
          <a:xfrm>
            <a:off x="4658258" y="2514600"/>
            <a:ext cx="1097280" cy="548640"/>
          </a:xfrm>
          <a:prstGeom prst="rect">
            <a:avLst/>
          </a:prstGeom>
          <a:noFill/>
          <a:ln/>
        </p:spPr>
        <p:txBody>
          <a:bodyPr wrap="square" lIns="0" tIns="0" rIns="0" bIns="0" rtlCol="0" anchor="t"/>
          <a:lstStyle/>
          <a:p>
            <a:pPr indent="0" marL="0">
              <a:buNone/>
            </a:pPr>
            <a:r>
              <a:rPr lang="en-US" sz="3000" b="1" dirty="0">
                <a:solidFill>
                  <a:schemeClr val="accent1"/>
                </a:solidFill>
                <a:latin typeface="Arial" pitchFamily="34" charset="0"/>
                <a:ea typeface="Arial" pitchFamily="34" charset="-122"/>
                <a:cs typeface="Arial" pitchFamily="34" charset="-120"/>
              </a:rPr>
              <a:t>02</a:t>
            </a:r>
            <a:endParaRPr lang="en-US" sz="3000" dirty="0"/>
          </a:p>
        </p:txBody>
      </p:sp>
      <p:sp>
        <p:nvSpPr>
          <p:cNvPr id="9" name="texto-326"/>
          <p:cNvSpPr txBox="1"/>
          <p:nvPr/>
        </p:nvSpPr>
        <p:spPr>
          <a:xfrm>
            <a:off x="4658258" y="3154680"/>
            <a:ext cx="2875178" cy="1097280"/>
          </a:xfrm>
          <a:prstGeom prst="rect">
            <a:avLst/>
          </a:prstGeom>
          <a:noFill/>
          <a:ln/>
        </p:spPr>
        <p:txBody>
          <a:bodyPr wrap="square" lIns="0" tIns="0" rIns="0" bIns="0" rtlCol="0" anchor="t"/>
          <a:lstStyle/>
          <a:p>
            <a:pPr indent="0" marL="0">
              <a:buNone/>
            </a:pPr>
            <a:r>
              <a:rPr lang="en-US" sz="2000" b="1" dirty="0">
                <a:solidFill>
                  <a:schemeClr val="bg1"/>
                </a:solidFill>
                <a:latin typeface="Arial" pitchFamily="34" charset="0"/>
                <a:ea typeface="Arial" pitchFamily="34" charset="-122"/>
                <a:cs typeface="Arial" pitchFamily="34" charset="-120"/>
              </a:rPr>
              <a:t>¿Qué parte del proceso os consume más tiempo?</a:t>
            </a:r>
            <a:endParaRPr lang="en-US" sz="2000" dirty="0"/>
          </a:p>
        </p:txBody>
      </p:sp>
      <p:sp>
        <p:nvSpPr>
          <p:cNvPr id="10" name="pregunta-fondo-327"/>
          <p:cNvSpPr/>
          <p:nvPr/>
        </p:nvSpPr>
        <p:spPr>
          <a:xfrm>
            <a:off x="8127797" y="2240280"/>
            <a:ext cx="3515258" cy="2148840"/>
          </a:xfrm>
          <a:prstGeom prst="roundRect">
            <a:avLst>
              <a:gd name="adj" fmla="val 5957"/>
            </a:avLst>
          </a:prstGeom>
          <a:solidFill>
            <a:schemeClr val="bg1">
              <a:alpha val="7000"/>
            </a:schemeClr>
          </a:solidFill>
          <a:ln w="9525">
            <a:solidFill>
              <a:schemeClr val="bg1">
                <a:alpha val="15000"/>
              </a:schemeClr>
            </a:solidFill>
            <a:prstDash val="solid"/>
          </a:ln>
        </p:spPr>
      </p:sp>
      <p:sp>
        <p:nvSpPr>
          <p:cNvPr id="11" name="texto-328"/>
          <p:cNvSpPr txBox="1"/>
          <p:nvPr/>
        </p:nvSpPr>
        <p:spPr>
          <a:xfrm>
            <a:off x="8447837" y="2514600"/>
            <a:ext cx="1097280" cy="548640"/>
          </a:xfrm>
          <a:prstGeom prst="rect">
            <a:avLst/>
          </a:prstGeom>
          <a:noFill/>
          <a:ln/>
        </p:spPr>
        <p:txBody>
          <a:bodyPr wrap="square" lIns="0" tIns="0" rIns="0" bIns="0" rtlCol="0" anchor="t"/>
          <a:lstStyle/>
          <a:p>
            <a:pPr indent="0" marL="0">
              <a:buNone/>
            </a:pPr>
            <a:r>
              <a:rPr lang="en-US" sz="3000" b="1" dirty="0">
                <a:solidFill>
                  <a:schemeClr val="accent1"/>
                </a:solidFill>
                <a:latin typeface="Arial" pitchFamily="34" charset="0"/>
                <a:ea typeface="Arial" pitchFamily="34" charset="-122"/>
                <a:cs typeface="Arial" pitchFamily="34" charset="-120"/>
              </a:rPr>
              <a:t>03</a:t>
            </a:r>
            <a:endParaRPr lang="en-US" sz="3000" dirty="0"/>
          </a:p>
        </p:txBody>
      </p:sp>
      <p:sp>
        <p:nvSpPr>
          <p:cNvPr id="12" name="texto-329"/>
          <p:cNvSpPr txBox="1"/>
          <p:nvPr/>
        </p:nvSpPr>
        <p:spPr>
          <a:xfrm>
            <a:off x="8447837" y="3154680"/>
            <a:ext cx="2875178" cy="1097280"/>
          </a:xfrm>
          <a:prstGeom prst="rect">
            <a:avLst/>
          </a:prstGeom>
          <a:noFill/>
          <a:ln/>
        </p:spPr>
        <p:txBody>
          <a:bodyPr wrap="square" lIns="0" tIns="0" rIns="0" bIns="0" rtlCol="0" anchor="t"/>
          <a:lstStyle/>
          <a:p>
            <a:pPr indent="0" marL="0">
              <a:buNone/>
            </a:pPr>
            <a:r>
              <a:rPr lang="en-US" sz="2000" b="1" dirty="0">
                <a:solidFill>
                  <a:schemeClr val="bg1"/>
                </a:solidFill>
                <a:latin typeface="Arial" pitchFamily="34" charset="0"/>
                <a:ea typeface="Arial" pitchFamily="34" charset="-122"/>
                <a:cs typeface="Arial" pitchFamily="34" charset="-120"/>
              </a:rPr>
              <a:t>Si pudierais mejorar una sola parte, ¿cuál sería?</a:t>
            </a:r>
            <a:endParaRPr lang="en-US" sz="2000" dirty="0"/>
          </a:p>
        </p:txBody>
      </p:sp>
      <p:sp>
        <p:nvSpPr>
          <p:cNvPr id="13" name="texto-330"/>
          <p:cNvSpPr txBox="1"/>
          <p:nvPr/>
        </p:nvSpPr>
        <p:spPr>
          <a:xfrm>
            <a:off x="548640" y="4892040"/>
            <a:ext cx="9601200" cy="731520"/>
          </a:xfrm>
          <a:prstGeom prst="rect">
            <a:avLst/>
          </a:prstGeom>
          <a:noFill/>
          <a:ln/>
        </p:spPr>
        <p:txBody>
          <a:bodyPr wrap="square" lIns="0" tIns="0" rIns="0" bIns="0" rtlCol="0" anchor="ctr"/>
          <a:lstStyle/>
          <a:p>
            <a:pPr indent="0" marL="0">
              <a:buNone/>
            </a:pPr>
            <a:r>
              <a:rPr lang="en-US" sz="2200" i="1" dirty="0">
                <a:solidFill>
                  <a:srgbClr val="C9CDD8"/>
                </a:solidFill>
              </a:rPr>
              <a:t>«Queremos construir una herramienta que tenga sentido para quienes viven el fútbol desde dentro.»</a:t>
            </a:r>
            <a:endParaRPr lang="en-US" sz="2200" dirty="0"/>
          </a:p>
        </p:txBody>
      </p:sp>
      <p:pic>
        <p:nvPicPr>
          <p:cNvPr id="14" name="logo-cierre" descr="Logotipo de ScoutUp">    </p:cNvPr>
          <p:cNvPicPr>
            <a:picLocks noChangeAspect="1"/>
          </p:cNvPicPr>
          <p:nvPr/>
        </p:nvPicPr>
        <p:blipFill>
          <a:blip r:embed="rId1"/>
          <a:stretch>
            <a:fillRect/>
          </a:stretch>
        </p:blipFill>
        <p:spPr>
          <a:xfrm>
            <a:off x="548640" y="5989320"/>
            <a:ext cx="384048" cy="384048"/>
          </a:xfrm>
          <a:prstGeom prst="rect">
            <a:avLst/>
          </a:prstGeom>
        </p:spPr>
      </p:pic>
      <p:sp>
        <p:nvSpPr>
          <p:cNvPr id="15" name="texto-331"/>
          <p:cNvSpPr txBox="1"/>
          <p:nvPr/>
        </p:nvSpPr>
        <p:spPr>
          <a:xfrm>
            <a:off x="1051560" y="5989320"/>
            <a:ext cx="2743200" cy="384048"/>
          </a:xfrm>
          <a:prstGeom prst="rect">
            <a:avLst/>
          </a:prstGeom>
          <a:noFill/>
          <a:ln/>
        </p:spPr>
        <p:txBody>
          <a:bodyPr wrap="square" lIns="0" tIns="0" rIns="0" bIns="0" rtlCol="0" anchor="ctr"/>
          <a:lstStyle/>
          <a:p>
            <a:pPr indent="0" marL="0">
              <a:buNone/>
            </a:pPr>
            <a:r>
              <a:rPr lang="en-US" sz="1800" b="1" dirty="0">
                <a:solidFill>
                  <a:schemeClr val="bg1"/>
                </a:solidFill>
                <a:latin typeface="Arial" pitchFamily="34" charset="0"/>
                <a:ea typeface="Arial" pitchFamily="34" charset="-122"/>
                <a:cs typeface="Arial" pitchFamily="34" charset="-120"/>
              </a:rPr>
              <a:t>Scout</a:t>
            </a:r>
            <a:pPr indent="0" marL="0">
              <a:buNone/>
            </a:pPr>
            <a:r>
              <a:rPr lang="en-US" sz="1800" b="1" dirty="0">
                <a:solidFill>
                  <a:schemeClr val="accent1"/>
                </a:solidFill>
                <a:latin typeface="Arial" pitchFamily="34" charset="0"/>
                <a:ea typeface="Arial" pitchFamily="34" charset="-122"/>
                <a:cs typeface="Arial" pitchFamily="34" charset="-120"/>
              </a:rPr>
              <a:t>Up</a:t>
            </a:r>
            <a:pPr indent="0" marL="0">
              <a:buNone/>
            </a:pPr>
            <a:r>
              <a:rPr lang="en-US" sz="1800" b="1" dirty="0">
                <a:solidFill>
                  <a:srgbClr val="C9CDD8"/>
                </a:solidFill>
                <a:latin typeface="Arial" pitchFamily="34" charset="0"/>
                <a:ea typeface="Arial" pitchFamily="34" charset="-122"/>
                <a:cs typeface="Arial" pitchFamily="34" charset="-120"/>
              </a:rPr>
              <a:t>  Club</a:t>
            </a:r>
            <a:endParaRPr lang="en-US" sz="1800" dirty="0"/>
          </a:p>
        </p:txBody>
      </p:sp>
      <p:sp>
        <p:nvSpPr>
          <p:cNvPr id="25" name="Slide Number Placeholder 0"/>
          <p:cNvSpPr>
            <a:spLocks noGrp="1"/>
          </p:cNvSpPr>
          <p:nvPr>
            <p:ph type="sldNum" sz="quarter" idx="4294967295"/>
          </p:nvPr>
        </p:nvSpPr>
        <p:spPr>
          <a:xfrm>
            <a:off x="11185855" y="6382512"/>
            <a:ext cx="45720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C9CDD8"/>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686800" cy="274320"/>
          </a:xfrm>
          <a:prstGeom prst="rect">
            <a:avLst/>
          </a:prstGeom>
          <a:noFill/>
          <a:ln/>
        </p:spPr>
        <p:txBody>
          <a:bodyPr wrap="square" lIns="0" tIns="0" rIns="0" bIns="0" rtlCol="0" anchor="ctr"/>
          <a:lstStyle/>
          <a:p>
            <a:pPr indent="0" marL="0">
              <a:buNone/>
            </a:pPr>
            <a:r>
              <a:rPr lang="en-US" sz="1200" b="1" spc="150" kern="0" dirty="0">
                <a:solidFill>
                  <a:schemeClr val="accent2"/>
                </a:solidFill>
              </a:rPr>
              <a:t>ANEXO · PARA RESPONDER CON TRANSPARENCIA</a:t>
            </a:r>
            <a:endParaRPr lang="en-US" sz="1200" dirty="0"/>
          </a:p>
        </p:txBody>
      </p:sp>
      <p:sp>
        <p:nvSpPr>
          <p:cNvPr id="3" name="Text 0"/>
          <p:cNvSpPr/>
          <p:nvPr>
            <p:ph idx="101" type="title" hasCustomPrompt="1"/>
          </p:nvPr>
        </p:nvSpPr>
        <p:spPr>
          <a:xfrm>
            <a:off x="548640" y="640080"/>
            <a:ext cx="11094415" cy="685800"/>
          </a:xfrm>
          <a:prstGeom prst="rect">
            <a:avLst/>
          </a:prstGeom>
          <a:noFill/>
          <a:ln/>
        </p:spPr>
        <p:txBody>
          <a:bodyPr wrap="square" lIns="0" tIns="0" rIns="0" bIns="0" rtlCol="0" anchor="t"/>
          <a:lstStyle/>
          <a:p>
            <a:pPr algn="l" indent="0" marL="0">
              <a:buNone/>
            </a:pPr>
            <a:r>
              <a:rPr lang="en-US" sz="3200" b="1" dirty="0">
                <a:solidFill>
                  <a:schemeClr val="tx1"/>
                </a:solidFill>
              </a:rPr>
              <a:t>Qué hay hoy y qué está por definir</a:t>
            </a:r>
            <a:endParaRPr lang="en-US" sz="3200" dirty="0"/>
          </a:p>
        </p:txBody>
      </p:sp>
      <p:sp>
        <p:nvSpPr>
          <p:cNvPr id="4" name="tarjeta-332"/>
          <p:cNvSpPr/>
          <p:nvPr/>
        </p:nvSpPr>
        <p:spPr>
          <a:xfrm>
            <a:off x="548640" y="1554480"/>
            <a:ext cx="3515258" cy="4526280"/>
          </a:xfrm>
          <a:prstGeom prst="roundRect">
            <a:avLst>
              <a:gd name="adj" fmla="val 3642"/>
            </a:avLst>
          </a:prstGeom>
          <a:solidFill>
            <a:schemeClr val="bg1"/>
          </a:solidFill>
          <a:ln w="9525">
            <a:solidFill>
              <a:srgbClr val="E3E3DD"/>
            </a:solidFill>
            <a:prstDash val="solid"/>
          </a:ln>
          <a:effectLst>
            <a:outerShdw sx="100000" sy="100000" kx="0" ky="0" algn="bl" rotWithShape="0" blurRad="177800" dist="38100" dir="5400000">
              <a:srgbClr val="0E1116">
                <a:alpha val="13000"/>
              </a:srgbClr>
            </a:outerShdw>
          </a:effectLst>
        </p:spPr>
      </p:sp>
      <p:sp>
        <p:nvSpPr>
          <p:cNvPr id="5" name="etiqueta-fondo-333"/>
          <p:cNvSpPr/>
          <p:nvPr/>
        </p:nvSpPr>
        <p:spPr>
          <a:xfrm>
            <a:off x="822960" y="1828800"/>
            <a:ext cx="2966618" cy="274320"/>
          </a:xfrm>
          <a:prstGeom prst="roundRect">
            <a:avLst>
              <a:gd name="adj" fmla="val 50000"/>
            </a:avLst>
          </a:prstGeom>
          <a:solidFill>
            <a:schemeClr val="accent1">
              <a:alpha val="14000"/>
            </a:schemeClr>
          </a:solidFill>
          <a:ln/>
        </p:spPr>
      </p:sp>
      <p:sp>
        <p:nvSpPr>
          <p:cNvPr id="6" name="etiqueta-334"/>
          <p:cNvSpPr txBox="1"/>
          <p:nvPr/>
        </p:nvSpPr>
        <p:spPr>
          <a:xfrm>
            <a:off x="822960" y="1828800"/>
            <a:ext cx="2966618" cy="274320"/>
          </a:xfrm>
          <a:prstGeom prst="rect">
            <a:avLst/>
          </a:prstGeom>
          <a:noFill/>
          <a:ln/>
        </p:spPr>
        <p:txBody>
          <a:bodyPr wrap="square" lIns="0" tIns="0" rIns="0" bIns="0" rtlCol="0" anchor="ctr"/>
          <a:lstStyle/>
          <a:p>
            <a:pPr algn="ctr" indent="0" marL="0">
              <a:buNone/>
            </a:pPr>
            <a:r>
              <a:rPr lang="en-US" sz="1100" b="1" dirty="0">
                <a:solidFill>
                  <a:schemeClr val="accent2"/>
                </a:solidFill>
              </a:rPr>
              <a:t>Disponible en la demo</a:t>
            </a:r>
            <a:endParaRPr lang="en-US" sz="1100" dirty="0"/>
          </a:p>
        </p:txBody>
      </p:sp>
      <p:sp>
        <p:nvSpPr>
          <p:cNvPr id="7" name="estado-lista-335"/>
          <p:cNvSpPr txBox="1"/>
          <p:nvPr/>
        </p:nvSpPr>
        <p:spPr>
          <a:xfrm>
            <a:off x="822960" y="2331720"/>
            <a:ext cx="3012338" cy="3566160"/>
          </a:xfrm>
          <a:prstGeom prst="rect">
            <a:avLst/>
          </a:prstGeom>
          <a:noFill/>
          <a:ln/>
        </p:spPr>
        <p:txBody>
          <a:bodyPr wrap="square" lIns="0" tIns="0" rIns="0" bIns="0" rtlCol="0" anchor="t"/>
          <a:lstStyle/>
          <a:p>
            <a:pPr marL="152400" indent="-152400">
              <a:spcAft>
                <a:spcPts val="500"/>
              </a:spcAft>
              <a:buSzPct val="100000"/>
              <a:buChar char="•"/>
            </a:pPr>
            <a:r>
              <a:rPr lang="en-US" sz="1400" dirty="0">
                <a:solidFill>
                  <a:schemeClr val="tx1"/>
                </a:solidFill>
              </a:rPr>
              <a:t>Búsqueda y filtros</a:t>
            </a:r>
            <a:endParaRPr lang="en-US" sz="1400" dirty="0"/>
          </a:p>
          <a:p>
            <a:pPr marL="152400" indent="-152400">
              <a:spcAft>
                <a:spcPts val="500"/>
              </a:spcAft>
              <a:buSzPct val="100000"/>
              <a:buChar char="•"/>
            </a:pPr>
            <a:r>
              <a:rPr lang="en-US" sz="1400" dirty="0">
                <a:solidFill>
                  <a:schemeClr val="tx1"/>
                </a:solidFill>
              </a:rPr>
              <a:t>Oportunidades y candidatos compatibles</a:t>
            </a:r>
            <a:endParaRPr lang="en-US" sz="1400" dirty="0"/>
          </a:p>
          <a:p>
            <a:pPr marL="152400" indent="-152400">
              <a:spcAft>
                <a:spcPts val="500"/>
              </a:spcAft>
              <a:buSzPct val="100000"/>
              <a:buChar char="•"/>
            </a:pPr>
            <a:r>
              <a:rPr lang="en-US" sz="1400" dirty="0">
                <a:solidFill>
                  <a:schemeClr val="tx1"/>
                </a:solidFill>
              </a:rPr>
              <a:t>% de compatibilidad explicado</a:t>
            </a:r>
            <a:endParaRPr lang="en-US" sz="1400" dirty="0"/>
          </a:p>
          <a:p>
            <a:pPr marL="152400" indent="-152400">
              <a:spcAft>
                <a:spcPts val="500"/>
              </a:spcAft>
              <a:buSzPct val="100000"/>
              <a:buChar char="•"/>
            </a:pPr>
            <a:r>
              <a:rPr lang="en-US" sz="1400" dirty="0">
                <a:solidFill>
                  <a:schemeClr val="tx1"/>
                </a:solidFill>
              </a:rPr>
              <a:t>Perfil del jugador</a:t>
            </a:r>
            <a:endParaRPr lang="en-US" sz="1400" dirty="0"/>
          </a:p>
          <a:p>
            <a:pPr marL="152400" indent="-152400">
              <a:spcAft>
                <a:spcPts val="500"/>
              </a:spcAft>
              <a:buSzPct val="100000"/>
              <a:buChar char="•"/>
            </a:pPr>
            <a:r>
              <a:rPr lang="en-US" sz="1400" dirty="0">
                <a:solidFill>
                  <a:schemeClr val="tx1"/>
                </a:solidFill>
              </a:rPr>
              <a:t>Comparador de candidatos</a:t>
            </a:r>
            <a:endParaRPr lang="en-US" sz="1400" dirty="0"/>
          </a:p>
          <a:p>
            <a:pPr marL="152400" indent="-152400">
              <a:spcAft>
                <a:spcPts val="500"/>
              </a:spcAft>
              <a:buSzPct val="100000"/>
              <a:buChar char="•"/>
            </a:pPr>
            <a:r>
              <a:rPr lang="en-US" sz="1400" dirty="0">
                <a:solidFill>
                  <a:schemeClr val="tx1"/>
                </a:solidFill>
              </a:rPr>
              <a:t>Pipeline por etapas</a:t>
            </a:r>
            <a:endParaRPr lang="en-US" sz="1400" dirty="0"/>
          </a:p>
          <a:p>
            <a:pPr marL="152400" indent="-152400">
              <a:spcAft>
                <a:spcPts val="500"/>
              </a:spcAft>
              <a:buSzPct val="100000"/>
              <a:buChar char="•"/>
            </a:pPr>
            <a:r>
              <a:rPr lang="en-US" sz="1400" dirty="0">
                <a:solidFill>
                  <a:schemeClr val="tx1"/>
                </a:solidFill>
              </a:rPr>
              <a:t>Evaluaciones y notas privadas</a:t>
            </a:r>
            <a:endParaRPr lang="en-US" sz="1400" dirty="0"/>
          </a:p>
          <a:p>
            <a:pPr marL="152400" indent="-152400">
              <a:spcAft>
                <a:spcPts val="500"/>
              </a:spcAft>
              <a:buSzPct val="100000"/>
              <a:buChar char="•"/>
            </a:pPr>
            <a:r>
              <a:rPr lang="en-US" sz="1400" dirty="0">
                <a:solidFill>
                  <a:schemeClr val="tx1"/>
                </a:solidFill>
              </a:rPr>
              <a:t>Mensajes y calendario</a:t>
            </a:r>
            <a:endParaRPr lang="en-US" sz="1400" dirty="0"/>
          </a:p>
          <a:p>
            <a:pPr marL="152400" indent="-152400">
              <a:spcAft>
                <a:spcPts val="500"/>
              </a:spcAft>
              <a:buSzPct val="100000"/>
              <a:buChar char="•"/>
            </a:pPr>
            <a:r>
              <a:rPr lang="en-US" sz="1400" dirty="0">
                <a:solidFill>
                  <a:schemeClr val="tx1"/>
                </a:solidFill>
              </a:rPr>
              <a:t>Roles y permisos</a:t>
            </a:r>
            <a:endParaRPr lang="en-US" sz="1400" dirty="0"/>
          </a:p>
          <a:p>
            <a:pPr marL="152400" indent="-152400">
              <a:spcAft>
                <a:spcPts val="500"/>
              </a:spcAft>
              <a:buSzPct val="100000"/>
              <a:buChar char="•"/>
            </a:pPr>
            <a:r>
              <a:rPr lang="en-US" sz="1400" dirty="0">
                <a:solidFill>
                  <a:schemeClr val="tx1"/>
                </a:solidFill>
              </a:rPr>
              <a:t>Alta guiada del club</a:t>
            </a:r>
            <a:endParaRPr lang="en-US" sz="1400" dirty="0"/>
          </a:p>
          <a:p>
            <a:pPr marL="152400" indent="-152400">
              <a:spcAft>
                <a:spcPts val="500"/>
              </a:spcAft>
              <a:buSzPct val="100000"/>
              <a:buChar char="•"/>
            </a:pPr>
            <a:r>
              <a:rPr lang="en-US" sz="1400" dirty="0">
                <a:solidFill>
                  <a:schemeClr val="tx1"/>
                </a:solidFill>
              </a:rPr>
              <a:t>Contacto con menores vía tutor</a:t>
            </a:r>
            <a:endParaRPr lang="en-US" sz="1400" dirty="0"/>
          </a:p>
        </p:txBody>
      </p:sp>
      <p:sp>
        <p:nvSpPr>
          <p:cNvPr id="8" name="tarjeta-336"/>
          <p:cNvSpPr/>
          <p:nvPr/>
        </p:nvSpPr>
        <p:spPr>
          <a:xfrm>
            <a:off x="4338218" y="1554480"/>
            <a:ext cx="3515258" cy="4526280"/>
          </a:xfrm>
          <a:prstGeom prst="roundRect">
            <a:avLst>
              <a:gd name="adj" fmla="val 3642"/>
            </a:avLst>
          </a:prstGeom>
          <a:solidFill>
            <a:schemeClr val="bg1"/>
          </a:solidFill>
          <a:ln w="9525">
            <a:solidFill>
              <a:srgbClr val="E3E3DD"/>
            </a:solidFill>
            <a:prstDash val="solid"/>
          </a:ln>
          <a:effectLst>
            <a:outerShdw sx="100000" sy="100000" kx="0" ky="0" algn="bl" rotWithShape="0" blurRad="177800" dist="38100" dir="5400000">
              <a:srgbClr val="0E1116">
                <a:alpha val="13000"/>
              </a:srgbClr>
            </a:outerShdw>
          </a:effectLst>
        </p:spPr>
      </p:sp>
      <p:sp>
        <p:nvSpPr>
          <p:cNvPr id="9" name="etiqueta-fondo-337"/>
          <p:cNvSpPr/>
          <p:nvPr/>
        </p:nvSpPr>
        <p:spPr>
          <a:xfrm>
            <a:off x="4612538" y="1828800"/>
            <a:ext cx="2966618" cy="274320"/>
          </a:xfrm>
          <a:prstGeom prst="roundRect">
            <a:avLst>
              <a:gd name="adj" fmla="val 50000"/>
            </a:avLst>
          </a:prstGeom>
          <a:solidFill>
            <a:schemeClr val="accent3">
              <a:alpha val="14000"/>
            </a:schemeClr>
          </a:solidFill>
          <a:ln/>
        </p:spPr>
      </p:sp>
      <p:sp>
        <p:nvSpPr>
          <p:cNvPr id="10" name="etiqueta-338"/>
          <p:cNvSpPr txBox="1"/>
          <p:nvPr/>
        </p:nvSpPr>
        <p:spPr>
          <a:xfrm>
            <a:off x="4612538" y="1828800"/>
            <a:ext cx="2966618" cy="274320"/>
          </a:xfrm>
          <a:prstGeom prst="rect">
            <a:avLst/>
          </a:prstGeom>
          <a:noFill/>
          <a:ln/>
        </p:spPr>
        <p:txBody>
          <a:bodyPr wrap="square" lIns="0" tIns="0" rIns="0" bIns="0" rtlCol="0" anchor="ctr"/>
          <a:lstStyle/>
          <a:p>
            <a:pPr algn="ctr" indent="0" marL="0">
              <a:buNone/>
            </a:pPr>
            <a:r>
              <a:rPr lang="en-US" sz="1100" b="1" dirty="0">
                <a:solidFill>
                  <a:schemeClr val="accent3"/>
                </a:solidFill>
              </a:rPr>
              <a:t>En definición o desarrollo</a:t>
            </a:r>
            <a:endParaRPr lang="en-US" sz="1100" dirty="0"/>
          </a:p>
        </p:txBody>
      </p:sp>
      <p:sp>
        <p:nvSpPr>
          <p:cNvPr id="11" name="estado-lista-339"/>
          <p:cNvSpPr txBox="1"/>
          <p:nvPr/>
        </p:nvSpPr>
        <p:spPr>
          <a:xfrm>
            <a:off x="4612538" y="2331720"/>
            <a:ext cx="3012338" cy="3566160"/>
          </a:xfrm>
          <a:prstGeom prst="rect">
            <a:avLst/>
          </a:prstGeom>
          <a:noFill/>
          <a:ln/>
        </p:spPr>
        <p:txBody>
          <a:bodyPr wrap="square" lIns="0" tIns="0" rIns="0" bIns="0" rtlCol="0" anchor="t"/>
          <a:lstStyle/>
          <a:p>
            <a:pPr marL="152400" indent="-152400">
              <a:spcAft>
                <a:spcPts val="500"/>
              </a:spcAft>
              <a:buSzPct val="100000"/>
              <a:buChar char="•"/>
            </a:pPr>
            <a:r>
              <a:rPr lang="en-US" sz="1400" dirty="0">
                <a:solidFill>
                  <a:schemeClr val="tx1"/>
                </a:solidFill>
              </a:rPr>
              <a:t>Invitaciones y correos</a:t>
            </a:r>
            <a:endParaRPr lang="en-US" sz="1400" dirty="0"/>
          </a:p>
          <a:p>
            <a:pPr marL="152400" indent="-152400">
              <a:spcAft>
                <a:spcPts val="500"/>
              </a:spcAft>
              <a:buSzPct val="100000"/>
              <a:buChar char="•"/>
            </a:pPr>
            <a:r>
              <a:rPr lang="en-US" sz="1400" dirty="0">
                <a:solidFill>
                  <a:schemeClr val="tx1"/>
                </a:solidFill>
              </a:rPr>
              <a:t>Recuperación de contraseña</a:t>
            </a:r>
            <a:endParaRPr lang="en-US" sz="1400" dirty="0"/>
          </a:p>
          <a:p>
            <a:pPr marL="152400" indent="-152400">
              <a:spcAft>
                <a:spcPts val="500"/>
              </a:spcAft>
              <a:buSzPct val="100000"/>
              <a:buChar char="•"/>
            </a:pPr>
            <a:r>
              <a:rPr lang="en-US" sz="1400" dirty="0">
                <a:solidFill>
                  <a:schemeClr val="tx1"/>
                </a:solidFill>
              </a:rPr>
              <a:t>Guardados por persona o por club</a:t>
            </a:r>
            <a:endParaRPr lang="en-US" sz="1400" dirty="0"/>
          </a:p>
          <a:p>
            <a:pPr marL="152400" indent="-152400">
              <a:spcAft>
                <a:spcPts val="500"/>
              </a:spcAft>
              <a:buSzPct val="100000"/>
              <a:buChar char="•"/>
            </a:pPr>
            <a:r>
              <a:rPr lang="en-US" sz="1400" dirty="0">
                <a:solidFill>
                  <a:schemeClr val="tx1"/>
                </a:solidFill>
              </a:rPr>
              <a:t>Verificación real de los datos</a:t>
            </a:r>
            <a:endParaRPr lang="en-US" sz="1400" dirty="0"/>
          </a:p>
          <a:p>
            <a:pPr marL="152400" indent="-152400">
              <a:spcAft>
                <a:spcPts val="500"/>
              </a:spcAft>
              <a:buSzPct val="100000"/>
              <a:buChar char="•"/>
            </a:pPr>
            <a:r>
              <a:rPr lang="en-US" sz="1400" dirty="0">
                <a:solidFill>
                  <a:schemeClr val="tx1"/>
                </a:solidFill>
              </a:rPr>
              <a:t>Requisitos legales de menores</a:t>
            </a:r>
            <a:endParaRPr lang="en-US" sz="1400" dirty="0"/>
          </a:p>
          <a:p>
            <a:pPr marL="152400" indent="-152400">
              <a:spcAft>
                <a:spcPts val="500"/>
              </a:spcAft>
              <a:buSzPct val="100000"/>
              <a:buChar char="•"/>
            </a:pPr>
            <a:r>
              <a:rPr lang="en-US" sz="1400" dirty="0">
                <a:solidFill>
                  <a:schemeClr val="tx1"/>
                </a:solidFill>
              </a:rPr>
              <a:t>App del jugador completa (subida de vídeo)</a:t>
            </a:r>
            <a:endParaRPr lang="en-US" sz="1400" dirty="0"/>
          </a:p>
        </p:txBody>
      </p:sp>
      <p:sp>
        <p:nvSpPr>
          <p:cNvPr id="12" name="tarjeta-340"/>
          <p:cNvSpPr/>
          <p:nvPr/>
        </p:nvSpPr>
        <p:spPr>
          <a:xfrm>
            <a:off x="8127797" y="1554480"/>
            <a:ext cx="3515258" cy="4526280"/>
          </a:xfrm>
          <a:prstGeom prst="roundRect">
            <a:avLst>
              <a:gd name="adj" fmla="val 3642"/>
            </a:avLst>
          </a:prstGeom>
          <a:solidFill>
            <a:schemeClr val="bg1"/>
          </a:solidFill>
          <a:ln w="9525">
            <a:solidFill>
              <a:srgbClr val="E3E3DD"/>
            </a:solidFill>
            <a:prstDash val="solid"/>
          </a:ln>
          <a:effectLst>
            <a:outerShdw sx="100000" sy="100000" kx="0" ky="0" algn="bl" rotWithShape="0" blurRad="177800" dist="38100" dir="5400000">
              <a:srgbClr val="0E1116">
                <a:alpha val="13000"/>
              </a:srgbClr>
            </a:outerShdw>
          </a:effectLst>
        </p:spPr>
      </p:sp>
      <p:sp>
        <p:nvSpPr>
          <p:cNvPr id="13" name="etiqueta-fondo-341"/>
          <p:cNvSpPr/>
          <p:nvPr/>
        </p:nvSpPr>
        <p:spPr>
          <a:xfrm>
            <a:off x="8402117" y="1828800"/>
            <a:ext cx="2966618" cy="274320"/>
          </a:xfrm>
          <a:prstGeom prst="roundRect">
            <a:avLst>
              <a:gd name="adj" fmla="val 50000"/>
            </a:avLst>
          </a:prstGeom>
          <a:solidFill>
            <a:schemeClr val="accent4">
              <a:alpha val="14000"/>
            </a:schemeClr>
          </a:solidFill>
          <a:ln/>
        </p:spPr>
      </p:sp>
      <p:sp>
        <p:nvSpPr>
          <p:cNvPr id="14" name="etiqueta-342"/>
          <p:cNvSpPr txBox="1"/>
          <p:nvPr/>
        </p:nvSpPr>
        <p:spPr>
          <a:xfrm>
            <a:off x="8402117" y="1828800"/>
            <a:ext cx="2966618" cy="274320"/>
          </a:xfrm>
          <a:prstGeom prst="rect">
            <a:avLst/>
          </a:prstGeom>
          <a:noFill/>
          <a:ln/>
        </p:spPr>
        <p:txBody>
          <a:bodyPr wrap="square" lIns="0" tIns="0" rIns="0" bIns="0" rtlCol="0" anchor="ctr"/>
          <a:lstStyle/>
          <a:p>
            <a:pPr algn="ctr" indent="0" marL="0">
              <a:buNone/>
            </a:pPr>
            <a:r>
              <a:rPr lang="en-US" sz="1100" b="1" dirty="0">
                <a:solidFill>
                  <a:schemeClr val="accent4"/>
                </a:solidFill>
              </a:rPr>
              <a:t>Visión · por validar</a:t>
            </a:r>
            <a:endParaRPr lang="en-US" sz="1100" dirty="0"/>
          </a:p>
        </p:txBody>
      </p:sp>
      <p:sp>
        <p:nvSpPr>
          <p:cNvPr id="15" name="estado-lista-343"/>
          <p:cNvSpPr txBox="1"/>
          <p:nvPr/>
        </p:nvSpPr>
        <p:spPr>
          <a:xfrm>
            <a:off x="8402117" y="2331720"/>
            <a:ext cx="3012338" cy="3566160"/>
          </a:xfrm>
          <a:prstGeom prst="rect">
            <a:avLst/>
          </a:prstGeom>
          <a:noFill/>
          <a:ln/>
        </p:spPr>
        <p:txBody>
          <a:bodyPr wrap="square" lIns="0" tIns="0" rIns="0" bIns="0" rtlCol="0" anchor="t"/>
          <a:lstStyle/>
          <a:p>
            <a:pPr marL="152400" indent="-152400">
              <a:spcAft>
                <a:spcPts val="500"/>
              </a:spcAft>
              <a:buSzPct val="100000"/>
              <a:buChar char="•"/>
            </a:pPr>
            <a:r>
              <a:rPr lang="en-US" sz="1400" dirty="0">
                <a:solidFill>
                  <a:schemeClr val="tx1"/>
                </a:solidFill>
              </a:rPr>
              <a:t>Enlace a datos oficiales de la FCF (validación FCF, legal y técnica)</a:t>
            </a:r>
            <a:endParaRPr lang="en-US" sz="1400" dirty="0"/>
          </a:p>
          <a:p>
            <a:pPr marL="152400" indent="-152400">
              <a:spcAft>
                <a:spcPts val="500"/>
              </a:spcAft>
              <a:buSzPct val="100000"/>
              <a:buChar char="•"/>
            </a:pPr>
            <a:r>
              <a:rPr lang="en-US" sz="1400" dirty="0">
                <a:solidFill>
                  <a:schemeClr val="tx1"/>
                </a:solidFill>
              </a:rPr>
              <a:t>Informes de apoyo a la decisión</a:t>
            </a:r>
            <a:endParaRPr lang="en-US" sz="1400" dirty="0"/>
          </a:p>
          <a:p>
            <a:pPr marL="152400" indent="-152400">
              <a:spcAft>
                <a:spcPts val="500"/>
              </a:spcAft>
              <a:buSzPct val="100000"/>
              <a:buChar char="•"/>
            </a:pPr>
            <a:r>
              <a:rPr lang="en-US" sz="1400" dirty="0">
                <a:solidFill>
                  <a:schemeClr val="tx1"/>
                </a:solidFill>
              </a:rPr>
              <a:t>Lo que salga de estas visitas</a:t>
            </a:r>
            <a:endParaRPr lang="en-US" sz="1400" dirty="0"/>
          </a:p>
        </p:txBody>
      </p:sp>
      <p:sp>
        <p:nvSpPr>
          <p:cNvPr id="25" name="Slide Number Placeholder 0"/>
          <p:cNvSpPr>
            <a:spLocks noGrp="1"/>
          </p:cNvSpPr>
          <p:nvPr>
            <p:ph type="sldNum" sz="quarter" idx="4294967295"/>
          </p:nvPr>
        </p:nvSpPr>
        <p:spPr>
          <a:xfrm>
            <a:off x="11185855" y="6382512"/>
            <a:ext cx="457200" cy="237744"/>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ScoutUp">
  <a:themeElements>
    <a:clrScheme name="ScoutUp">
      <a:dk1>
        <a:srgbClr val="0E1116"/>
      </a:dk1>
      <a:lt1>
        <a:srgbClr val="FFFFFF"/>
      </a:lt1>
      <a:dk2>
        <a:srgbClr val="0B0D13"/>
      </a:dk2>
      <a:lt2>
        <a:srgbClr val="F6F6F3"/>
      </a:lt2>
      <a:accent1>
        <a:srgbClr val="00C768"/>
      </a:accent1>
      <a:accent2>
        <a:srgbClr val="007A43"/>
      </a:accent2>
      <a:accent3>
        <a:srgbClr val="B45309"/>
      </a:accent3>
      <a:accent4>
        <a:srgbClr val="6D28D9"/>
      </a:accent4>
      <a:accent5>
        <a:srgbClr val="0369A1"/>
      </a:accent5>
      <a:accent6>
        <a:srgbClr val="5B616E"/>
      </a:accent6>
      <a:hlink>
        <a:srgbClr val="007A43"/>
      </a:hlink>
      <a:folHlink>
        <a:srgbClr val="6D28D9"/>
      </a:folHlink>
    </a:clrScheme>
    <a:fontScheme name="ScoutUp">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ScoutUp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ScoutUp Club · Conversación con clubes</dc:title>
  <dc:subject>Presentación para visitar clubes y validar la propuesta de valor</dc:subject>
  <dc:creator>ScoutUp</dc:creator>
  <cp:lastModifiedBy>ScoutUp</cp:lastModifiedBy>
  <cp:revision>1</cp:revision>
  <dcterms:created xsi:type="dcterms:W3CDTF">2026-10-12T15:07:21Z</dcterms:created>
  <dcterms:modified xsi:type="dcterms:W3CDTF">2026-10-12T15:07:21Z</dcterms:modified>
</cp:coreProperties>
</file>